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60" r:id="rId1"/>
  </p:sldMasterIdLst>
  <p:notesMasterIdLst>
    <p:notesMasterId r:id="rId56"/>
  </p:notesMasterIdLst>
  <p:handoutMasterIdLst>
    <p:handoutMasterId r:id="rId57"/>
  </p:handoutMasterIdLst>
  <p:sldIdLst>
    <p:sldId id="1556" r:id="rId2"/>
    <p:sldId id="1322" r:id="rId3"/>
    <p:sldId id="1570" r:id="rId4"/>
    <p:sldId id="1589" r:id="rId5"/>
    <p:sldId id="1590" r:id="rId6"/>
    <p:sldId id="1591" r:id="rId7"/>
    <p:sldId id="1612" r:id="rId8"/>
    <p:sldId id="1592" r:id="rId9"/>
    <p:sldId id="1602" r:id="rId10"/>
    <p:sldId id="1593" r:id="rId11"/>
    <p:sldId id="1594" r:id="rId12"/>
    <p:sldId id="1603" r:id="rId13"/>
    <p:sldId id="1456" r:id="rId14"/>
    <p:sldId id="1428" r:id="rId15"/>
    <p:sldId id="1457" r:id="rId16"/>
    <p:sldId id="1446" r:id="rId17"/>
    <p:sldId id="1448" r:id="rId18"/>
    <p:sldId id="1451" r:id="rId19"/>
    <p:sldId id="1571" r:id="rId20"/>
    <p:sldId id="1572" r:id="rId21"/>
    <p:sldId id="1573" r:id="rId22"/>
    <p:sldId id="1574" r:id="rId23"/>
    <p:sldId id="1575" r:id="rId24"/>
    <p:sldId id="1576" r:id="rId25"/>
    <p:sldId id="1577" r:id="rId26"/>
    <p:sldId id="1578" r:id="rId27"/>
    <p:sldId id="1579" r:id="rId28"/>
    <p:sldId id="1581" r:id="rId29"/>
    <p:sldId id="1595" r:id="rId30"/>
    <p:sldId id="1596" r:id="rId31"/>
    <p:sldId id="1462" r:id="rId32"/>
    <p:sldId id="1438" r:id="rId33"/>
    <p:sldId id="1597" r:id="rId34"/>
    <p:sldId id="1598" r:id="rId35"/>
    <p:sldId id="1599" r:id="rId36"/>
    <p:sldId id="1600" r:id="rId37"/>
    <p:sldId id="1601" r:id="rId38"/>
    <p:sldId id="1582" r:id="rId39"/>
    <p:sldId id="1604" r:id="rId40"/>
    <p:sldId id="1605" r:id="rId41"/>
    <p:sldId id="1583" r:id="rId42"/>
    <p:sldId id="1607" r:id="rId43"/>
    <p:sldId id="1606" r:id="rId44"/>
    <p:sldId id="1585" r:id="rId45"/>
    <p:sldId id="1608" r:id="rId46"/>
    <p:sldId id="1609" r:id="rId47"/>
    <p:sldId id="1584" r:id="rId48"/>
    <p:sldId id="1610" r:id="rId49"/>
    <p:sldId id="1611" r:id="rId50"/>
    <p:sldId id="1588" r:id="rId51"/>
    <p:sldId id="285" r:id="rId52"/>
    <p:sldId id="286" r:id="rId53"/>
    <p:sldId id="289" r:id="rId54"/>
    <p:sldId id="1277" r:id="rId5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b="1"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b="1"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b="1"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b="1"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b="1"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9D8941"/>
    <a:srgbClr val="5F5F5F"/>
    <a:srgbClr val="F8F8F8"/>
    <a:srgbClr val="DDDDDD"/>
    <a:srgbClr val="333333"/>
    <a:srgbClr val="C0C0C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2825" autoAdjust="0"/>
    <p:restoredTop sz="95885" autoAdjust="0"/>
  </p:normalViewPr>
  <p:slideViewPr>
    <p:cSldViewPr>
      <p:cViewPr>
        <p:scale>
          <a:sx n="88" d="100"/>
          <a:sy n="88" d="100"/>
        </p:scale>
        <p:origin x="752" y="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7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 b="0" i="0"/>
            </a:lvl1pPr>
          </a:lstStyle>
          <a:p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 b="0" i="0"/>
            </a:lvl1pPr>
          </a:lstStyle>
          <a:p>
            <a:endParaRPr lang="en-US" altLang="zh-CN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 b="0" i="0"/>
            </a:lvl1pPr>
          </a:lstStyle>
          <a:p>
            <a:endParaRPr lang="en-US" altLang="zh-CN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 b="0" i="0"/>
            </a:lvl1pPr>
          </a:lstStyle>
          <a:p>
            <a:fld id="{F315F508-8A9D-4F76-A1B9-59AC8A125DA0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80810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b="0" i="0"/>
            </a:lvl1pPr>
          </a:lstStyle>
          <a:p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 i="0"/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 b="0" i="0"/>
            </a:lvl1pPr>
          </a:lstStyle>
          <a:p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i="0"/>
            </a:lvl1pPr>
          </a:lstStyle>
          <a:p>
            <a:fld id="{D562A290-CC0F-4838-A706-04B536FE7BFE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24467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7FB9FEE-14AD-4295-B213-BAC9E41BF57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3556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84017787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9079517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5710AC66-DC83-D81C-3416-45309C302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1183515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06375" y="822325"/>
            <a:ext cx="4267200" cy="5448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5975" y="822325"/>
            <a:ext cx="4267200" cy="5448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5510609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9354567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5165783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6597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608019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4230809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593947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-14288"/>
            <a:ext cx="2286000" cy="62849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14288"/>
            <a:ext cx="6705600" cy="6284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5216085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7506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6375" y="822325"/>
            <a:ext cx="8686800" cy="544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上</a:t>
            </a:r>
            <a:r>
              <a:rPr lang="en-US" altLang="zh-CN" dirty="0" err="1"/>
              <a:t>dasdf</a:t>
            </a:r>
            <a:endParaRPr lang="en-US" altLang="zh-CN" dirty="0"/>
          </a:p>
          <a:p>
            <a:pPr lvl="1"/>
            <a:r>
              <a:rPr lang="zh-CN" altLang="en-US" dirty="0"/>
              <a:t>上</a:t>
            </a:r>
            <a:r>
              <a:rPr lang="en-US" altLang="zh-CN" dirty="0" err="1"/>
              <a:t>dfjkdsf</a:t>
            </a:r>
            <a:endParaRPr lang="en-US" altLang="zh-CN" dirty="0"/>
          </a:p>
          <a:p>
            <a:pPr lvl="2"/>
            <a:r>
              <a:rPr lang="zh-CN" altLang="en-US" dirty="0"/>
              <a:t>上</a:t>
            </a:r>
            <a:r>
              <a:rPr lang="en-US" altLang="zh-CN" dirty="0" err="1"/>
              <a:t>dfasfa</a:t>
            </a:r>
            <a:endParaRPr lang="en-US" altLang="zh-CN" dirty="0"/>
          </a:p>
          <a:p>
            <a:pPr lvl="3"/>
            <a:r>
              <a:rPr lang="zh-CN" altLang="en-US" dirty="0"/>
              <a:t>上</a:t>
            </a:r>
            <a:r>
              <a:rPr lang="en-US" altLang="zh-CN" dirty="0" err="1"/>
              <a:t>dsfsagaga</a:t>
            </a:r>
            <a:endParaRPr lang="en-US" altLang="zh-CN" dirty="0"/>
          </a:p>
          <a:p>
            <a:pPr lvl="4"/>
            <a:r>
              <a:rPr lang="en-US" altLang="zh-CN" dirty="0" err="1"/>
              <a:t>dgagdfadgadga</a:t>
            </a:r>
            <a:endParaRPr lang="en-US" altLang="zh-CN" dirty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-1588"/>
            <a:ext cx="9144000" cy="814388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50000">
                <a:srgbClr val="F8F8F8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0" y="-14288"/>
            <a:ext cx="9144000" cy="822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DDDDDD"/>
                    </a:gs>
                    <a:gs pos="100000">
                      <a:srgbClr val="DDDDDD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052" name="Rectangle 28"/>
          <p:cNvSpPr>
            <a:spLocks noChangeArrowheads="1"/>
          </p:cNvSpPr>
          <p:nvPr userDrawn="1"/>
        </p:nvSpPr>
        <p:spPr bwMode="auto">
          <a:xfrm>
            <a:off x="-6350" y="6308725"/>
            <a:ext cx="9144000" cy="576263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50000">
                <a:srgbClr val="F8F8F8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zh-CN" i="0" dirty="0">
              <a:solidFill>
                <a:srgbClr val="333333"/>
              </a:solidFill>
              <a:latin typeface="Viner Hand ITC" pitchFamily="66" charset="0"/>
            </a:endParaRPr>
          </a:p>
        </p:txBody>
      </p:sp>
      <p:pic>
        <p:nvPicPr>
          <p:cNvPr id="1053" name="Picture 29" descr="温州大学标志-空底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991" y="6346825"/>
            <a:ext cx="4984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" name="Oval 30"/>
          <p:cNvSpPr>
            <a:spLocks noChangeArrowheads="1"/>
          </p:cNvSpPr>
          <p:nvPr userDrawn="1"/>
        </p:nvSpPr>
        <p:spPr bwMode="auto">
          <a:xfrm>
            <a:off x="8244408" y="6423025"/>
            <a:ext cx="677218" cy="368300"/>
          </a:xfrm>
          <a:prstGeom prst="ellipse">
            <a:avLst/>
          </a:prstGeom>
          <a:noFill/>
          <a:ln w="28575">
            <a:solidFill>
              <a:srgbClr val="292929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fld id="{8BA612D5-C7DF-4A21-9168-652F2BFFC3D5}" type="slidenum">
              <a:rPr lang="en-US" altLang="zh-CN" sz="1600" smtClean="0">
                <a:latin typeface="Times New Roman" pitchFamily="18" charset="0"/>
              </a:rPr>
              <a:pPr algn="ctr"/>
              <a:t>‹#›</a:t>
            </a:fld>
            <a:r>
              <a:rPr lang="en-US" altLang="zh-CN" sz="1600" dirty="0">
                <a:latin typeface="Times New Roman" pitchFamily="18" charset="0"/>
              </a:rPr>
              <a:t>/64</a:t>
            </a:r>
          </a:p>
        </p:txBody>
      </p:sp>
      <p:sp>
        <p:nvSpPr>
          <p:cNvPr id="1055" name="_s1038"/>
          <p:cNvSpPr>
            <a:spLocks noChangeArrowheads="1"/>
          </p:cNvSpPr>
          <p:nvPr userDrawn="1"/>
        </p:nvSpPr>
        <p:spPr bwMode="auto">
          <a:xfrm>
            <a:off x="6194474" y="6308725"/>
            <a:ext cx="2049934" cy="603250"/>
          </a:xfrm>
          <a:prstGeom prst="roundRect">
            <a:avLst>
              <a:gd name="adj" fmla="val 2245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5328" tIns="22664" rIns="45328" bIns="22664" anchor="ctr"/>
          <a:lstStyle/>
          <a:p>
            <a:r>
              <a:rPr lang="zh-CN" altLang="en-US" sz="1400" i="0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计算机与人工智能学院</a:t>
            </a:r>
            <a:endParaRPr lang="en-US" altLang="zh-CN" sz="1400" i="0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32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华文中宋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华文中宋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华文中宋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华文中宋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华文中宋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华文中宋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华文中宋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华文中宋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Blip>
          <a:blip r:embed="rId16"/>
        </a:buBlip>
        <a:defRPr sz="2800" b="1">
          <a:solidFill>
            <a:schemeClr val="tx1"/>
          </a:solidFill>
          <a:latin typeface="+mn-lt"/>
          <a:ea typeface="宋体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Blip>
          <a:blip r:embed="rId17"/>
        </a:buBlip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Blip>
          <a:blip r:embed="rId18"/>
        </a:buBlip>
        <a:defRPr sz="2400" b="1">
          <a:solidFill>
            <a:schemeClr val="tx1"/>
          </a:solidFill>
          <a:latin typeface="+mn-lt"/>
          <a:ea typeface="宋体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licongcong693@126.com" TargetMode="Externa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736" name="Picture 16" descr="white ba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44675"/>
            <a:ext cx="9144000" cy="266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4735" name="_s1038"/>
          <p:cNvSpPr>
            <a:spLocks noChangeArrowheads="1"/>
          </p:cNvSpPr>
          <p:nvPr/>
        </p:nvSpPr>
        <p:spPr bwMode="auto">
          <a:xfrm>
            <a:off x="-6350" y="2008188"/>
            <a:ext cx="9144000" cy="22352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F8F8F8"/>
                    </a:gs>
                    <a:gs pos="50000">
                      <a:srgbClr val="EAEAEA"/>
                    </a:gs>
                    <a:gs pos="100000">
                      <a:srgbClr val="F8F8F8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328" tIns="22664" rIns="45328" bIns="22664"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+mn-cs"/>
              </a:rPr>
              <a:t>时间序列数据可视化</a:t>
            </a:r>
          </a:p>
        </p:txBody>
      </p:sp>
      <p:sp>
        <p:nvSpPr>
          <p:cNvPr id="414741" name="Text Box 21"/>
          <p:cNvSpPr txBox="1">
            <a:spLocks noChangeArrowheads="1"/>
          </p:cNvSpPr>
          <p:nvPr/>
        </p:nvSpPr>
        <p:spPr bwMode="auto">
          <a:xfrm>
            <a:off x="0" y="4522788"/>
            <a:ext cx="91440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华文中宋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+mn-cs"/>
                <a:hlinkClick r:id="rId5"/>
              </a:rPr>
              <a:t>licongcong693@126.com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华文中宋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+mn-cs"/>
              </a:rPr>
              <a:t>13407123909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+mn-cs"/>
              </a:rPr>
              <a:t>5B413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华文中宋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E318F6-1990-A80B-71D9-20ECC0774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209220-178D-C820-36ED-F670FB727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时间序列数据概述</a:t>
            </a:r>
          </a:p>
          <a:p>
            <a:r>
              <a:rPr lang="zh-CN" altLang="en-US" dirty="0"/>
              <a:t>时间序列的组成部分</a:t>
            </a:r>
          </a:p>
          <a:p>
            <a:r>
              <a:rPr lang="zh-CN" altLang="en-US" dirty="0"/>
              <a:t>缺失值处理</a:t>
            </a:r>
          </a:p>
          <a:p>
            <a:r>
              <a:rPr lang="zh-CN" altLang="en-US" dirty="0"/>
              <a:t>时间序列分解</a:t>
            </a:r>
          </a:p>
          <a:p>
            <a:r>
              <a:rPr lang="zh-CN" altLang="en-US" dirty="0"/>
              <a:t>移动窗口方法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7297266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0F5D8-D22B-1536-906A-52A31F617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时间序列定义与示例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9A48CD-8936-8976-7E71-8A2556D23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时间序列的定义</a:t>
            </a:r>
            <a:endParaRPr lang="en-US" altLang="zh-CN" dirty="0"/>
          </a:p>
          <a:p>
            <a:pPr lvl="1"/>
            <a:r>
              <a:rPr lang="zh-CN" altLang="en-US" dirty="0"/>
              <a:t>按时间顺序排列的数据点序列，记录了某一变量随时间的变化情况。例如，股票价格、气温变化、每日销售额等都是典型的时间序列数据</a:t>
            </a:r>
            <a:endParaRPr lang="en-US" altLang="zh-CN" dirty="0"/>
          </a:p>
          <a:p>
            <a:r>
              <a:rPr lang="zh-CN" altLang="en-US" dirty="0"/>
              <a:t>时间序列的应用场景</a:t>
            </a:r>
            <a:endParaRPr lang="en-US" altLang="zh-CN" dirty="0"/>
          </a:p>
          <a:p>
            <a:pPr lvl="1"/>
            <a:r>
              <a:rPr lang="zh-CN" altLang="en-US" dirty="0"/>
              <a:t>在金融领域，用于预测股票价格走势，帮助投资者做出决策。在气象学中，用于预测天气变化，为农业和交通提供支持。</a:t>
            </a:r>
            <a:endParaRPr lang="en-US" altLang="zh-CN" dirty="0"/>
          </a:p>
          <a:p>
            <a:r>
              <a:rPr lang="zh-CN" altLang="en-US" dirty="0"/>
              <a:t>时间序列数据的特点</a:t>
            </a:r>
            <a:endParaRPr lang="en-US" altLang="zh-CN" dirty="0"/>
          </a:p>
          <a:p>
            <a:pPr lvl="1"/>
            <a:r>
              <a:rPr lang="zh-CN" altLang="en-US" dirty="0"/>
              <a:t>具有时间依赖性，数据点之间存在先后顺序。通常包含趋势、季节性和随机波动等成分</a:t>
            </a:r>
          </a:p>
        </p:txBody>
      </p:sp>
    </p:spTree>
    <p:extLst>
      <p:ext uri="{BB962C8B-B14F-4D97-AF65-F5344CB8AC3E}">
        <p14:creationId xmlns:p14="http://schemas.microsoft.com/office/powerpoint/2010/main" val="267361977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B2449-8FAF-1BB6-2A43-2584572A2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时间的属性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5B9F04-9EB4-6F79-4689-79B7ABEE4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有序</a:t>
            </a:r>
            <a:endParaRPr lang="en-US" altLang="zh-CN" dirty="0"/>
          </a:p>
          <a:p>
            <a:pPr lvl="2"/>
            <a:r>
              <a:rPr lang="zh-CN" altLang="en-US" dirty="0"/>
              <a:t>时间的先后顺序与事件发生的因果关系有紧密联系</a:t>
            </a:r>
            <a:endParaRPr lang="en-US" altLang="zh-CN" dirty="0"/>
          </a:p>
          <a:p>
            <a:r>
              <a:rPr lang="zh-CN" altLang="en-US" dirty="0"/>
              <a:t>连续性</a:t>
            </a:r>
            <a:endParaRPr lang="en-US" altLang="zh-CN" dirty="0"/>
          </a:p>
          <a:p>
            <a:pPr lvl="2"/>
            <a:r>
              <a:rPr lang="zh-CN" altLang="en-US" dirty="0"/>
              <a:t>两个时间点内总存在另一个时间点</a:t>
            </a:r>
            <a:endParaRPr lang="en-US" altLang="zh-CN" dirty="0"/>
          </a:p>
          <a:p>
            <a:r>
              <a:rPr lang="zh-CN" altLang="en-US" dirty="0"/>
              <a:t>周期性</a:t>
            </a:r>
            <a:endParaRPr lang="en-US" altLang="zh-CN" dirty="0"/>
          </a:p>
          <a:p>
            <a:pPr lvl="2"/>
            <a:r>
              <a:rPr lang="zh-CN" altLang="en-US" dirty="0"/>
              <a:t>例如季节的循环，可以采用循环的时间域</a:t>
            </a:r>
            <a:endParaRPr lang="en-US" altLang="zh-CN" dirty="0"/>
          </a:p>
          <a:p>
            <a:r>
              <a:rPr lang="zh-CN" altLang="en-US" dirty="0"/>
              <a:t>独立于空间</a:t>
            </a:r>
            <a:endParaRPr lang="en-US" altLang="zh-CN" dirty="0"/>
          </a:p>
          <a:p>
            <a:pPr lvl="2"/>
            <a:r>
              <a:rPr lang="zh-CN" altLang="en-US" dirty="0"/>
              <a:t>时间和空间独立处理</a:t>
            </a:r>
            <a:endParaRPr lang="en-US" altLang="zh-CN" dirty="0"/>
          </a:p>
          <a:p>
            <a:r>
              <a:rPr lang="zh-CN" altLang="en-US" dirty="0"/>
              <a:t>结构性</a:t>
            </a:r>
            <a:endParaRPr lang="en-US" altLang="zh-CN" dirty="0"/>
          </a:p>
          <a:p>
            <a:pPr lvl="2"/>
            <a:r>
              <a:rPr lang="zh-CN" altLang="en-US" dirty="0"/>
              <a:t>时间的尺度分为年月日时分秒等。这种分割既有对自然现象的反映，也有人为的定义。</a:t>
            </a:r>
          </a:p>
        </p:txBody>
      </p:sp>
    </p:spTree>
    <p:extLst>
      <p:ext uri="{BB962C8B-B14F-4D97-AF65-F5344CB8AC3E}">
        <p14:creationId xmlns:p14="http://schemas.microsoft.com/office/powerpoint/2010/main" val="108052433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295EEF-9043-99B9-F869-79FC11642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时序数据的特征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8BE22C-C025-14CC-1CB1-38DBB4B28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从时序数据中提取出来的数据规律、趋势、模式等称为数据特征。按时间变化规律可以分为常规、周期、随机三种特征。</a:t>
            </a:r>
            <a:endParaRPr lang="en-US" altLang="zh-CN" dirty="0"/>
          </a:p>
          <a:p>
            <a:pPr lvl="1"/>
            <a:r>
              <a:rPr lang="zh-CN" altLang="en-US" dirty="0"/>
              <a:t>常规特征：稳定地变化趋势，既不是剧烈地变化，也不是遵循周期性的路径。</a:t>
            </a:r>
            <a:endParaRPr lang="en-US" altLang="zh-CN" dirty="0"/>
          </a:p>
          <a:p>
            <a:pPr lvl="1"/>
            <a:r>
              <a:rPr lang="zh-CN" altLang="en-US" dirty="0"/>
              <a:t>周期特征：周期性地出现和消失，或沿着周期性路径进行移动。</a:t>
            </a:r>
            <a:endParaRPr lang="en-US" altLang="zh-CN" dirty="0"/>
          </a:p>
          <a:p>
            <a:pPr lvl="1"/>
            <a:r>
              <a:rPr lang="zh-CN" altLang="en-US" dirty="0"/>
              <a:t>随机特征：变化规律随机，在湍流模拟中较为常见。</a:t>
            </a:r>
          </a:p>
        </p:txBody>
      </p:sp>
    </p:spTree>
    <p:extLst>
      <p:ext uri="{BB962C8B-B14F-4D97-AF65-F5344CB8AC3E}">
        <p14:creationId xmlns:p14="http://schemas.microsoft.com/office/powerpoint/2010/main" val="320925834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2B7C87-3553-3679-EF1D-5BD0CA27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时序数据可视化方法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BEC4E9-3631-C985-8D26-381ED978C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不同类别的时序数据采用不同的可视化方法来表达</a:t>
            </a:r>
            <a:endParaRPr lang="en-US" altLang="zh-CN" dirty="0"/>
          </a:p>
          <a:p>
            <a:pPr lvl="1"/>
            <a:r>
              <a:rPr lang="zh-CN" altLang="en-US" dirty="0"/>
              <a:t>周期时间：可以用标准显示方法，将时间数据作为二维的线图显示。</a:t>
            </a:r>
            <a:r>
              <a:rPr lang="en-US" altLang="zh-CN" dirty="0"/>
              <a:t>x</a:t>
            </a:r>
            <a:r>
              <a:rPr lang="zh-CN" altLang="en-US" dirty="0"/>
              <a:t>轴表示时间，</a:t>
            </a:r>
            <a:r>
              <a:rPr lang="en-US" altLang="zh-CN" dirty="0"/>
              <a:t>y</a:t>
            </a:r>
            <a:r>
              <a:rPr lang="zh-CN" altLang="en-US" dirty="0"/>
              <a:t>轴表示其它变量。也可以用螺旋图的方法布局时间轴，将时序数据沿着圆周排布。一个回路代表一个周期，选择正确的排列周期可以展现数据集的周期性特征。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9610758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D3C38-D659-5802-6CCB-C3B30CECE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D8E66C-DAE7-7712-A680-C0DD03799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时序数据可视化方法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8F7E17-9ABE-51F7-55D5-13ADA2D54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周期时间</a:t>
            </a:r>
            <a:endParaRPr lang="en-US" altLang="zh-CN" dirty="0"/>
          </a:p>
          <a:p>
            <a:pPr lvl="2"/>
            <a:r>
              <a:rPr lang="zh-CN" altLang="en-US" dirty="0"/>
              <a:t>时序数据的线性和周期性表达。右图通过调整显示周期，显示出</a:t>
            </a:r>
            <a:r>
              <a:rPr lang="en-US" altLang="zh-CN" dirty="0"/>
              <a:t>4</a:t>
            </a:r>
            <a:r>
              <a:rPr lang="zh-CN" altLang="en-US" dirty="0"/>
              <a:t>个比较明显的部分，清晰地揭示了数据的周期性（数据是某地区三年时间内流感病例数量，时间周期是</a:t>
            </a:r>
            <a:r>
              <a:rPr lang="en-US" altLang="zh-CN" dirty="0"/>
              <a:t>28</a:t>
            </a:r>
            <a:r>
              <a:rPr lang="zh-CN" altLang="en-US" dirty="0"/>
              <a:t>天，可推断出：</a:t>
            </a:r>
            <a:r>
              <a:rPr lang="en-US" altLang="zh-CN" dirty="0"/>
              <a:t>7</a:t>
            </a:r>
            <a:r>
              <a:rPr lang="zh-CN" altLang="en-US" dirty="0"/>
              <a:t>天的整数倍可以作为一个周期）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65BF187-AE38-7491-35DA-9B63AA7A3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4944"/>
            <a:ext cx="9144000" cy="343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94454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2457E-94D6-9CCC-D15B-A924BFDEA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9D7D1C-173D-FD82-E3B3-56876C08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时序数据可视化方法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97CBEF-FB2D-FAFE-57FD-F78BC0C72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不同类别的时序数据采用不同的可视化方法来表达</a:t>
            </a:r>
            <a:endParaRPr lang="en-US" altLang="zh-CN" dirty="0"/>
          </a:p>
          <a:p>
            <a:pPr lvl="1"/>
            <a:r>
              <a:rPr lang="zh-CN" altLang="en-US" dirty="0"/>
              <a:t>日历可视化：采用日历表达时间属性，和识别时间的习惯符合。常用的日历视图将日期和时间看成两个独立的维度，可用第三个维度编码与时间相关的属性。日历视图和属性视图通过时间属性进行关联。从日历视图上可以观察季度、月、周、日为单位的趋势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579662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6946A-F707-5CFE-2110-740B81879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907B8-8803-92B9-D17A-A94B475BF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时序数据可视化方法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84A56E-4378-C59C-8889-D6AD264D2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日历可视化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42761C-A317-870F-19C0-78EF58EAD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36" y="1916832"/>
            <a:ext cx="7524328" cy="411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95208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C14DD-5041-1E26-949C-B22110691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9202EB-3226-CAEE-34C7-0B4858BF1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时序数据可视化方法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3C29C1-DCF4-E640-0C96-24C344C4D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不同类别的时序数据采用不同的可视化方法来表达</a:t>
            </a:r>
            <a:endParaRPr lang="en-US" altLang="zh-CN" dirty="0"/>
          </a:p>
          <a:p>
            <a:pPr lvl="1"/>
            <a:r>
              <a:rPr lang="zh-CN" altLang="en-US" dirty="0"/>
              <a:t>动画显示法：最直观的可视化方法就是将数据中的时间变量映射到显示时间，用动画或者允许用户使用交互式界面控制时间条。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0158511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DA56A-D20A-8F76-B572-1D1A625D0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7BB801-A384-FCB3-79F9-95EFA0DF2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时序数据可视化方法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493336-99AA-6AB9-2DC2-9A144B23A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不同类别的时序数据采用不同的可视化方法来表达</a:t>
            </a:r>
            <a:endParaRPr lang="en-US" altLang="zh-CN" dirty="0"/>
          </a:p>
          <a:p>
            <a:pPr lvl="1"/>
            <a:r>
              <a:rPr lang="zh-CN" altLang="en-US" dirty="0"/>
              <a:t>邮票图表法：当数据空间本身是二维或者三维时，直接将时间映射到显示空间会造成数据在视觉空间中的重叠。邮票图法避免了采用动画形式，是一种高维数据可视化的标准模式之一。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0765434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2E6B0-036C-0833-3141-40F8C7750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71493-C248-9E0E-DA4D-5525B5360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时序数据可视化方法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CB9735-B9A5-88FF-05DF-7B20FFF1D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邮票图表法。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D3E2C18-F8D0-633B-544C-695C4BC81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027" y="1628800"/>
            <a:ext cx="4969495" cy="412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19597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54BEE4-24DD-8EB1-1126-F808BDC87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显示随时间变化情况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5CF5BB-BA5D-38ED-6BAE-3F3389C4C2F3}"/>
              </a:ext>
            </a:extLst>
          </p:cNvPr>
          <p:cNvSpPr/>
          <p:nvPr/>
        </p:nvSpPr>
        <p:spPr bwMode="auto">
          <a:xfrm>
            <a:off x="395536" y="1811203"/>
            <a:ext cx="8399898" cy="609685"/>
          </a:xfrm>
          <a:prstGeom prst="rect">
            <a:avLst/>
          </a:prstGeom>
          <a:solidFill>
            <a:srgbClr val="FFBFD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i="0" baseline="-25000" dirty="0">
                <a:solidFill>
                  <a:srgbClr val="BE38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将时间映射到图表元素</a:t>
            </a:r>
            <a:endParaRPr kumimoji="0" lang="zh-CN" altLang="en-US" sz="2800" i="0" u="none" strike="noStrike" cap="none" normalizeH="0" baseline="-25000" dirty="0">
              <a:ln>
                <a:noFill/>
              </a:ln>
              <a:solidFill>
                <a:srgbClr val="BE388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3E4E18-1CB5-A6BF-4589-AEE93B848B92}"/>
              </a:ext>
            </a:extLst>
          </p:cNvPr>
          <p:cNvSpPr/>
          <p:nvPr/>
        </p:nvSpPr>
        <p:spPr bwMode="auto">
          <a:xfrm>
            <a:off x="395536" y="3429000"/>
            <a:ext cx="8446870" cy="609685"/>
          </a:xfrm>
          <a:prstGeom prst="rect">
            <a:avLst/>
          </a:prstGeom>
          <a:solidFill>
            <a:srgbClr val="FFBFD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i="0" baseline="-25000" dirty="0" err="1">
                <a:solidFill>
                  <a:srgbClr val="BE38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geoms</a:t>
            </a:r>
            <a:r>
              <a:rPr lang="zh-CN" altLang="en-US" sz="2800" i="0" baseline="-25000" dirty="0">
                <a:solidFill>
                  <a:srgbClr val="BE38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：线、条形</a:t>
            </a:r>
            <a:r>
              <a:rPr kumimoji="0" lang="zh-CN" altLang="en-US" sz="2800" i="0" u="none" strike="noStrike" cap="none" normalizeH="0" baseline="-25000" dirty="0">
                <a:ln>
                  <a:noFill/>
                </a:ln>
                <a:solidFill>
                  <a:srgbClr val="BE388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、散点、热图、密度图、地图等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156B41D-A45F-FE60-58A1-59FF9A12486E}"/>
              </a:ext>
            </a:extLst>
          </p:cNvPr>
          <p:cNvSpPr/>
          <p:nvPr/>
        </p:nvSpPr>
        <p:spPr bwMode="auto">
          <a:xfrm>
            <a:off x="395536" y="2647393"/>
            <a:ext cx="8399898" cy="609685"/>
          </a:xfrm>
          <a:prstGeom prst="rect">
            <a:avLst/>
          </a:prstGeom>
          <a:solidFill>
            <a:srgbClr val="FFBFD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i="0" u="none" strike="noStrike" cap="none" normalizeH="0" baseline="-25000" dirty="0" err="1">
                <a:ln>
                  <a:noFill/>
                </a:ln>
                <a:solidFill>
                  <a:srgbClr val="BE388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aes</a:t>
            </a:r>
            <a:r>
              <a:rPr kumimoji="0" lang="zh-CN" altLang="en-US" sz="2800" i="0" u="none" strike="noStrike" cap="none" normalizeH="0" baseline="-25000" dirty="0">
                <a:ln>
                  <a:noFill/>
                </a:ln>
                <a:solidFill>
                  <a:srgbClr val="BE388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0" lang="en-US" altLang="zh-CN" sz="2800" i="0" u="none" strike="noStrike" cap="none" normalizeH="0" baseline="-25000" dirty="0">
                <a:ln>
                  <a:noFill/>
                </a:ln>
                <a:solidFill>
                  <a:srgbClr val="BE388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x, y, color, fill, facet, </a:t>
            </a:r>
            <a:r>
              <a:rPr kumimoji="0" lang="zh-CN" altLang="en-US" sz="2800" i="0" u="none" strike="noStrike" cap="none" normalizeH="0" baseline="-25000" dirty="0">
                <a:ln>
                  <a:noFill/>
                </a:ln>
                <a:solidFill>
                  <a:srgbClr val="BE388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kumimoji="0" lang="en-US" altLang="zh-CN" sz="2800" i="0" u="none" strike="noStrike" cap="none" normalizeH="0" baseline="-25000" dirty="0">
                <a:ln>
                  <a:noFill/>
                </a:ln>
                <a:solidFill>
                  <a:srgbClr val="BE388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animation </a:t>
            </a:r>
            <a:r>
              <a:rPr kumimoji="0" lang="zh-CN" altLang="en-US" sz="2800" i="0" u="none" strike="noStrike" cap="none" normalizeH="0" baseline="-25000" dirty="0">
                <a:ln>
                  <a:noFill/>
                </a:ln>
                <a:solidFill>
                  <a:srgbClr val="BE388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63E141-B846-708C-6961-87CD02805544}"/>
              </a:ext>
            </a:extLst>
          </p:cNvPr>
          <p:cNvSpPr/>
          <p:nvPr/>
        </p:nvSpPr>
        <p:spPr bwMode="auto">
          <a:xfrm>
            <a:off x="3730405" y="4437112"/>
            <a:ext cx="1683189" cy="437763"/>
          </a:xfrm>
          <a:prstGeom prst="rect">
            <a:avLst/>
          </a:prstGeom>
          <a:solidFill>
            <a:srgbClr val="BE388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i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zh-CN" altLang="en-US" sz="2000" i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并且</a:t>
            </a:r>
            <a:r>
              <a:rPr lang="en-US" altLang="zh-CN" sz="2000" i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↓</a:t>
            </a:r>
            <a:endParaRPr kumimoji="0" lang="zh-CN" altLang="en-US" sz="2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030829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A2CDA-4D25-19FB-C225-21B3AA380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x</a:t>
            </a:r>
            <a:r>
              <a:rPr lang="zh-CN" altLang="en-US" dirty="0"/>
              <a:t>轴 </a:t>
            </a:r>
            <a:r>
              <a:rPr lang="en-US" altLang="zh-CN" dirty="0"/>
              <a:t>+ </a:t>
            </a:r>
            <a:r>
              <a:rPr lang="zh-CN" altLang="en-US" dirty="0"/>
              <a:t>线型或条形图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C2223B-7997-27A4-9852-F131B82CF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241687"/>
            <a:ext cx="4996817" cy="437462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5CD3694-F42B-8695-31A9-2306F7D63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936104"/>
            <a:ext cx="2768876" cy="498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01121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A2CDA-4D25-19FB-C225-21B3AA380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x</a:t>
            </a:r>
            <a:r>
              <a:rPr lang="zh-CN" altLang="en-US" dirty="0"/>
              <a:t>轴 </a:t>
            </a:r>
            <a:r>
              <a:rPr lang="en-US" altLang="zh-CN" dirty="0"/>
              <a:t>+ </a:t>
            </a:r>
            <a:r>
              <a:rPr lang="zh-CN" altLang="en-US" dirty="0"/>
              <a:t>热图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D521B1-2561-DED7-7975-A59308322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6794"/>
            <a:ext cx="9144000" cy="553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77094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A2CDA-4D25-19FB-C225-21B3AA380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y</a:t>
            </a:r>
            <a:r>
              <a:rPr lang="zh-CN" altLang="en-US" dirty="0"/>
              <a:t>轴 </a:t>
            </a:r>
            <a:r>
              <a:rPr lang="en-US" altLang="zh-CN" dirty="0"/>
              <a:t>+ </a:t>
            </a:r>
            <a:r>
              <a:rPr lang="zh-CN" altLang="en-US" dirty="0"/>
              <a:t>密度图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C564D05-F0E8-474B-0133-C88D60F43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61173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A2CDA-4D25-19FB-C225-21B3AA380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动画 </a:t>
            </a:r>
            <a:r>
              <a:rPr lang="en-US" altLang="zh-CN" dirty="0"/>
              <a:t>+ </a:t>
            </a:r>
            <a:r>
              <a:rPr lang="zh-CN" altLang="en-US" dirty="0"/>
              <a:t>散点图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E454BC-B687-75EF-6273-2D9BE4F23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08" y="908720"/>
            <a:ext cx="8028384" cy="536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08135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A2CDA-4D25-19FB-C225-21B3AA380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条形图 </a:t>
            </a:r>
            <a:r>
              <a:rPr lang="en-US" altLang="zh-CN" dirty="0"/>
              <a:t>+ </a:t>
            </a:r>
            <a:r>
              <a:rPr lang="zh-CN" altLang="en-US" dirty="0"/>
              <a:t>小多图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30C19C-C5F6-D11D-FEC5-775AF0570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2590"/>
            <a:ext cx="9144000" cy="351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5559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06C5F1-33D8-9D0C-B83A-326ED9C60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时间序列数据的组成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AD7F4F-7F43-9DDD-0DFC-E1B499C74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趋势项（</a:t>
            </a:r>
            <a:r>
              <a:rPr lang="en-US" altLang="zh-CN" dirty="0"/>
              <a:t>Trend Component</a:t>
            </a:r>
            <a:r>
              <a:rPr lang="zh-CN" altLang="en-US" dirty="0"/>
              <a:t>）</a:t>
            </a:r>
          </a:p>
          <a:p>
            <a:pPr lvl="2"/>
            <a:r>
              <a:rPr lang="zh-CN" altLang="en-US" dirty="0"/>
              <a:t>长期上升或下降的趋势。 示例图表：展示具有明显趋势的时间序列。</a:t>
            </a:r>
          </a:p>
          <a:p>
            <a:r>
              <a:rPr lang="zh-CN" altLang="en-US" dirty="0"/>
              <a:t>季节项（</a:t>
            </a:r>
            <a:r>
              <a:rPr lang="en-US" altLang="zh-CN" dirty="0"/>
              <a:t>Seasonal Component</a:t>
            </a:r>
            <a:r>
              <a:rPr lang="zh-CN" altLang="en-US" dirty="0"/>
              <a:t>）</a:t>
            </a:r>
          </a:p>
          <a:p>
            <a:pPr lvl="2"/>
            <a:r>
              <a:rPr lang="zh-CN" altLang="en-US" dirty="0"/>
              <a:t>每年或每季度重复出现的模式。示例图表：展示具有季节性的时间序列。</a:t>
            </a:r>
          </a:p>
          <a:p>
            <a:r>
              <a:rPr lang="zh-CN" altLang="en-US" dirty="0"/>
              <a:t>循环项（</a:t>
            </a:r>
            <a:r>
              <a:rPr lang="en-US" altLang="zh-CN" dirty="0"/>
              <a:t>Cyclic Component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比季节性更长的周期性变化。示例图表：展示具有循环性的时间序列。</a:t>
            </a:r>
          </a:p>
          <a:p>
            <a:r>
              <a:rPr lang="zh-CN" altLang="en-US" dirty="0"/>
              <a:t>随机项（</a:t>
            </a:r>
            <a:r>
              <a:rPr lang="en-US" altLang="zh-CN" dirty="0"/>
              <a:t>Irregular Component</a:t>
            </a:r>
            <a:r>
              <a:rPr lang="zh-CN" altLang="en-US" dirty="0"/>
              <a:t>）</a:t>
            </a:r>
          </a:p>
          <a:p>
            <a:pPr lvl="2"/>
            <a:r>
              <a:rPr lang="zh-CN" altLang="en-US" dirty="0"/>
              <a:t>不可预测的随机波动。示例图表：展示具有随机波动的时间序列。</a:t>
            </a:r>
          </a:p>
        </p:txBody>
      </p:sp>
    </p:spTree>
    <p:extLst>
      <p:ext uri="{BB962C8B-B14F-4D97-AF65-F5344CB8AC3E}">
        <p14:creationId xmlns:p14="http://schemas.microsoft.com/office/powerpoint/2010/main" val="400700833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18E90C-FFA8-887C-F458-E82D61D3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趋势项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20AC45-911D-4DD6-1C86-E30DC838A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概念</a:t>
            </a:r>
            <a:endParaRPr lang="en-US" altLang="zh-CN" dirty="0"/>
          </a:p>
          <a:p>
            <a:pPr lvl="2"/>
            <a:r>
              <a:rPr lang="zh-CN" altLang="en-US" dirty="0"/>
              <a:t>表示时间序列中长期的上升或下降趋势。例如，随着科技的发展，智能手机的销量呈现长期上升趋势。</a:t>
            </a:r>
            <a:endParaRPr lang="en-US" altLang="zh-CN" dirty="0"/>
          </a:p>
          <a:p>
            <a:r>
              <a:rPr lang="zh-CN" altLang="en-US" dirty="0"/>
              <a:t>识别方法</a:t>
            </a:r>
            <a:endParaRPr lang="en-US" altLang="zh-CN" dirty="0"/>
          </a:p>
          <a:p>
            <a:pPr lvl="2"/>
            <a:r>
              <a:rPr lang="zh-CN" altLang="en-US" dirty="0"/>
              <a:t>可以通过绘制时间序列图，观察数据的整体走势来识别趋势。使用数学模型，如线性回归，拟合时间序列的趋势线</a:t>
            </a:r>
          </a:p>
          <a:p>
            <a:r>
              <a:rPr lang="zh-CN" altLang="en-US" dirty="0"/>
              <a:t>意义</a:t>
            </a:r>
            <a:endParaRPr lang="en-US" altLang="zh-CN" dirty="0"/>
          </a:p>
          <a:p>
            <a:pPr lvl="2"/>
            <a:r>
              <a:rPr lang="zh-CN" altLang="en-US" dirty="0"/>
              <a:t>趋势项反映了数据的长期变化规律，有助于预测未来的走势。对于企业来说，了解产品销售的趋势有助于制定长期战略。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814996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5BB24-668E-5F58-6300-20833F486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BF0250-F7BF-4ABF-62C2-D1E16E5D1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季节项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3ED4A5-522C-D58A-4A68-3CDA25C8D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概念</a:t>
            </a:r>
            <a:endParaRPr lang="en-US" altLang="zh-CN" dirty="0"/>
          </a:p>
          <a:p>
            <a:pPr lvl="2"/>
            <a:r>
              <a:rPr lang="zh-CN" altLang="en-US" dirty="0"/>
              <a:t>指时间序列中每年或每季度重复出现的模式。例如，零售业在节假日通常会出现销售高峰，这就是季节性特征。</a:t>
            </a:r>
            <a:endParaRPr lang="en-US" altLang="zh-CN" dirty="0"/>
          </a:p>
          <a:p>
            <a:r>
              <a:rPr lang="zh-CN" altLang="en-US" dirty="0"/>
              <a:t>识别方法</a:t>
            </a:r>
            <a:endParaRPr lang="en-US" altLang="zh-CN" dirty="0"/>
          </a:p>
          <a:p>
            <a:pPr lvl="2"/>
            <a:r>
              <a:rPr lang="zh-CN" altLang="en-US" dirty="0"/>
              <a:t>绘制时间序列图，观察数据在固定周期内的重复模式。使用季节性分解方法，如 </a:t>
            </a:r>
            <a:r>
              <a:rPr lang="en-US" altLang="zh-CN" dirty="0"/>
              <a:t>STL </a:t>
            </a:r>
            <a:r>
              <a:rPr lang="zh-CN" altLang="en-US" dirty="0"/>
              <a:t>分解，分离出季节项。</a:t>
            </a:r>
          </a:p>
          <a:p>
            <a:r>
              <a:rPr lang="zh-CN" altLang="en-US" dirty="0"/>
              <a:t>意义</a:t>
            </a:r>
            <a:endParaRPr lang="en-US" altLang="zh-CN" dirty="0"/>
          </a:p>
          <a:p>
            <a:pPr lvl="2"/>
            <a:r>
              <a:rPr lang="zh-CN" altLang="en-US" dirty="0"/>
              <a:t>季节项有助于组织提前规划库存和促销活动。在旅游行业，季节项可用于预测旅游旺季，合理安排资源。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900317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32124-34E8-94A1-3EB4-D5ECACA92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02981-EBF1-1002-A223-4CA2DE62D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0DCB49-F000-478B-CCB5-5C06AA2A1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概念</a:t>
            </a:r>
            <a:endParaRPr lang="en-US" altLang="zh-CN" dirty="0"/>
          </a:p>
          <a:p>
            <a:pPr lvl="2"/>
            <a:r>
              <a:rPr lang="zh-CN" altLang="en-US" dirty="0"/>
              <a:t>指时间序列中比季节性更长的周期性变化。例如，经济周期通常包括扩张期和衰退期，这种变化可能持续数年。</a:t>
            </a:r>
            <a:endParaRPr lang="en-US" altLang="zh-CN" dirty="0"/>
          </a:p>
          <a:p>
            <a:r>
              <a:rPr lang="zh-CN" altLang="en-US" dirty="0"/>
              <a:t>识别方法</a:t>
            </a:r>
            <a:endParaRPr lang="en-US" altLang="zh-CN" dirty="0"/>
          </a:p>
          <a:p>
            <a:pPr lvl="2"/>
            <a:r>
              <a:rPr lang="zh-CN" altLang="en-US" dirty="0"/>
              <a:t>循环项的周期长度不固定，通常比季节项更难以识别。循环项可能受到多种因素的影响，如政策变化、市场情绪等。</a:t>
            </a:r>
          </a:p>
          <a:p>
            <a:r>
              <a:rPr lang="zh-CN" altLang="en-US" dirty="0"/>
              <a:t>意义</a:t>
            </a:r>
            <a:endParaRPr lang="en-US" altLang="zh-CN" dirty="0"/>
          </a:p>
          <a:p>
            <a:pPr lvl="2"/>
            <a:r>
              <a:rPr lang="zh-CN" altLang="en-US" dirty="0"/>
              <a:t>使用频谱分析等方法识别循环项的周期。结合经济理论和历史数据，分析循环项的形成原因。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44591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DD5CD-8AFB-CC67-90BE-4EE378649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0204A1-58F9-90C6-D20A-BAADB880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随机项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D36AEC-EC6D-6F68-D629-6F94D6673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概念</a:t>
            </a:r>
            <a:endParaRPr lang="en-US" altLang="zh-CN" dirty="0"/>
          </a:p>
          <a:p>
            <a:pPr lvl="2"/>
            <a:r>
              <a:rPr lang="zh-CN" altLang="en-US" dirty="0"/>
              <a:t>随机项是指时间序列中不可预测的随机波动。例如，突发事件或随机误差可能导致数据的短期波动。</a:t>
            </a:r>
            <a:endParaRPr lang="en-US" altLang="zh-CN" dirty="0"/>
          </a:p>
          <a:p>
            <a:r>
              <a:rPr lang="zh-CN" altLang="en-US" dirty="0"/>
              <a:t>识别方法</a:t>
            </a:r>
            <a:endParaRPr lang="en-US" altLang="zh-CN" dirty="0"/>
          </a:p>
          <a:p>
            <a:pPr lvl="2"/>
            <a:r>
              <a:rPr lang="zh-CN" altLang="en-US" dirty="0"/>
              <a:t>随机项没有明显的规律，难以预测。随机项的存在增加了时间序列分析的复杂性。</a:t>
            </a:r>
          </a:p>
          <a:p>
            <a:r>
              <a:rPr lang="zh-CN" altLang="en-US" dirty="0"/>
              <a:t>意义</a:t>
            </a:r>
            <a:endParaRPr lang="en-US" altLang="zh-CN" dirty="0"/>
          </a:p>
          <a:p>
            <a:pPr lvl="2"/>
            <a:r>
              <a:rPr lang="zh-CN" altLang="en-US" dirty="0"/>
              <a:t>通过平滑方法，如移动平均，减少随机项的影响。使用统计模型，如 </a:t>
            </a:r>
            <a:r>
              <a:rPr lang="en-US" altLang="zh-CN" dirty="0"/>
              <a:t>ARIMA</a:t>
            </a:r>
            <a:r>
              <a:rPr lang="zh-CN" altLang="en-US" dirty="0"/>
              <a:t>，对随机项进行建模和预测。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097738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0A4753-0F5F-2177-C20F-A243FDDAF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缺失值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AE8D6B-63A7-5D3F-684A-1BD33F49A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缺失完全随机（</a:t>
            </a:r>
            <a:r>
              <a:rPr lang="en-US" altLang="zh-CN" dirty="0"/>
              <a:t>MCAR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缺失值的出现与任何变量无关，完全随机。例如，数据录入时随机遗漏了一些记录。</a:t>
            </a:r>
            <a:endParaRPr lang="en-US" altLang="zh-CN" dirty="0"/>
          </a:p>
          <a:p>
            <a:r>
              <a:rPr lang="zh-CN" altLang="en-US" dirty="0"/>
              <a:t>缺失随机（</a:t>
            </a:r>
            <a:r>
              <a:rPr lang="en-US" altLang="zh-CN" dirty="0"/>
              <a:t>MAR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缺失值的出现与可观测变量有关，但与缺失值本身无关。例如，假设由于某种原因，数学成绩较低的学生更倾向于不报告他们的英语成绩。</a:t>
            </a:r>
          </a:p>
          <a:p>
            <a:r>
              <a:rPr lang="zh-CN" altLang="en-US" dirty="0"/>
              <a:t>缺失非随机（</a:t>
            </a:r>
            <a:r>
              <a:rPr lang="en-US" altLang="zh-CN" dirty="0"/>
              <a:t>MNAR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缺失值的出现与缺失值本身有关。例如，假设由于某种原因，英语成绩较低的学生更倾向于不报告他们的英语成绩。</a:t>
            </a:r>
          </a:p>
          <a:p>
            <a:pPr lvl="1"/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920372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66D11D-38BA-7CFB-D61F-B971F1D7C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缺失值处理方法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E6BE33-BF6E-C51E-C564-05167A44F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删除法</a:t>
            </a:r>
            <a:endParaRPr lang="en-US" altLang="zh-CN" dirty="0"/>
          </a:p>
          <a:p>
            <a:pPr lvl="2"/>
            <a:r>
              <a:rPr lang="zh-CN" altLang="en-US" dirty="0"/>
              <a:t>删除包含缺失值的行或列，简单直接。但可能导致数据量减少，影响分析结果的准确性</a:t>
            </a:r>
            <a:endParaRPr lang="en-US" altLang="zh-CN" dirty="0"/>
          </a:p>
          <a:p>
            <a:r>
              <a:rPr lang="zh-CN" altLang="en-US" dirty="0"/>
              <a:t>填充法</a:t>
            </a:r>
            <a:endParaRPr lang="en-US" altLang="zh-CN" dirty="0"/>
          </a:p>
          <a:p>
            <a:pPr lvl="2"/>
            <a:r>
              <a:rPr lang="zh-CN" altLang="en-US" dirty="0"/>
              <a:t>均值、中位数、众数填充，适用于数值型数据。前向填充和后向填充，适用于时间序列数据。插值法，根据已知数据点估计缺失值。</a:t>
            </a:r>
            <a:endParaRPr lang="en-US" altLang="zh-CN" dirty="0"/>
          </a:p>
          <a:p>
            <a:r>
              <a:rPr lang="zh-CN" altLang="en-US" dirty="0"/>
              <a:t>示例代码</a:t>
            </a:r>
            <a:endParaRPr lang="en-US" altLang="zh-CN" dirty="0"/>
          </a:p>
          <a:p>
            <a:pPr lvl="2"/>
            <a:r>
              <a:rPr kumimoji="1" lang="zh-CN" altLang="en-US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例如使用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Python 的 pandas 库</a:t>
            </a:r>
            <a:r>
              <a:rPr kumimoji="1" lang="zh-CN" altLang="en-US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的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均值填充</a:t>
            </a:r>
            <a:r>
              <a:rPr kumimoji="1" lang="zh-CN" altLang="en-US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处理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缺失值：df.fillna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(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df.mean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(),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inplace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=True)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4857012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5C934-038E-5152-167C-AFE9F0B30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缺失值处理的影响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0E594D-F258-40EB-F31C-9DBC0D1B7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对数据分析的影响</a:t>
            </a:r>
            <a:endParaRPr lang="en-US" altLang="zh-CN" dirty="0"/>
          </a:p>
          <a:p>
            <a:pPr lvl="2"/>
            <a:r>
              <a:rPr lang="zh-CN" altLang="en-US" dirty="0"/>
              <a:t>不恰当的缺失值处理可能导致偏差，影响分析结果。例如，删除大量缺失值可能导致样本不具有代表性</a:t>
            </a:r>
            <a:endParaRPr lang="en-US" altLang="zh-CN" dirty="0"/>
          </a:p>
          <a:p>
            <a:r>
              <a:rPr lang="zh-CN" altLang="en-US" dirty="0"/>
              <a:t>对模型预测的影响</a:t>
            </a:r>
            <a:endParaRPr lang="en-US" altLang="zh-CN" dirty="0"/>
          </a:p>
          <a:p>
            <a:pPr lvl="2"/>
            <a:r>
              <a:rPr kumimoji="1" lang="en-US" altLang="zh-CN" sz="2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缺失值处理方法的选择会影响模型的性能。例如，使用插值法填充缺失值可能提高模型的预测准确性</a:t>
            </a:r>
            <a:r>
              <a:rPr kumimoji="1" lang="en-US" altLang="zh-CN" sz="2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lang="en-US" altLang="zh-CN" dirty="0"/>
          </a:p>
          <a:p>
            <a:r>
              <a:rPr lang="zh-CN" altLang="en-US" dirty="0"/>
              <a:t>选择合适方法的重要性</a:t>
            </a:r>
            <a:endParaRPr lang="en-US" altLang="zh-CN" dirty="0"/>
          </a:p>
          <a:p>
            <a:pPr lvl="2"/>
            <a:r>
              <a:rPr lang="zh-CN" altLang="en-US" dirty="0"/>
              <a:t>根据数据的特点和分析目标，选择合适的缺失值处理方法。例如，对于时间序列数据，优先考虑时间相关的填充方法。</a:t>
            </a:r>
          </a:p>
        </p:txBody>
      </p:sp>
    </p:spTree>
    <p:extLst>
      <p:ext uri="{BB962C8B-B14F-4D97-AF65-F5344CB8AC3E}">
        <p14:creationId xmlns:p14="http://schemas.microsoft.com/office/powerpoint/2010/main" val="675636337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03F25-FBE8-024E-1D57-14119D4C3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时间序列分解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ECE39A-7A01-A2FF-F13A-DC197B49F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加法模型</a:t>
            </a:r>
            <a:endParaRPr lang="en-US" altLang="zh-CN" sz="2800" dirty="0"/>
          </a:p>
          <a:p>
            <a:pPr lvl="2"/>
            <a:r>
              <a:rPr kumimoji="1" lang="en-US" altLang="zh-CN" sz="2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假设时间序列是趋势项、季节项、循环项和随机项的和</a:t>
            </a:r>
            <a:r>
              <a:rPr kumimoji="1" lang="zh-CN" altLang="en-US" sz="2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，即</a:t>
            </a:r>
            <a:r>
              <a:rPr kumimoji="1" lang="en-US" altLang="zh-CN" sz="2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X(t) = T(t) + S(t) + C(t) + I(t) </a:t>
            </a:r>
          </a:p>
          <a:p>
            <a:pPr lvl="2"/>
            <a:r>
              <a:rPr lang="zh-CN" altLang="en-US" sz="2000" dirty="0"/>
              <a:t>适用于季节项和趋势项相对独立的情况。例如，销售额的增长趋势与季节性波动可以独立分析。</a:t>
            </a:r>
          </a:p>
          <a:p>
            <a:pPr lvl="2"/>
            <a:r>
              <a:rPr kumimoji="1" lang="en-US" altLang="zh-CN" sz="2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使用加法模型可以清晰地分离出时间序列的各个成分。有助于理解数据的内在规律，为预测提供基础</a:t>
            </a:r>
            <a:r>
              <a:rPr kumimoji="1" lang="en-US" altLang="zh-CN" sz="2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lang="en-US" altLang="zh-CN" sz="2000" dirty="0"/>
          </a:p>
          <a:p>
            <a:r>
              <a:rPr lang="zh-CN" altLang="en-US" sz="2800" dirty="0"/>
              <a:t>乘法模型</a:t>
            </a:r>
            <a:endParaRPr lang="en-US" altLang="zh-CN" sz="2800" dirty="0"/>
          </a:p>
          <a:p>
            <a:pPr lvl="2"/>
            <a:r>
              <a:rPr lang="zh-CN" altLang="en-US" sz="2000" dirty="0"/>
              <a:t>假设时间序列是趋势项、季节项、循环项和随机项的乘积，</a:t>
            </a:r>
            <a:r>
              <a:rPr lang="en-US" altLang="zh-CN" sz="2000" dirty="0"/>
              <a:t>X(t) = T(t)·S(t)·C(t)·I(t) 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2"/>
            <a:r>
              <a:rPr lang="zh-CN" altLang="en-US" sz="2000" dirty="0"/>
              <a:t>适用于季节项和趋势项相互影响的情况。例如，销售额的增长趋势会影响季节性波动的幅度。</a:t>
            </a:r>
            <a:endParaRPr lang="en-US" altLang="zh-CN" sz="2000" dirty="0"/>
          </a:p>
          <a:p>
            <a:pPr lvl="2"/>
            <a:r>
              <a:rPr lang="zh-CN" altLang="en-US" sz="2000" dirty="0"/>
              <a:t>使用乘法模型可以更准确地描述时间序列的复杂关系。有助于提高预测的准确性，特别是在季节性变化较大的数据中。</a:t>
            </a:r>
          </a:p>
          <a:p>
            <a:pPr lvl="2"/>
            <a:endParaRPr lang="en-US" altLang="zh-CN" sz="2000" dirty="0"/>
          </a:p>
          <a:p>
            <a:pPr lvl="2"/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18847650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E45028-BF7B-6E3E-1D9D-899CCD956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时间序列分解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0B126F-0CEA-5E7A-DA09-25F6B6752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STL</a:t>
            </a:r>
            <a:r>
              <a:rPr lang="zh-CN" altLang="en-US" dirty="0"/>
              <a:t>分解</a:t>
            </a:r>
            <a:endParaRPr lang="en-US" altLang="zh-CN" dirty="0"/>
          </a:p>
          <a:p>
            <a:pPr lvl="2"/>
            <a:r>
              <a:rPr lang="en-US" altLang="zh-CN" dirty="0"/>
              <a:t>STL </a:t>
            </a:r>
            <a:r>
              <a:rPr lang="zh-CN" altLang="en-US" dirty="0"/>
              <a:t>分解是一种常用的时间序列分解方法，适用于加法模型。可以将时间序列分解为趋势、季节和残差三个部分。使用 </a:t>
            </a:r>
            <a:r>
              <a:rPr lang="en-US" altLang="zh-CN" dirty="0"/>
              <a:t>Python </a:t>
            </a:r>
            <a:r>
              <a:rPr lang="zh-CN" altLang="en-US" dirty="0"/>
              <a:t>的 </a:t>
            </a:r>
            <a:r>
              <a:rPr lang="en-US" altLang="zh-CN" dirty="0" err="1"/>
              <a:t>statsmodels</a:t>
            </a:r>
            <a:r>
              <a:rPr lang="en-US" altLang="zh-CN" dirty="0"/>
              <a:t> </a:t>
            </a:r>
            <a:r>
              <a:rPr lang="zh-CN" altLang="en-US" dirty="0"/>
              <a:t>库实现 </a:t>
            </a:r>
            <a:r>
              <a:rPr lang="en-US" altLang="zh-CN" dirty="0"/>
              <a:t>STL </a:t>
            </a:r>
            <a:r>
              <a:rPr lang="zh-CN" altLang="en-US" dirty="0"/>
              <a:t>分解。</a:t>
            </a:r>
            <a:endParaRPr lang="en-US" altLang="zh-CN" dirty="0"/>
          </a:p>
          <a:p>
            <a:r>
              <a:rPr lang="zh-CN" altLang="en-US" dirty="0"/>
              <a:t>季节性分解</a:t>
            </a:r>
            <a:endParaRPr lang="en-US" altLang="zh-CN" dirty="0"/>
          </a:p>
          <a:p>
            <a:pPr lvl="2"/>
            <a:r>
              <a:rPr lang="zh-CN" altLang="en-US" dirty="0"/>
              <a:t>季节性分解是另一种常用方法，适用于乘法模型。可以分离出时间序列的季节性成分。使用 </a:t>
            </a:r>
            <a:r>
              <a:rPr lang="en-US" altLang="zh-CN" dirty="0"/>
              <a:t>Python </a:t>
            </a:r>
            <a:r>
              <a:rPr lang="zh-CN" altLang="en-US" dirty="0"/>
              <a:t>的 </a:t>
            </a:r>
            <a:r>
              <a:rPr lang="en-US" altLang="zh-CN" dirty="0" err="1"/>
              <a:t>seasonal_decompose</a:t>
            </a:r>
            <a:r>
              <a:rPr lang="en-US" altLang="zh-CN" dirty="0"/>
              <a:t> </a:t>
            </a:r>
            <a:r>
              <a:rPr lang="zh-CN" altLang="en-US" dirty="0"/>
              <a:t>函数进行季节性分解。</a:t>
            </a:r>
            <a:endParaRPr lang="en-US" altLang="zh-CN" dirty="0"/>
          </a:p>
          <a:p>
            <a:r>
              <a:rPr lang="zh-CN" altLang="en-US" dirty="0"/>
              <a:t>分解结果的应用</a:t>
            </a:r>
            <a:endParaRPr lang="en-US" altLang="zh-CN" dirty="0"/>
          </a:p>
          <a:p>
            <a:pPr lvl="2"/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分解后的趋势、季节和残差成分可用于进一步分析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
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例如，分析趋势项的变化规律，预测未来的走势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kumimoji="1"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64371762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47601C-D072-603F-E5A8-A62BBD289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累加分解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FBFBCC2-4550-ED61-74C6-46C8B0423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0844"/>
            <a:ext cx="9144000" cy="402847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9C619BB-FC50-55C1-1985-713067A985E1}"/>
              </a:ext>
            </a:extLst>
          </p:cNvPr>
          <p:cNvSpPr txBox="1"/>
          <p:nvPr/>
        </p:nvSpPr>
        <p:spPr>
          <a:xfrm>
            <a:off x="107504" y="836713"/>
            <a:ext cx="9001000" cy="139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/>
                <a:cs typeface="+mn-cs"/>
              </a:rPr>
              <a:t>STL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/>
                <a:cs typeface="+mn-cs"/>
              </a:rPr>
              <a:t>分解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华文中宋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4"/>
              </a:buBlip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如果一个时间序列仅仅由趋势项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T(t)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和随机项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I(t)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构成，原始数据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X(t)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被分解为趋势成分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T(t)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和噪音成分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I(t)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3204725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7D86F-9A8E-F10D-5989-57BE817C7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0C14E-246D-6C46-FA5E-4F1643B6B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累加分解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CC8823-0651-71A7-BA5C-394EB8C4B72B}"/>
              </a:ext>
            </a:extLst>
          </p:cNvPr>
          <p:cNvSpPr txBox="1"/>
          <p:nvPr/>
        </p:nvSpPr>
        <p:spPr>
          <a:xfrm>
            <a:off x="107504" y="836713"/>
            <a:ext cx="9001000" cy="2135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/>
                <a:cs typeface="+mn-cs"/>
              </a:rPr>
              <a:t>STL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/>
                <a:cs typeface="+mn-cs"/>
              </a:rPr>
              <a:t>分解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华文中宋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一个时间序列数据长期来看，随时间增长按照某种趋势涨跌，短期来看指数每天波动不止。长期趋势成分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T(t)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就可以描述这种时间序列的长期行为，而不规则成分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I(t)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描述的就是噪音成分，或者说是随机运动成分。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B1963A-622D-9885-3154-08F55EBDF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92" y="3212976"/>
            <a:ext cx="5023898" cy="309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936818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54BEE4-24DD-8EB1-1126-F808BDC87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FD8C6E-0A4C-E5A8-069C-EBA38C1FA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98321"/>
            <a:ext cx="4367642" cy="34148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95AA607-111C-A8D2-C8BA-B07F0ACD2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530" y="1598321"/>
            <a:ext cx="4332751" cy="338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668730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54BEE4-24DD-8EB1-1126-F808BDC87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成因的分解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C05AF2C-0FA5-0B7D-C203-A110B4F10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848" y="870167"/>
            <a:ext cx="7308304" cy="529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809675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A81EF-FA6A-778B-931E-A08FDAD91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BCD27D-229E-ECAD-850C-E80B33A97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累乘分解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51349B-EA97-8A87-9713-03590A41C30D}"/>
              </a:ext>
            </a:extLst>
          </p:cNvPr>
          <p:cNvSpPr txBox="1"/>
          <p:nvPr/>
        </p:nvSpPr>
        <p:spPr>
          <a:xfrm>
            <a:off x="107504" y="836713"/>
            <a:ext cx="9001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/>
                <a:cs typeface="+mn-cs"/>
              </a:rPr>
              <a:t>如果只考虑趋势项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/>
                <a:cs typeface="+mn-cs"/>
              </a:rPr>
              <a:t>T(t)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/>
                <a:cs typeface="+mn-cs"/>
              </a:rPr>
              <a:t>和随机项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/>
                <a:cs typeface="+mn-cs"/>
              </a:rPr>
              <a:t>I(t)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/>
                <a:cs typeface="+mn-cs"/>
              </a:rPr>
              <a:t>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876228-4307-F676-8210-A1525AEF4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844824"/>
            <a:ext cx="6804248" cy="331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147564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9938C-BC48-E05C-1C83-0CC617251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6FB01F-9F15-C852-B8C4-04F1CEC8C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累乘分解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ADB53D-779B-1747-8842-3662D1E3343B}"/>
              </a:ext>
            </a:extLst>
          </p:cNvPr>
          <p:cNvSpPr txBox="1"/>
          <p:nvPr/>
        </p:nvSpPr>
        <p:spPr>
          <a:xfrm>
            <a:off x="107504" y="836713"/>
            <a:ext cx="9001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/>
                <a:cs typeface="+mn-cs"/>
              </a:rPr>
              <a:t>如果</a:t>
            </a:r>
            <a:r>
              <a:rPr lang="zh-CN" altLang="en-US" sz="3200" i="0" kern="0" dirty="0">
                <a:solidFill>
                  <a:srgbClr val="000000"/>
                </a:solidFill>
                <a:latin typeface="Times New Roman"/>
                <a:ea typeface="华文中宋"/>
              </a:rPr>
              <a:t>还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/>
                <a:cs typeface="+mn-cs"/>
              </a:rPr>
              <a:t>考虑季节成分 </a:t>
            </a:r>
            <a:r>
              <a:rPr lang="en-US" altLang="zh-CN" sz="3200" i="0" kern="0" dirty="0">
                <a:solidFill>
                  <a:srgbClr val="000000"/>
                </a:solidFill>
                <a:latin typeface="Times New Roman"/>
                <a:ea typeface="华文中宋"/>
              </a:rPr>
              <a:t>S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/>
                <a:cs typeface="+mn-cs"/>
              </a:rPr>
              <a:t>(t)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/>
                <a:cs typeface="+mn-cs"/>
              </a:rPr>
              <a:t>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2C922F4-AE25-5B32-75E3-1B5C718AE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28" y="1772816"/>
            <a:ext cx="7668344" cy="410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922607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6FE3E-CB29-FBE1-5FE7-0E01ADF2B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E11201-4ECC-290D-3E24-49786766B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累乘分解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3895B3E-008F-A4F2-6298-7074C23C391B}"/>
              </a:ext>
            </a:extLst>
          </p:cNvPr>
          <p:cNvSpPr txBox="1"/>
          <p:nvPr/>
        </p:nvSpPr>
        <p:spPr>
          <a:xfrm>
            <a:off x="107504" y="836713"/>
            <a:ext cx="9001000" cy="3391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/>
                <a:cs typeface="+mn-cs"/>
              </a:rPr>
              <a:t>例题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华文中宋"/>
              <a:cs typeface="+mn-cs"/>
            </a:endParaRPr>
          </a:p>
          <a:p>
            <a:pPr marL="800100" lvl="1" indent="-342900">
              <a:spcBef>
                <a:spcPct val="20000"/>
              </a:spcBef>
              <a:buBlip>
                <a:blip r:embed="rId2"/>
              </a:buBlip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利用 </a:t>
            </a: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scipy.stats.tsa.seasonal_decompose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()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函数完成时间序列数据的季节性调整。这个函数同时支持加法模型</a:t>
            </a: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seasonal_decompose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(series, model='additive')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，和乘法模型</a:t>
            </a: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seasonal_decompose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(series, model='multiplicative‘)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。此处采用的是默认的加法模型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itchFamily="2" charset="-122"/>
            </a:endParaRPr>
          </a:p>
          <a:p>
            <a:pPr marL="800100" lvl="1" indent="-342900">
              <a:spcBef>
                <a:spcPct val="20000"/>
              </a:spcBef>
              <a:buBlip>
                <a:blip r:embed="rId2"/>
              </a:buBlip>
              <a:defRPr/>
            </a:pPr>
            <a:r>
              <a:rPr lang="zh-CN" altLang="en-US" i="0" kern="0" dirty="0">
                <a:solidFill>
                  <a:srgbClr val="000000"/>
                </a:solidFill>
                <a:latin typeface="Times New Roman"/>
              </a:rPr>
              <a:t>结果图中从上至下依次为：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(a)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为原始数据，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(b)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为趋势成分，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 (c)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为季节成分，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 (d)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为噪音成分。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9427260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EDEE0-F1EB-CFFF-4EA7-FE0AFBC1B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6F04FB-124B-3500-F5B9-066F535FE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DAC1002-FC1F-859F-0FB0-CFDE5B563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98321"/>
            <a:ext cx="4367642" cy="34148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BF4F243-00DA-4F93-224E-D5D117CEC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530" y="1598321"/>
            <a:ext cx="4332751" cy="338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30121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ED3FF-C972-0067-88A8-6F57F53D9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49877F-D90E-7C9A-10B8-B334504BA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成因的分解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9DBA26D-D7C6-6487-AC99-2991A92BC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848" y="870167"/>
            <a:ext cx="7308304" cy="529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111296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3B0AB-A94C-56CE-A885-F79A35B34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移动窗口方法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D8BD46-1999-92CE-92CD-75097E32C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移动窗口基本概念</a:t>
            </a:r>
            <a:endParaRPr lang="en-US" altLang="zh-CN" dirty="0"/>
          </a:p>
          <a:p>
            <a:pPr lvl="2"/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移动窗口是在时间序列上滑动的固定大小的窗口，用于计算各种统计量。例如，计算过去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7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天的平均值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lang="en-US" altLang="zh-CN" dirty="0"/>
          </a:p>
          <a:p>
            <a:r>
              <a:rPr lang="zh-CN" altLang="en-US" dirty="0"/>
              <a:t>移动窗口的作用</a:t>
            </a:r>
            <a:endParaRPr lang="en-US" altLang="zh-CN" dirty="0"/>
          </a:p>
          <a:p>
            <a:pPr lvl="2"/>
            <a:r>
              <a:rPr lang="zh-CN" altLang="en-US" dirty="0"/>
              <a:t>通过移动窗口可以平滑时间序列，消除短期波动。有助于突出长期趋势和周期性变化。</a:t>
            </a:r>
            <a:endParaRPr lang="en-US" altLang="zh-CN" dirty="0"/>
          </a:p>
          <a:p>
            <a:r>
              <a:rPr lang="zh-CN" altLang="en-US" dirty="0"/>
              <a:t>移动窗口的类型</a:t>
            </a:r>
            <a:endParaRPr lang="en-US" altLang="zh-CN" dirty="0"/>
          </a:p>
          <a:p>
            <a:pPr lvl="2"/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简单移动平均（SMA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）：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计算窗口内数据的平均值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
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指数加权移动平均（EWMA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）：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对不同时间点的数据赋予不同的权重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kumimoji="1"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137187830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D0C8E-108C-BB12-AF4D-D46D5BC6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4CB5E5-E1B2-F3FA-D7BA-66705BC28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移动窗口方法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2C98F3-8B69-7E21-199A-293CFB048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移动窗口基本概念</a:t>
            </a:r>
            <a:endParaRPr lang="en-US" altLang="zh-CN" dirty="0"/>
          </a:p>
          <a:p>
            <a:pPr lvl="2"/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移动窗口是在时间序列上滑动的固定大小的窗口，用于计算各种统计量。例如，计算过去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7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天的平均值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B05AD7B-543A-C239-2E36-ADF3EFE66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348880"/>
            <a:ext cx="7380312" cy="309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842978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8FBC6-8D44-55FB-77EB-C9E6BA236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D9E192-89AE-1328-116A-DEC3C0CC1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移动窗口方法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E8F6A9-57CB-70BB-17D6-3D4684578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移动窗口基本概念</a:t>
            </a:r>
            <a:endParaRPr lang="en-US" altLang="zh-CN" dirty="0"/>
          </a:p>
          <a:p>
            <a:pPr lvl="2"/>
            <a:r>
              <a:rPr lang="zh-CN" altLang="en-US" dirty="0"/>
              <a:t>移动窗口按照一定规律沿着历史数据移动，每一个位置都产生一个统计量，比如最大值、最小值、平均值、加权平均值、标准差等等。随着移动窗口不断移动，该统计量不断产生；因此，通过移动窗口得到的数据是序列数据，也就是时间序列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183BED2-471D-9CEE-EAB7-345EC7187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008" y="3356992"/>
            <a:ext cx="4427984" cy="252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130174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F60DF0-2D6E-97FC-1B17-FD7E2354B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简单移动平均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98E2FF-94A1-A389-DB6C-0EE1A4475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概念</a:t>
            </a:r>
            <a:endParaRPr lang="en-US" altLang="zh-CN" dirty="0"/>
          </a:p>
          <a:p>
            <a:pPr lvl="2"/>
            <a:r>
              <a:rPr kumimoji="1" lang="en-US" altLang="zh-CN" sz="2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SMA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是计算窗口内数据的平均值，公式为</a:t>
            </a:r>
            <a:r>
              <a:rPr kumimoji="1" lang="en-US" altLang="zh-CN" sz="2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：
</a:t>
            </a:r>
          </a:p>
          <a:p>
            <a:pPr lvl="2"/>
            <a:endParaRPr kumimoji="1" lang="en-US" altLang="zh-CN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/>
              <a:ea typeface="Source Han Sans"/>
              <a:cs typeface="Source Han Sans"/>
            </a:endParaRPr>
          </a:p>
          <a:p>
            <a:pPr lvl="2"/>
            <a:endParaRPr kumimoji="1" lang="en-US" altLang="zh-CN" sz="2400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/>
              <a:ea typeface="Source Han Sans"/>
              <a:cs typeface="Source Han Sans"/>
            </a:endParaRPr>
          </a:p>
          <a:p>
            <a:pPr lvl="2"/>
            <a:endParaRPr kumimoji="1" lang="en-US" altLang="zh-CN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/>
              <a:ea typeface="Source Han Sans"/>
              <a:cs typeface="Source Han Sans"/>
            </a:endParaRPr>
          </a:p>
          <a:p>
            <a:pPr lvl="2"/>
            <a:endParaRPr kumimoji="1" lang="en-US" altLang="zh-CN" sz="2400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/>
              <a:ea typeface="Source Han Sans"/>
              <a:cs typeface="Source Han Sans"/>
            </a:endParaRPr>
          </a:p>
          <a:p>
            <a:pPr lvl="2"/>
            <a:r>
              <a:rPr kumimoji="1" lang="en-US" altLang="zh-CN" sz="2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
SMA </a:t>
            </a:r>
            <a:r>
              <a:rPr kumimoji="1" lang="zh-CN" altLang="en-US" sz="2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可以有效平滑时间序列，消除短期波动。但对新数据的响应较慢，滞后性较强。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0E8495E-92C0-B524-323A-D38047774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916832"/>
            <a:ext cx="4935478" cy="203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59186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7950B-B746-4E60-42EA-C2E74B65D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60545-2CEF-ABE2-F9F0-8D16EB00B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简单移动平均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57AD2F-4317-381B-A601-94EDB32AD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概念</a:t>
            </a:r>
            <a:endParaRPr lang="en-US" altLang="zh-CN" dirty="0"/>
          </a:p>
          <a:p>
            <a:pPr lvl="2"/>
            <a:r>
              <a:rPr lang="zh-CN" altLang="en-US" sz="1600" dirty="0">
                <a:solidFill>
                  <a:schemeClr val="tx1"/>
                </a:solidFill>
                <a:ea typeface="宋体" pitchFamily="2" charset="-122"/>
              </a:rPr>
              <a:t>随着移动窗口移动到每一个位置，便利用回望窗口内的数据产生一个平均值。当移动窗口最左端和历史数据的最左端对齐时，产生第一个数据</a:t>
            </a:r>
            <a:endParaRPr lang="en-US" altLang="zh-CN" sz="1600" dirty="0">
              <a:solidFill>
                <a:schemeClr val="tx1"/>
              </a:solidFill>
              <a:ea typeface="宋体" pitchFamily="2" charset="-122"/>
            </a:endParaRPr>
          </a:p>
          <a:p>
            <a:pPr lvl="2"/>
            <a:r>
              <a:rPr lang="zh-CN" altLang="en-US" sz="1600" dirty="0">
                <a:solidFill>
                  <a:schemeClr val="tx1"/>
                </a:solidFill>
                <a:ea typeface="宋体" pitchFamily="2" charset="-122"/>
              </a:rPr>
              <a:t>对于数据帧数据 </a:t>
            </a:r>
            <a:r>
              <a:rPr lang="en-US" altLang="zh-CN" sz="1600" dirty="0" err="1">
                <a:solidFill>
                  <a:schemeClr val="tx1"/>
                </a:solidFill>
                <a:ea typeface="宋体" pitchFamily="2" charset="-122"/>
              </a:rPr>
              <a:t>df</a:t>
            </a:r>
            <a:r>
              <a:rPr lang="zh-CN" altLang="en-US" sz="1600" dirty="0">
                <a:solidFill>
                  <a:schemeClr val="tx1"/>
                </a:solidFill>
                <a:ea typeface="宋体" pitchFamily="2" charset="-122"/>
              </a:rPr>
              <a:t>，移动平均可以用 </a:t>
            </a:r>
            <a:r>
              <a:rPr lang="en-US" altLang="zh-CN" sz="1600" dirty="0" err="1">
                <a:solidFill>
                  <a:schemeClr val="tx1"/>
                </a:solidFill>
                <a:ea typeface="宋体" pitchFamily="2" charset="-122"/>
              </a:rPr>
              <a:t>df.rolling</a:t>
            </a:r>
            <a:r>
              <a:rPr lang="en-US" altLang="zh-CN" sz="1600" dirty="0">
                <a:solidFill>
                  <a:schemeClr val="tx1"/>
                </a:solidFill>
                <a:ea typeface="宋体" pitchFamily="2" charset="-122"/>
              </a:rPr>
              <a:t>().mean() </a:t>
            </a:r>
            <a:r>
              <a:rPr lang="zh-CN" altLang="en-US" sz="1600" dirty="0">
                <a:solidFill>
                  <a:schemeClr val="tx1"/>
                </a:solidFill>
                <a:ea typeface="宋体" pitchFamily="2" charset="-122"/>
              </a:rPr>
              <a:t>计算得到。（如图是取不同回望窗口长度时的移动平均曲线）</a:t>
            </a:r>
            <a:endParaRPr lang="en-US" altLang="zh-CN" sz="1600" dirty="0">
              <a:solidFill>
                <a:schemeClr val="tx1"/>
              </a:solidFill>
              <a:ea typeface="宋体" pitchFamily="2" charset="-122"/>
            </a:endParaRPr>
          </a:p>
          <a:p>
            <a:pPr lvl="2"/>
            <a:r>
              <a:rPr lang="zh-CN" altLang="en-US" sz="1600" dirty="0"/>
              <a:t>移动平均有助于消除短期波动带来的数据噪音，突出长期趋势。移动平均相当于一个滤波器；回望窗口长度影响着统计量数据平滑度，回望窗口越长，平滑度越高</a:t>
            </a:r>
            <a:endParaRPr lang="en-US" altLang="zh-CN" sz="1600" dirty="0">
              <a:solidFill>
                <a:schemeClr val="tx1"/>
              </a:solidFill>
              <a:ea typeface="宋体" pitchFamily="2" charset="-122"/>
            </a:endParaRPr>
          </a:p>
          <a:p>
            <a:pPr marL="0" indent="0">
              <a:buNone/>
            </a:pPr>
            <a:endParaRPr kumimoji="1" lang="en-US" altLang="zh-CN" sz="2400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/>
              <a:ea typeface="Source Han Sans"/>
              <a:cs typeface="Source Han Sans"/>
            </a:endParaRPr>
          </a:p>
          <a:p>
            <a:pPr lvl="2"/>
            <a:endParaRPr kumimoji="1" lang="en-US" altLang="zh-CN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/>
              <a:ea typeface="Source Han Sans"/>
              <a:cs typeface="Source Han Sans"/>
            </a:endParaRPr>
          </a:p>
          <a:p>
            <a:pPr lvl="2"/>
            <a:endParaRPr kumimoji="1" lang="zh-CN" altLang="en-US" sz="2400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6C8C02-2B42-8622-5C75-7CD9D7915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91" y="3921037"/>
            <a:ext cx="5012325" cy="202824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A4BBD77-A01F-A598-3D54-9FC3929D6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816" y="3412945"/>
            <a:ext cx="3851920" cy="275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935127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7B671-5D49-BD2E-9160-852EE3D08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25346D-6FE0-3683-BE1B-1416ABE46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最大、最小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5386C5-618E-A568-1979-E6E259B29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概念</a:t>
            </a:r>
            <a:endParaRPr lang="en-US" altLang="zh-CN" dirty="0"/>
          </a:p>
          <a:p>
            <a:pPr lvl="2"/>
            <a:r>
              <a:rPr lang="zh-CN" altLang="en-US" sz="1600" dirty="0">
                <a:solidFill>
                  <a:schemeClr val="tx1"/>
                </a:solidFill>
                <a:ea typeface="宋体" pitchFamily="2" charset="-122"/>
              </a:rPr>
              <a:t>随着移动窗口移动到每一个位置，便利用回望窗口内的数据产生一个最大值和最小值。当移动窗口最左端和历史数据的最左端对齐时，产生第一个数据</a:t>
            </a:r>
            <a:endParaRPr lang="en-US" altLang="zh-CN" sz="1600" dirty="0">
              <a:solidFill>
                <a:schemeClr val="tx1"/>
              </a:solidFill>
              <a:ea typeface="宋体" pitchFamily="2" charset="-122"/>
            </a:endParaRPr>
          </a:p>
          <a:p>
            <a:pPr lvl="2"/>
            <a:r>
              <a:rPr lang="zh-CN" altLang="en-US" sz="1600" dirty="0">
                <a:solidFill>
                  <a:schemeClr val="tx1"/>
                </a:solidFill>
                <a:ea typeface="宋体" pitchFamily="2" charset="-122"/>
              </a:rPr>
              <a:t>对于某个数据帧数据 </a:t>
            </a:r>
            <a:r>
              <a:rPr lang="en-US" altLang="zh-CN" sz="1600" dirty="0" err="1">
                <a:solidFill>
                  <a:schemeClr val="tx1"/>
                </a:solidFill>
                <a:ea typeface="宋体" pitchFamily="2" charset="-122"/>
              </a:rPr>
              <a:t>df</a:t>
            </a:r>
            <a:r>
              <a:rPr lang="zh-CN" altLang="en-US" sz="1600" dirty="0">
                <a:solidFill>
                  <a:schemeClr val="tx1"/>
                </a:solidFill>
                <a:ea typeface="宋体" pitchFamily="2" charset="-122"/>
              </a:rPr>
              <a:t>，移动最大值和最小值时间序列可以利用 </a:t>
            </a:r>
            <a:r>
              <a:rPr lang="en-US" altLang="zh-CN" sz="1600" dirty="0" err="1">
                <a:solidFill>
                  <a:schemeClr val="tx1"/>
                </a:solidFill>
                <a:ea typeface="宋体" pitchFamily="2" charset="-122"/>
              </a:rPr>
              <a:t>df.rolling</a:t>
            </a:r>
            <a:r>
              <a:rPr lang="en-US" altLang="zh-CN" sz="1600" dirty="0">
                <a:solidFill>
                  <a:schemeClr val="tx1"/>
                </a:solidFill>
                <a:ea typeface="宋体" pitchFamily="2" charset="-122"/>
              </a:rPr>
              <a:t>().max() </a:t>
            </a:r>
            <a:r>
              <a:rPr lang="zh-CN" altLang="en-US" sz="1600" dirty="0">
                <a:solidFill>
                  <a:schemeClr val="tx1"/>
                </a:solidFill>
                <a:ea typeface="宋体" pitchFamily="2" charset="-122"/>
              </a:rPr>
              <a:t>和 </a:t>
            </a:r>
            <a:r>
              <a:rPr lang="en-US" altLang="zh-CN" sz="1600" dirty="0" err="1">
                <a:solidFill>
                  <a:schemeClr val="tx1"/>
                </a:solidFill>
                <a:ea typeface="宋体" pitchFamily="2" charset="-122"/>
              </a:rPr>
              <a:t>df.rolling</a:t>
            </a:r>
            <a:r>
              <a:rPr lang="en-US" altLang="zh-CN" sz="1600" dirty="0">
                <a:solidFill>
                  <a:schemeClr val="tx1"/>
                </a:solidFill>
                <a:ea typeface="宋体" pitchFamily="2" charset="-122"/>
              </a:rPr>
              <a:t>().min()</a:t>
            </a:r>
            <a:r>
              <a:rPr lang="zh-CN" altLang="en-US" sz="1600" dirty="0">
                <a:solidFill>
                  <a:schemeClr val="tx1"/>
                </a:solidFill>
                <a:ea typeface="宋体" pitchFamily="2" charset="-122"/>
              </a:rPr>
              <a:t>两个函数计算得到。（如图是回望窗口长度</a:t>
            </a:r>
            <a:r>
              <a:rPr lang="en-US" altLang="zh-CN" sz="1600" dirty="0">
                <a:solidFill>
                  <a:schemeClr val="tx1"/>
                </a:solidFill>
                <a:ea typeface="宋体" pitchFamily="2" charset="-122"/>
              </a:rPr>
              <a:t>100</a:t>
            </a:r>
            <a:r>
              <a:rPr lang="zh-CN" altLang="en-US" sz="1600" dirty="0">
                <a:solidFill>
                  <a:schemeClr val="tx1"/>
                </a:solidFill>
                <a:ea typeface="宋体" pitchFamily="2" charset="-122"/>
              </a:rPr>
              <a:t>时的移动最大值和最小值曲线）</a:t>
            </a:r>
            <a:endParaRPr lang="en-US" altLang="zh-CN" sz="1600" dirty="0">
              <a:solidFill>
                <a:schemeClr val="tx1"/>
              </a:solidFill>
              <a:ea typeface="宋体" pitchFamily="2" charset="-122"/>
            </a:endParaRPr>
          </a:p>
          <a:p>
            <a:r>
              <a:rPr kumimoji="1" lang="en-US" altLang="zh-CN" sz="2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
</a:t>
            </a:r>
          </a:p>
          <a:p>
            <a:pPr lvl="2"/>
            <a:endParaRPr kumimoji="1" lang="en-US" altLang="zh-CN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/>
              <a:ea typeface="Source Han Sans"/>
              <a:cs typeface="Source Han Sans"/>
            </a:endParaRPr>
          </a:p>
          <a:p>
            <a:pPr lvl="2"/>
            <a:endParaRPr kumimoji="1" lang="zh-CN" altLang="en-US" sz="2400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C367271-57DF-8F63-EE84-3CBD94AE8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2636912"/>
            <a:ext cx="4355976" cy="318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952085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A34A4C-7114-C8FA-9C5F-1E07CF25E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移动窗口统计量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B9656E-6CAB-1837-C24B-3A24CE542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2325"/>
            <a:ext cx="9252520" cy="5448300"/>
          </a:xfrm>
        </p:spPr>
        <p:txBody>
          <a:bodyPr/>
          <a:lstStyle/>
          <a:p>
            <a:r>
              <a:rPr lang="zh-CN" altLang="en-US" dirty="0"/>
              <a:t>移动标准差（波动率）</a:t>
            </a:r>
          </a:p>
          <a:p>
            <a:pPr lvl="2"/>
            <a:r>
              <a:rPr lang="zh-CN" altLang="en-US" dirty="0"/>
              <a:t>移动标准差用于衡量数据的波动性，公式为如下：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r>
              <a:rPr lang="zh-CN" altLang="en-US" dirty="0"/>
              <a:t>当 </a:t>
            </a:r>
            <a:r>
              <a:rPr lang="en-US" altLang="zh-CN" dirty="0"/>
              <a:t>L </a:t>
            </a:r>
            <a:r>
              <a:rPr lang="zh-CN" altLang="en-US" dirty="0"/>
              <a:t>足够大，且 </a:t>
            </a:r>
            <a:r>
              <a:rPr lang="en-US" altLang="zh-CN" dirty="0"/>
              <a:t>µ </a:t>
            </a:r>
            <a:r>
              <a:rPr lang="zh-CN" altLang="en-US" dirty="0"/>
              <a:t>几乎为 </a:t>
            </a:r>
            <a:r>
              <a:rPr lang="en-US" altLang="zh-CN" dirty="0"/>
              <a:t>0 </a:t>
            </a:r>
            <a:r>
              <a:rPr lang="zh-CN" altLang="en-US" dirty="0"/>
              <a:t>时，可以简化为</a:t>
            </a:r>
            <a:endParaRPr lang="en-US" altLang="zh-CN" dirty="0"/>
          </a:p>
          <a:p>
            <a:r>
              <a:rPr lang="zh-CN" altLang="en-US" dirty="0"/>
              <a:t>移动百分位值</a:t>
            </a:r>
            <a:endParaRPr lang="en-US" altLang="zh-CN" dirty="0"/>
          </a:p>
          <a:p>
            <a:pPr lvl="2"/>
            <a:r>
              <a:rPr lang="zh-CN" altLang="en-US" dirty="0"/>
              <a:t>移动百分位值用于表示时序数据的不确定性。在数据帧数据 </a:t>
            </a:r>
            <a:r>
              <a:rPr lang="en-US" altLang="zh-CN" dirty="0" err="1"/>
              <a:t>df</a:t>
            </a:r>
            <a:r>
              <a:rPr lang="zh-CN" altLang="en-US" dirty="0"/>
              <a:t>上，使用</a:t>
            </a:r>
            <a:r>
              <a:rPr lang="en-US" altLang="zh-CN" dirty="0" err="1"/>
              <a:t>df.rolling</a:t>
            </a:r>
            <a:r>
              <a:rPr lang="en-US" altLang="zh-CN" dirty="0"/>
              <a:t>().quantile() </a:t>
            </a:r>
            <a:r>
              <a:rPr lang="zh-CN" altLang="en-US" dirty="0"/>
              <a:t>计算移动百分位值。</a:t>
            </a:r>
            <a:endParaRPr lang="en-US" altLang="zh-CN" dirty="0"/>
          </a:p>
          <a:p>
            <a:r>
              <a:rPr lang="zh-CN" altLang="en-US" dirty="0"/>
              <a:t>移动偏态和峰态</a:t>
            </a:r>
            <a:endParaRPr lang="en-US" altLang="zh-CN" dirty="0"/>
          </a:p>
          <a:p>
            <a:pPr lvl="2"/>
            <a:r>
              <a:rPr lang="zh-CN" altLang="en-US" dirty="0"/>
              <a:t>移动偏度和峰度用于分析数据分布形态。对于数据帧数据 </a:t>
            </a:r>
            <a:r>
              <a:rPr lang="en-US" altLang="zh-CN" dirty="0" err="1"/>
              <a:t>df</a:t>
            </a:r>
            <a:r>
              <a:rPr lang="zh-CN" altLang="en-US" dirty="0"/>
              <a:t>，</a:t>
            </a:r>
            <a:r>
              <a:rPr lang="en-US" altLang="zh-CN" dirty="0" err="1"/>
              <a:t>df.rolling</a:t>
            </a:r>
            <a:r>
              <a:rPr lang="en-US" altLang="zh-CN" dirty="0"/>
              <a:t>().std()</a:t>
            </a:r>
            <a:r>
              <a:rPr lang="zh-CN" altLang="en-US" dirty="0"/>
              <a:t>、</a:t>
            </a:r>
            <a:r>
              <a:rPr lang="en-US" altLang="zh-CN" dirty="0" err="1"/>
              <a:t>df.rolling</a:t>
            </a:r>
            <a:r>
              <a:rPr lang="en-US" altLang="zh-CN" dirty="0"/>
              <a:t>().skew() </a:t>
            </a:r>
            <a:r>
              <a:rPr lang="zh-CN" altLang="en-US" dirty="0"/>
              <a:t>和 </a:t>
            </a:r>
            <a:r>
              <a:rPr lang="en-US" altLang="zh-CN" dirty="0" err="1"/>
              <a:t>df.rolling</a:t>
            </a:r>
            <a:r>
              <a:rPr lang="en-US" altLang="zh-CN" dirty="0"/>
              <a:t>().</a:t>
            </a:r>
            <a:r>
              <a:rPr lang="en-US" altLang="zh-CN" dirty="0" err="1"/>
              <a:t>kurt</a:t>
            </a:r>
            <a:r>
              <a:rPr lang="en-US" altLang="zh-CN" dirty="0"/>
              <a:t>() </a:t>
            </a:r>
            <a:r>
              <a:rPr lang="zh-CN" altLang="en-US" dirty="0"/>
              <a:t>可以分别计算移动标准差、偏度和峰度。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36ADDBC-C9C8-3DBA-F515-DFB0C7EE7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1772816"/>
            <a:ext cx="3456384" cy="70422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7218E47-352F-B20E-5649-0E618F238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542" y="2564904"/>
            <a:ext cx="1547083" cy="704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945570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75D2A-8416-F1FE-06C4-19675F75C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4375B7-BF78-8A8A-1758-CE52AED97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移动窗口统计量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2DC5DD-B222-5164-6A6D-996A8A8F1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移动波动率</a:t>
            </a:r>
            <a:endParaRPr lang="en-US" altLang="zh-CN" dirty="0"/>
          </a:p>
          <a:p>
            <a:pPr lvl="2"/>
            <a:r>
              <a:rPr lang="zh-CN" altLang="en-US" dirty="0"/>
              <a:t>回望窗口长度越长，窗口内相对更具影响力的“陈旧”数据越尾大不掉，代谢的周期越长。</a:t>
            </a:r>
            <a:endParaRPr lang="en-US" altLang="zh-CN" dirty="0"/>
          </a:p>
          <a:p>
            <a:pPr lvl="2"/>
            <a:endParaRPr kumimoji="1" lang="en-US" altLang="zh-CN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/>
              <a:ea typeface="Source Han Sans"/>
              <a:cs typeface="Source Han Sans"/>
            </a:endParaRPr>
          </a:p>
          <a:p>
            <a:pPr lvl="2"/>
            <a:endParaRPr kumimoji="1" lang="zh-CN" altLang="en-US" sz="2400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D677C1-2E24-23D9-9B9A-D35EAFD0B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204864"/>
            <a:ext cx="4847471" cy="364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281668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6C780-FFF3-4483-973B-19EA3C98D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D65CE-67DE-D25D-6352-C0D40B0ED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移动窗口统计量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0C89D0-CAAF-4506-DD2A-8A51E81CA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2325"/>
            <a:ext cx="9108504" cy="5448300"/>
          </a:xfrm>
        </p:spPr>
        <p:txBody>
          <a:bodyPr/>
          <a:lstStyle/>
          <a:p>
            <a:r>
              <a:rPr lang="zh-CN" altLang="en-US" dirty="0"/>
              <a:t>移动波动率</a:t>
            </a:r>
            <a:endParaRPr lang="en-US" altLang="zh-CN" dirty="0"/>
          </a:p>
          <a:p>
            <a:pPr lvl="2"/>
            <a:r>
              <a:rPr lang="zh-CN" altLang="en-US" dirty="0"/>
              <a:t>此外，</a:t>
            </a:r>
            <a:r>
              <a:rPr lang="en-US" altLang="zh-CN" dirty="0"/>
              <a:t>±2σ </a:t>
            </a:r>
            <a:r>
              <a:rPr lang="zh-CN" altLang="en-US" dirty="0"/>
              <a:t>波动率带常用来检测时间数据中可能存在的异常值。</a:t>
            </a:r>
            <a:r>
              <a:rPr lang="en-US" altLang="zh-CN" dirty="0"/>
              <a:t>+2σ </a:t>
            </a:r>
            <a:r>
              <a:rPr lang="zh-CN" altLang="en-US" dirty="0"/>
              <a:t>曲线被称之为</a:t>
            </a:r>
            <a:r>
              <a:rPr lang="en-US" altLang="zh-CN" dirty="0"/>
              <a:t>+2σ </a:t>
            </a:r>
            <a:r>
              <a:rPr lang="zh-CN" altLang="en-US" dirty="0"/>
              <a:t>上轨，−</a:t>
            </a:r>
            <a:r>
              <a:rPr lang="en-US" altLang="zh-CN" dirty="0"/>
              <a:t>2σ </a:t>
            </a:r>
            <a:r>
              <a:rPr lang="zh-CN" altLang="en-US" dirty="0"/>
              <a:t>曲线常被称之为−</a:t>
            </a:r>
            <a:r>
              <a:rPr lang="en-US" altLang="zh-CN" dirty="0"/>
              <a:t>2σ </a:t>
            </a:r>
            <a:r>
              <a:rPr lang="zh-CN" altLang="en-US" dirty="0"/>
              <a:t>下轨。如图</a:t>
            </a:r>
            <a:r>
              <a:rPr lang="en-US" altLang="zh-CN" dirty="0"/>
              <a:t> </a:t>
            </a:r>
            <a:r>
              <a:rPr lang="zh-CN" altLang="en-US" dirty="0"/>
              <a:t>分别展示窗口长度为 </a:t>
            </a:r>
            <a:r>
              <a:rPr lang="en-US" altLang="zh-CN" dirty="0"/>
              <a:t>50 </a:t>
            </a:r>
            <a:r>
              <a:rPr lang="zh-CN" altLang="en-US" dirty="0"/>
              <a:t>、</a:t>
            </a:r>
            <a:r>
              <a:rPr lang="en-US" altLang="zh-CN" dirty="0"/>
              <a:t>100 </a:t>
            </a:r>
            <a:r>
              <a:rPr lang="zh-CN" altLang="en-US" dirty="0"/>
              <a:t>和 </a:t>
            </a:r>
            <a:r>
              <a:rPr lang="en-US" altLang="zh-CN" dirty="0"/>
              <a:t>250 </a:t>
            </a:r>
            <a:r>
              <a:rPr lang="zh-CN" altLang="en-US" dirty="0"/>
              <a:t>天的</a:t>
            </a:r>
            <a:r>
              <a:rPr lang="en-US" altLang="zh-CN" dirty="0"/>
              <a:t>±2σ </a:t>
            </a:r>
            <a:r>
              <a:rPr lang="zh-CN" altLang="en-US" dirty="0"/>
              <a:t>移动平均 </a:t>
            </a:r>
            <a:r>
              <a:rPr lang="en-US" altLang="zh-CN" dirty="0"/>
              <a:t>MA </a:t>
            </a:r>
            <a:r>
              <a:rPr lang="zh-CN" altLang="en-US" dirty="0"/>
              <a:t>波动率带宽。</a:t>
            </a:r>
            <a:endParaRPr lang="en-US" altLang="zh-CN" dirty="0"/>
          </a:p>
          <a:p>
            <a:pPr lvl="2"/>
            <a:endParaRPr kumimoji="1" lang="en-US" altLang="zh-CN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/>
              <a:ea typeface="Source Han Sans"/>
              <a:cs typeface="Source Han Sans"/>
            </a:endParaRPr>
          </a:p>
          <a:p>
            <a:pPr lvl="2"/>
            <a:endParaRPr kumimoji="1" lang="zh-CN" altLang="en-US" sz="2400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0C9FC98-732A-7959-FFE5-BB21B295A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8960"/>
            <a:ext cx="2978216" cy="217661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360E43B-D38D-A402-A1B2-FCD220ABF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216" y="3174545"/>
            <a:ext cx="2978216" cy="20905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F73759F-3E6A-59CC-7384-48784ECEAE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069" y="3179166"/>
            <a:ext cx="3000579" cy="209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171739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42018-4E5A-42C9-06FE-0705572BF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B37646-4101-B0E4-C00E-48CBA5226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指数加权移动平均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D07A31-FCF6-CE0A-4E96-D3684E701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概念</a:t>
            </a:r>
            <a:endParaRPr lang="en-US" altLang="zh-CN" dirty="0"/>
          </a:p>
          <a:p>
            <a:pPr lvl="2"/>
            <a:r>
              <a:rPr kumimoji="1" lang="en-US" altLang="zh-CN" sz="2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EWMA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对不同时间点的数据赋予不同的权重，较近期的数据点被赋予更高的权重</a:t>
            </a:r>
            <a:r>
              <a:rPr kumimoji="1" lang="en-US" altLang="zh-CN" sz="2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公式为</a:t>
            </a:r>
            <a:r>
              <a:rPr kumimoji="1" lang="en-US" altLang="zh-CN" sz="2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：</a:t>
            </a:r>
          </a:p>
          <a:p>
            <a:pPr lvl="2"/>
            <a:endParaRPr kumimoji="1" lang="en-US" altLang="zh-CN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/>
              <a:ea typeface="Source Han Sans"/>
              <a:cs typeface="Source Han Sans"/>
            </a:endParaRPr>
          </a:p>
          <a:p>
            <a:pPr lvl="2"/>
            <a:endParaRPr kumimoji="1" lang="en-US" altLang="zh-CN" sz="2400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/>
              <a:ea typeface="Source Han Sans"/>
              <a:cs typeface="Source Han Sans"/>
            </a:endParaRPr>
          </a:p>
          <a:p>
            <a:pPr lvl="2"/>
            <a:r>
              <a:rPr kumimoji="1" lang="zh-CN" altLang="en-US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其中</a:t>
            </a:r>
            <a:r>
              <a:rPr kumimoji="1" lang="en-US" altLang="zh-CN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λ</a:t>
            </a:r>
            <a:r>
              <a:rPr kumimoji="1" lang="zh-CN" altLang="en-US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称为衰减系数，</a:t>
            </a:r>
            <a:r>
              <a:rPr kumimoji="1" lang="en-US" altLang="zh-CN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EWMA </a:t>
            </a:r>
            <a:r>
              <a:rPr kumimoji="1" lang="zh-CN" altLang="en-US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中半衰期 </a:t>
            </a:r>
            <a:r>
              <a:rPr kumimoji="1" lang="en-US" altLang="zh-CN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(half life, HL) </a:t>
            </a:r>
            <a:r>
              <a:rPr kumimoji="1" lang="zh-CN" altLang="en-US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指的是权重衰减一半的时间，调整衰减系数可以控制</a:t>
            </a:r>
            <a:r>
              <a:rPr kumimoji="1" lang="en-US" altLang="zh-CN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EWMA</a:t>
            </a:r>
            <a:r>
              <a:rPr kumimoji="1" lang="zh-CN" altLang="en-US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的平滑程度和对新数据的响应速度。具体定义如下：</a:t>
            </a:r>
            <a:endParaRPr kumimoji="1" lang="en-US" altLang="zh-CN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/>
              <a:ea typeface="Source Han Sans"/>
              <a:cs typeface="Source Han Sans"/>
            </a:endParaRPr>
          </a:p>
          <a:p>
            <a:pPr lvl="2"/>
            <a:r>
              <a:rPr kumimoji="1" lang="en-US" altLang="zh-CN" sz="2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
EWMA </a:t>
            </a:r>
            <a:r>
              <a:rPr kumimoji="1" lang="zh-CN" altLang="en-US" sz="2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对新数据的响应更快，能够更快地跟踪数据变化。适用于需要快速响应的场景，如在金融市场中用于计算股票价格的短期波动。在工业生产中，用于实时监控生产过程的质量指标。</a:t>
            </a:r>
          </a:p>
          <a:p>
            <a:pPr lvl="2"/>
            <a:endParaRPr kumimoji="1" lang="zh-CN" altLang="en-US" sz="2400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/>
              <a:ea typeface="Source Han Sans"/>
              <a:cs typeface="Source Han Sans"/>
            </a:endParaRPr>
          </a:p>
          <a:p>
            <a:pPr lvl="2"/>
            <a:endParaRPr kumimoji="1" lang="zh-CN" altLang="en-US" sz="4400" dirty="0"/>
          </a:p>
          <a:p>
            <a:pPr lvl="2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7ADD7E9-0D2B-982F-F651-9B6FE44FD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276872"/>
            <a:ext cx="6756415" cy="67244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A4E2416-A9E9-4496-A2DF-7E82408AF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856" y="4149080"/>
            <a:ext cx="2694549" cy="61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726819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BDD69-A8F3-6609-597C-056AFC234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01F16C-0043-8DA3-068D-4F15D1AD9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指数加权移动平均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790BBE-2B38-7228-5EEF-E0FD4874A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EWMA</a:t>
            </a:r>
          </a:p>
          <a:p>
            <a:pPr lvl="2"/>
            <a:r>
              <a:rPr lang="zh-CN" altLang="en-US" dirty="0"/>
              <a:t>回望窗口长度越长，窗口内相对更具影响力的“陈旧”数据越尾大不掉，代谢的周期越长。</a:t>
            </a:r>
            <a:endParaRPr lang="en-US" altLang="zh-CN" dirty="0"/>
          </a:p>
          <a:p>
            <a:pPr lvl="2"/>
            <a:endParaRPr kumimoji="1" lang="en-US" altLang="zh-CN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/>
              <a:ea typeface="Source Han Sans"/>
              <a:cs typeface="Source Han Sans"/>
            </a:endParaRPr>
          </a:p>
          <a:p>
            <a:pPr lvl="2"/>
            <a:endParaRPr kumimoji="1" lang="zh-CN" altLang="en-US" sz="2400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59C8D19-E457-A9DE-CA29-80F68736E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2" y="2276870"/>
            <a:ext cx="5337766" cy="254803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D964674-C2C0-D6B8-9F52-FACC0B287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857" y="2409916"/>
            <a:ext cx="3516147" cy="239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951494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A47D1-8CD5-85DB-AD37-3F373C58A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02A364-196E-72D8-0DDB-3DAE3E6E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指数加权移动平均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542A4D-5266-7F0D-5BF8-B68F5D6DA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EWMA</a:t>
            </a:r>
          </a:p>
          <a:p>
            <a:pPr lvl="2"/>
            <a:r>
              <a:rPr lang="zh-CN" altLang="en-US" dirty="0"/>
              <a:t>给定数据帧数据 </a:t>
            </a:r>
            <a:r>
              <a:rPr lang="en-US" altLang="zh-CN" dirty="0" err="1"/>
              <a:t>df</a:t>
            </a:r>
            <a:r>
              <a:rPr lang="zh-CN" altLang="en-US" dirty="0"/>
              <a:t>，</a:t>
            </a:r>
            <a:r>
              <a:rPr lang="en-US" altLang="zh-CN" dirty="0" err="1"/>
              <a:t>df.ewm</a:t>
            </a:r>
            <a:r>
              <a:rPr lang="en-US" altLang="zh-CN" dirty="0"/>
              <a:t>().mean() </a:t>
            </a:r>
            <a:r>
              <a:rPr lang="zh-CN" altLang="en-US" dirty="0"/>
              <a:t>可以用来计算指数加权移动平均，这个函数可以使用平滑系数</a:t>
            </a:r>
            <a:r>
              <a:rPr lang="en-US" altLang="zh-CN" dirty="0"/>
              <a:t>α</a:t>
            </a:r>
            <a:r>
              <a:rPr lang="zh-CN" altLang="en-US" dirty="0"/>
              <a:t>。衰减因子 </a:t>
            </a:r>
            <a:r>
              <a:rPr lang="en-US" altLang="zh-CN" dirty="0"/>
              <a:t>λ </a:t>
            </a:r>
            <a:r>
              <a:rPr lang="zh-CN" altLang="en-US" dirty="0"/>
              <a:t>与平滑系数 </a:t>
            </a:r>
            <a:r>
              <a:rPr lang="en-US" altLang="zh-CN" dirty="0"/>
              <a:t>α </a:t>
            </a:r>
            <a:r>
              <a:rPr lang="zh-CN" altLang="en-US" dirty="0"/>
              <a:t>有关系如下：</a:t>
            </a:r>
            <a:r>
              <a:rPr lang="en-US" altLang="zh-CN" dirty="0"/>
              <a:t> λ=1- α</a:t>
            </a:r>
            <a:r>
              <a:rPr lang="zh-CN" altLang="en-US" dirty="0"/>
              <a:t>。衰减因子不同条件下，</a:t>
            </a:r>
            <a:r>
              <a:rPr lang="en-US" altLang="zh-CN" dirty="0"/>
              <a:t>EWMA </a:t>
            </a:r>
            <a:r>
              <a:rPr lang="zh-CN" altLang="en-US" dirty="0"/>
              <a:t>平均值变化情况如图所示。</a:t>
            </a:r>
            <a:endParaRPr lang="en-US" altLang="zh-CN" dirty="0"/>
          </a:p>
          <a:p>
            <a:pPr lvl="2"/>
            <a:endParaRPr kumimoji="1" lang="en-US" altLang="zh-CN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/>
              <a:ea typeface="Source Han Sans"/>
              <a:cs typeface="Source Han Sans"/>
            </a:endParaRPr>
          </a:p>
          <a:p>
            <a:pPr lvl="2"/>
            <a:endParaRPr kumimoji="1" lang="zh-CN" altLang="en-US" sz="2400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E68511C-D777-DF1E-C7B6-688E09CED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008" y="2955538"/>
            <a:ext cx="4427984" cy="331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447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83FD3-5211-B46D-8F1E-46DE146C7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00845A-0D02-499A-5F11-1A74E11B2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展望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653455-A6A7-1725-5A94-767BAAE1D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机器学习在时间序列分析中的应用</a:t>
            </a:r>
            <a:endParaRPr lang="en-US" altLang="zh-CN" dirty="0"/>
          </a:p>
          <a:p>
            <a:pPr lvl="2"/>
            <a:r>
              <a:rPr lang="zh-CN" altLang="en-US" dirty="0"/>
              <a:t>机器学习方法可以用于时间序列预测和分类。例如，使用 </a:t>
            </a:r>
            <a:r>
              <a:rPr lang="en-US" altLang="zh-CN" dirty="0"/>
              <a:t>LSTM </a:t>
            </a:r>
            <a:r>
              <a:rPr lang="zh-CN" altLang="en-US" dirty="0"/>
              <a:t>神经网络预测股票价格。</a:t>
            </a:r>
            <a:endParaRPr lang="en-US" altLang="zh-CN" dirty="0"/>
          </a:p>
          <a:p>
            <a:r>
              <a:rPr lang="zh-CN" altLang="en-US" dirty="0"/>
              <a:t>高级可视化技术</a:t>
            </a:r>
            <a:endParaRPr lang="en-US" altLang="zh-CN" dirty="0"/>
          </a:p>
          <a:p>
            <a:pPr lvl="2"/>
            <a:r>
              <a:rPr lang="zh-CN" altLang="en-US" dirty="0"/>
              <a:t>探索更多高级可视化技术，如三维可视化和地理信息系统（</a:t>
            </a:r>
            <a:r>
              <a:rPr lang="en-US" altLang="zh-CN" dirty="0"/>
              <a:t>GIS</a:t>
            </a:r>
            <a:r>
              <a:rPr lang="zh-CN" altLang="en-US" dirty="0"/>
              <a:t>），使用 </a:t>
            </a:r>
            <a:r>
              <a:rPr lang="en-US" altLang="zh-CN" dirty="0"/>
              <a:t>GIS </a:t>
            </a:r>
            <a:r>
              <a:rPr lang="zh-CN" altLang="en-US" dirty="0"/>
              <a:t>展示全球气候随时间变化的情况</a:t>
            </a:r>
            <a:endParaRPr lang="en-US" altLang="zh-CN" dirty="0"/>
          </a:p>
          <a:p>
            <a:pPr lvl="2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8817679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857250"/>
            <a:ext cx="9144000" cy="51435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3" name="标题 1"/>
          <p:cNvSpPr txBox="1"/>
          <p:nvPr/>
        </p:nvSpPr>
        <p:spPr>
          <a:xfrm rot="16200000">
            <a:off x="1835468" y="3352799"/>
            <a:ext cx="1225296" cy="1225296"/>
          </a:xfrm>
          <a:prstGeom prst="arc">
            <a:avLst>
              <a:gd name="adj1" fmla="val 10832431"/>
              <a:gd name="adj2" fmla="val 0"/>
            </a:avLst>
          </a:prstGeom>
          <a:noFill/>
          <a:ln w="254000" cap="sq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0"/>
            </a:gradFill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4" name="标题 1"/>
          <p:cNvSpPr txBox="1"/>
          <p:nvPr/>
        </p:nvSpPr>
        <p:spPr>
          <a:xfrm>
            <a:off x="1803464" y="3320795"/>
            <a:ext cx="1289304" cy="1289304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2700000" scaled="0"/>
          </a:gradFill>
          <a:ln w="12700" cap="sq">
            <a:noFill/>
            <a:miter/>
          </a:ln>
          <a:effectLst>
            <a:outerShdw blurRad="50800" dist="38100" dir="5400000" algn="t" rotWithShape="0">
              <a:schemeClr val="accent1">
                <a:lumMod val="50000"/>
                <a:alpha val="25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5" name="标题 1"/>
          <p:cNvSpPr txBox="1"/>
          <p:nvPr/>
        </p:nvSpPr>
        <p:spPr>
          <a:xfrm>
            <a:off x="2220182" y="3744868"/>
            <a:ext cx="455868" cy="441159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6" name="标题 1"/>
          <p:cNvSpPr txBox="1"/>
          <p:nvPr/>
        </p:nvSpPr>
        <p:spPr>
          <a:xfrm>
            <a:off x="1849184" y="3366516"/>
            <a:ext cx="1197863" cy="1197863"/>
          </a:xfrm>
          <a:prstGeom prst="ellipse">
            <a:avLst/>
          </a:prstGeom>
          <a:noFill/>
          <a:ln w="12700" cap="sq">
            <a:solidFill>
              <a:schemeClr val="accent1">
                <a:lumMod val="60000"/>
                <a:lumOff val="40000"/>
              </a:schemeClr>
            </a:solidFill>
            <a:miter/>
          </a:ln>
          <a:effectLst/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7" name="标题 1"/>
          <p:cNvSpPr txBox="1"/>
          <p:nvPr/>
        </p:nvSpPr>
        <p:spPr>
          <a:xfrm rot="5400000">
            <a:off x="1357694" y="2875026"/>
            <a:ext cx="2180844" cy="2180844"/>
          </a:xfrm>
          <a:prstGeom prst="blockArc">
            <a:avLst>
              <a:gd name="adj1" fmla="val 10781059"/>
              <a:gd name="adj2" fmla="val 0"/>
              <a:gd name="adj3" fmla="val 13124"/>
            </a:avLst>
          </a:prstGeom>
          <a:noFill/>
          <a:ln w="6350" cap="sq">
            <a:solidFill>
              <a:schemeClr val="bg1">
                <a:lumMod val="85000"/>
              </a:schemeClr>
            </a:solidFill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8" name="标题 1"/>
          <p:cNvSpPr txBox="1"/>
          <p:nvPr/>
        </p:nvSpPr>
        <p:spPr>
          <a:xfrm flipV="1">
            <a:off x="2604080" y="2896934"/>
            <a:ext cx="456057" cy="4560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 cap="sq">
            <a:noFill/>
            <a:miter/>
          </a:ln>
          <a:effectLst>
            <a:outerShdw blurRad="50800" dist="38100" dir="5400000" algn="t" rotWithShape="0">
              <a:schemeClr val="accent1">
                <a:lumMod val="50000"/>
                <a:alpha val="25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9" name="标题 1"/>
          <p:cNvSpPr txBox="1"/>
          <p:nvPr/>
        </p:nvSpPr>
        <p:spPr>
          <a:xfrm flipV="1">
            <a:off x="3184724" y="3749564"/>
            <a:ext cx="456057" cy="4560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 cap="sq">
            <a:noFill/>
            <a:miter/>
          </a:ln>
          <a:effectLst>
            <a:outerShdw blurRad="50800" dist="38100" dir="5400000" algn="t" rotWithShape="0">
              <a:schemeClr val="accent1">
                <a:lumMod val="50000"/>
                <a:alpha val="25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10" name="标题 1"/>
          <p:cNvSpPr txBox="1"/>
          <p:nvPr/>
        </p:nvSpPr>
        <p:spPr>
          <a:xfrm flipV="1">
            <a:off x="2613224" y="4602194"/>
            <a:ext cx="456057" cy="4560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 cap="sq">
            <a:noFill/>
            <a:miter/>
          </a:ln>
          <a:effectLst>
            <a:outerShdw blurRad="50800" dist="38100" dir="5400000" algn="t" rotWithShape="0">
              <a:schemeClr val="accent1">
                <a:lumMod val="50000"/>
                <a:alpha val="25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11" name="标题 1"/>
          <p:cNvSpPr txBox="1"/>
          <p:nvPr/>
        </p:nvSpPr>
        <p:spPr>
          <a:xfrm>
            <a:off x="2542446" y="2937510"/>
            <a:ext cx="579326" cy="3749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5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01</a:t>
            </a:r>
            <a:endParaRPr kumimoji="1" lang="zh-CN" altLang="en-US" sz="1800"/>
          </a:p>
        </p:txBody>
      </p:sp>
      <p:sp>
        <p:nvSpPr>
          <p:cNvPr id="12" name="标题 1"/>
          <p:cNvSpPr txBox="1"/>
          <p:nvPr/>
        </p:nvSpPr>
        <p:spPr>
          <a:xfrm>
            <a:off x="3123090" y="3790141"/>
            <a:ext cx="579326" cy="3749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5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02</a:t>
            </a:r>
            <a:endParaRPr kumimoji="1" lang="zh-CN" altLang="en-US" sz="1800"/>
          </a:p>
        </p:txBody>
      </p:sp>
      <p:sp>
        <p:nvSpPr>
          <p:cNvPr id="13" name="标题 1"/>
          <p:cNvSpPr txBox="1"/>
          <p:nvPr/>
        </p:nvSpPr>
        <p:spPr>
          <a:xfrm>
            <a:off x="2551590" y="4642771"/>
            <a:ext cx="579326" cy="3749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5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03</a:t>
            </a:r>
            <a:endParaRPr kumimoji="1" lang="zh-CN" altLang="en-US" sz="1800"/>
          </a:p>
        </p:txBody>
      </p:sp>
      <p:sp>
        <p:nvSpPr>
          <p:cNvPr id="14" name="标题 1"/>
          <p:cNvSpPr txBox="1"/>
          <p:nvPr/>
        </p:nvSpPr>
        <p:spPr>
          <a:xfrm>
            <a:off x="3321407" y="2586990"/>
            <a:ext cx="3883875" cy="2697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28774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数据来源与准备</a:t>
            </a:r>
            <a:endParaRPr kumimoji="1" lang="zh-CN" altLang="en-US" sz="1800"/>
          </a:p>
        </p:txBody>
      </p:sp>
      <p:sp>
        <p:nvSpPr>
          <p:cNvPr id="15" name="标题 1"/>
          <p:cNvSpPr txBox="1"/>
          <p:nvPr/>
        </p:nvSpPr>
        <p:spPr>
          <a:xfrm>
            <a:off x="3321407" y="2894172"/>
            <a:ext cx="3883875" cy="50053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数据来源：世界银行数据库。
数据准备：清洗数据，处理缺失值。</a:t>
            </a:r>
            <a:endParaRPr kumimoji="1" lang="zh-CN" altLang="en-US" sz="1800"/>
          </a:p>
        </p:txBody>
      </p:sp>
      <p:sp>
        <p:nvSpPr>
          <p:cNvPr id="16" name="标题 1"/>
          <p:cNvSpPr txBox="1"/>
          <p:nvPr/>
        </p:nvSpPr>
        <p:spPr>
          <a:xfrm>
            <a:off x="3892907" y="3569970"/>
            <a:ext cx="3893400" cy="2697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28774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分析方法</a:t>
            </a:r>
            <a:endParaRPr kumimoji="1" lang="zh-CN" altLang="en-US" sz="1800"/>
          </a:p>
        </p:txBody>
      </p:sp>
      <p:sp>
        <p:nvSpPr>
          <p:cNvPr id="17" name="标题 1"/>
          <p:cNvSpPr txBox="1"/>
          <p:nvPr/>
        </p:nvSpPr>
        <p:spPr>
          <a:xfrm>
            <a:off x="3892907" y="3877152"/>
            <a:ext cx="3883875" cy="50053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使用散点图展示人均 GDP 与预期寿命的关系。
使用箱型图分析不同地区的发展差异。</a:t>
            </a:r>
            <a:endParaRPr kumimoji="1" lang="zh-CN" altLang="en-US" sz="1800"/>
          </a:p>
        </p:txBody>
      </p:sp>
      <p:sp>
        <p:nvSpPr>
          <p:cNvPr id="18" name="标题 1"/>
          <p:cNvSpPr txBox="1"/>
          <p:nvPr/>
        </p:nvSpPr>
        <p:spPr>
          <a:xfrm>
            <a:off x="3321407" y="4552950"/>
            <a:ext cx="3883875" cy="2697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28774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分析结果</a:t>
            </a:r>
            <a:endParaRPr kumimoji="1" lang="zh-CN" altLang="en-US" sz="1800"/>
          </a:p>
        </p:txBody>
      </p:sp>
      <p:sp>
        <p:nvSpPr>
          <p:cNvPr id="19" name="标题 1"/>
          <p:cNvSpPr txBox="1"/>
          <p:nvPr/>
        </p:nvSpPr>
        <p:spPr>
          <a:xfrm>
            <a:off x="3321407" y="4860132"/>
            <a:ext cx="3883875" cy="50053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发现人均 GDP 与预期寿命呈正相关关系。
不同地区的发展水平存在显著差异。</a:t>
            </a:r>
            <a:endParaRPr kumimoji="1" lang="zh-CN" altLang="en-US" sz="1800"/>
          </a:p>
        </p:txBody>
      </p:sp>
      <p:sp>
        <p:nvSpPr>
          <p:cNvPr id="20" name="标题 1"/>
          <p:cNvSpPr txBox="1"/>
          <p:nvPr/>
        </p:nvSpPr>
        <p:spPr>
          <a:xfrm>
            <a:off x="495300" y="1223775"/>
            <a:ext cx="8143875" cy="351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案例 1：全球人均 GDP 与预期寿命</a:t>
            </a:r>
            <a:endParaRPr kumimoji="1" lang="zh-CN" altLang="en-US" sz="1800"/>
          </a:p>
        </p:txBody>
      </p:sp>
      <p:sp>
        <p:nvSpPr>
          <p:cNvPr id="21" name="标题 1"/>
          <p:cNvSpPr txBox="1"/>
          <p:nvPr/>
        </p:nvSpPr>
        <p:spPr>
          <a:xfrm>
            <a:off x="-313216" y="1034749"/>
            <a:ext cx="626431" cy="540026"/>
          </a:xfrm>
          <a:prstGeom prst="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22" name="标题 1"/>
          <p:cNvSpPr txBox="1"/>
          <p:nvPr/>
        </p:nvSpPr>
        <p:spPr>
          <a:xfrm rot="10800000">
            <a:off x="87247" y="1034749"/>
            <a:ext cx="408053" cy="351770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857250"/>
            <a:ext cx="9144000" cy="51435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grpSp>
        <p:nvGrpSpPr>
          <p:cNvPr id="3" name="组合 2"/>
          <p:cNvGrpSpPr/>
          <p:nvPr/>
        </p:nvGrpSpPr>
        <p:grpSpPr>
          <a:xfrm>
            <a:off x="0" y="5281759"/>
            <a:ext cx="9144000" cy="718991"/>
            <a:chOff x="0" y="5899346"/>
            <a:chExt cx="12192000" cy="958654"/>
          </a:xfrm>
        </p:grpSpPr>
        <p:sp>
          <p:nvSpPr>
            <p:cNvPr id="4" name="标题 1"/>
            <p:cNvSpPr txBox="1"/>
            <p:nvPr/>
          </p:nvSpPr>
          <p:spPr>
            <a:xfrm>
              <a:off x="0" y="5899346"/>
              <a:ext cx="12192000" cy="958654"/>
            </a:xfrm>
            <a:custGeom>
              <a:avLst/>
              <a:gdLst>
                <a:gd name="connsiteX0" fmla="*/ 0 w 12192000"/>
                <a:gd name="connsiteY0" fmla="*/ 0 h 3563982"/>
                <a:gd name="connsiteX1" fmla="*/ 21223 w 12192000"/>
                <a:gd name="connsiteY1" fmla="*/ 27596 h 3563982"/>
                <a:gd name="connsiteX2" fmla="*/ 6096000 w 12192000"/>
                <a:gd name="connsiteY2" fmla="*/ 3055905 h 3563982"/>
                <a:gd name="connsiteX3" fmla="*/ 12170777 w 12192000"/>
                <a:gd name="connsiteY3" fmla="*/ 27596 h 3563982"/>
                <a:gd name="connsiteX4" fmla="*/ 12192000 w 12192000"/>
                <a:gd name="connsiteY4" fmla="*/ 0 h 3563982"/>
                <a:gd name="connsiteX5" fmla="*/ 12192000 w 12192000"/>
                <a:gd name="connsiteY5" fmla="*/ 3563982 h 3563982"/>
                <a:gd name="connsiteX6" fmla="*/ 0 w 12192000"/>
                <a:gd name="connsiteY6" fmla="*/ 3563982 h 3563982"/>
              </a:gdLst>
              <a:ahLst/>
              <a:cxnLst/>
              <a:rect l="l" t="t" r="r" b="b"/>
              <a:pathLst>
                <a:path w="12192000" h="3563982">
                  <a:moveTo>
                    <a:pt x="0" y="0"/>
                  </a:moveTo>
                  <a:lnTo>
                    <a:pt x="21223" y="27596"/>
                  </a:lnTo>
                  <a:cubicBezTo>
                    <a:pt x="1522464" y="1887950"/>
                    <a:pt x="3688133" y="3055905"/>
                    <a:pt x="6096000" y="3055905"/>
                  </a:cubicBezTo>
                  <a:cubicBezTo>
                    <a:pt x="8503868" y="3055905"/>
                    <a:pt x="10669536" y="1887950"/>
                    <a:pt x="12170777" y="27596"/>
                  </a:cubicBezTo>
                  <a:lnTo>
                    <a:pt x="12192000" y="0"/>
                  </a:lnTo>
                  <a:lnTo>
                    <a:pt x="12192000" y="3563982"/>
                  </a:lnTo>
                  <a:lnTo>
                    <a:pt x="0" y="356398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18000"/>
              </a:schemeClr>
            </a:solidFill>
            <a:ln w="12700" cap="sq">
              <a:noFill/>
              <a:miter/>
            </a:ln>
          </p:spPr>
          <p:txBody>
            <a:bodyPr vert="horz" wrap="square" lIns="68580" tIns="34290" rIns="68580" bIns="3429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1800"/>
            </a:p>
          </p:txBody>
        </p:sp>
        <p:sp>
          <p:nvSpPr>
            <p:cNvPr id="5" name="标题 1"/>
            <p:cNvSpPr txBox="1"/>
            <p:nvPr/>
          </p:nvSpPr>
          <p:spPr>
            <a:xfrm>
              <a:off x="0" y="6188758"/>
              <a:ext cx="12192000" cy="669242"/>
            </a:xfrm>
            <a:custGeom>
              <a:avLst/>
              <a:gdLst>
                <a:gd name="connsiteX0" fmla="*/ 0 w 12192000"/>
                <a:gd name="connsiteY0" fmla="*/ 0 h 2488036"/>
                <a:gd name="connsiteX1" fmla="*/ 21223 w 12192000"/>
                <a:gd name="connsiteY1" fmla="*/ 18287 h 2488036"/>
                <a:gd name="connsiteX2" fmla="*/ 6096000 w 12192000"/>
                <a:gd name="connsiteY2" fmla="*/ 2025118 h 2488036"/>
                <a:gd name="connsiteX3" fmla="*/ 12170777 w 12192000"/>
                <a:gd name="connsiteY3" fmla="*/ 18287 h 2488036"/>
                <a:gd name="connsiteX4" fmla="*/ 12192000 w 12192000"/>
                <a:gd name="connsiteY4" fmla="*/ 0 h 2488036"/>
                <a:gd name="connsiteX5" fmla="*/ 12192000 w 12192000"/>
                <a:gd name="connsiteY5" fmla="*/ 2488036 h 2488036"/>
                <a:gd name="connsiteX6" fmla="*/ 0 w 12192000"/>
                <a:gd name="connsiteY6" fmla="*/ 2488036 h 2488036"/>
              </a:gdLst>
              <a:ahLst/>
              <a:cxnLst/>
              <a:rect l="l" t="t" r="r" b="b"/>
              <a:pathLst>
                <a:path w="12192000" h="2488036">
                  <a:moveTo>
                    <a:pt x="0" y="0"/>
                  </a:moveTo>
                  <a:lnTo>
                    <a:pt x="21223" y="18287"/>
                  </a:lnTo>
                  <a:cubicBezTo>
                    <a:pt x="1522464" y="1251126"/>
                    <a:pt x="3688133" y="2025118"/>
                    <a:pt x="6096000" y="2025118"/>
                  </a:cubicBezTo>
                  <a:cubicBezTo>
                    <a:pt x="8503868" y="2025118"/>
                    <a:pt x="10669536" y="1251126"/>
                    <a:pt x="12170777" y="18287"/>
                  </a:cubicBezTo>
                  <a:lnTo>
                    <a:pt x="12192000" y="0"/>
                  </a:lnTo>
                  <a:lnTo>
                    <a:pt x="12192000" y="2488036"/>
                  </a:lnTo>
                  <a:lnTo>
                    <a:pt x="0" y="248803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5400000" scaled="0"/>
            </a:gradFill>
            <a:ln w="3175" cap="sq">
              <a:solidFill>
                <a:schemeClr val="accent1">
                  <a:lumMod val="20000"/>
                  <a:lumOff val="80000"/>
                </a:schemeClr>
              </a:solidFill>
              <a:miter/>
            </a:ln>
            <a:effectLst>
              <a:outerShdw blurRad="368300" dist="38100" dir="16200000" rotWithShape="0">
                <a:schemeClr val="accent1">
                  <a:alpha val="26000"/>
                </a:schemeClr>
              </a:outerShdw>
            </a:effectLst>
          </p:spPr>
          <p:txBody>
            <a:bodyPr vert="horz" wrap="square" lIns="68580" tIns="34290" rIns="68580" bIns="3429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1800"/>
            </a:p>
          </p:txBody>
        </p:sp>
      </p:grpSp>
      <p:sp>
        <p:nvSpPr>
          <p:cNvPr id="6" name="标题 1"/>
          <p:cNvSpPr txBox="1"/>
          <p:nvPr/>
        </p:nvSpPr>
        <p:spPr>
          <a:xfrm>
            <a:off x="500448" y="2064202"/>
            <a:ext cx="2640205" cy="2993574"/>
          </a:xfrm>
          <a:prstGeom prst="rect">
            <a:avLst/>
          </a:prstGeom>
          <a:solidFill>
            <a:schemeClr val="bg1"/>
          </a:solidFill>
          <a:ln w="15875" cap="flat">
            <a:noFill/>
            <a:miter/>
          </a:ln>
          <a:effectLst>
            <a:outerShdw blurRad="152400" dist="38100" dir="2700000" algn="tl" rotWithShape="0">
              <a:schemeClr val="accent1">
                <a:lumMod val="50000"/>
                <a:alpha val="19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7" name="标题 1"/>
          <p:cNvSpPr txBox="1"/>
          <p:nvPr/>
        </p:nvSpPr>
        <p:spPr>
          <a:xfrm>
            <a:off x="502167" y="2063095"/>
            <a:ext cx="1643134" cy="3958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1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8" name="标题 1"/>
          <p:cNvSpPr txBox="1"/>
          <p:nvPr/>
        </p:nvSpPr>
        <p:spPr>
          <a:xfrm>
            <a:off x="495300" y="2063095"/>
            <a:ext cx="57255" cy="395841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11811" cap="flat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9" name="标题 1"/>
          <p:cNvSpPr txBox="1"/>
          <p:nvPr/>
        </p:nvSpPr>
        <p:spPr>
          <a:xfrm>
            <a:off x="613727" y="2063094"/>
            <a:ext cx="2421284" cy="3958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gradFill>
                  <a:gsLst>
                    <a:gs pos="0">
                      <a:srgbClr val="316557">
                        <a:alpha val="100000"/>
                      </a:srgbClr>
                    </a:gs>
                    <a:gs pos="93000">
                      <a:srgbClr val="428774">
                        <a:alpha val="100000"/>
                      </a:srgbClr>
                    </a:gs>
                  </a:gsLst>
                  <a:lin ang="5400000" scaled="0"/>
                </a:gradFill>
                <a:latin typeface="Source Han Sans CN Bold"/>
                <a:ea typeface="Source Han Sans CN Bold"/>
                <a:cs typeface="Source Han Sans CN Bold"/>
              </a:rPr>
              <a:t>数据来源与准备</a:t>
            </a:r>
            <a:endParaRPr kumimoji="1" lang="zh-CN" altLang="en-US" sz="1800"/>
          </a:p>
        </p:txBody>
      </p:sp>
      <p:sp>
        <p:nvSpPr>
          <p:cNvPr id="10" name="标题 1"/>
          <p:cNvSpPr txBox="1"/>
          <p:nvPr/>
        </p:nvSpPr>
        <p:spPr>
          <a:xfrm>
            <a:off x="613726" y="2578515"/>
            <a:ext cx="2421285" cy="23311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3A3A3A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数据来源：世界银行数据库。
数据准备：选择特定国家（如卢旺达、柬埔寨）的数据。</a:t>
            </a:r>
            <a:endParaRPr kumimoji="1" lang="zh-CN" altLang="en-US" sz="1800"/>
          </a:p>
        </p:txBody>
      </p:sp>
      <p:sp>
        <p:nvSpPr>
          <p:cNvPr id="11" name="标题 1"/>
          <p:cNvSpPr txBox="1"/>
          <p:nvPr/>
        </p:nvSpPr>
        <p:spPr>
          <a:xfrm>
            <a:off x="3251898" y="2064202"/>
            <a:ext cx="2640205" cy="2993574"/>
          </a:xfrm>
          <a:prstGeom prst="rect">
            <a:avLst/>
          </a:prstGeom>
          <a:solidFill>
            <a:schemeClr val="bg1"/>
          </a:solidFill>
          <a:ln w="15875" cap="flat">
            <a:noFill/>
            <a:miter/>
          </a:ln>
          <a:effectLst>
            <a:outerShdw blurRad="152400" dist="38100" dir="2700000" algn="tl" rotWithShape="0">
              <a:schemeClr val="accent1">
                <a:lumMod val="50000"/>
                <a:alpha val="19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12" name="标题 1"/>
          <p:cNvSpPr txBox="1"/>
          <p:nvPr/>
        </p:nvSpPr>
        <p:spPr>
          <a:xfrm>
            <a:off x="3249239" y="2063095"/>
            <a:ext cx="1643134" cy="3958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1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13" name="标题 1"/>
          <p:cNvSpPr txBox="1"/>
          <p:nvPr/>
        </p:nvSpPr>
        <p:spPr>
          <a:xfrm>
            <a:off x="3249461" y="2063095"/>
            <a:ext cx="57255" cy="395841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11811" cap="flat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14" name="标题 1"/>
          <p:cNvSpPr txBox="1"/>
          <p:nvPr/>
        </p:nvSpPr>
        <p:spPr>
          <a:xfrm>
            <a:off x="3369430" y="2063094"/>
            <a:ext cx="2421284" cy="3958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gradFill>
                  <a:gsLst>
                    <a:gs pos="0">
                      <a:srgbClr val="316557">
                        <a:alpha val="100000"/>
                      </a:srgbClr>
                    </a:gs>
                    <a:gs pos="93000">
                      <a:srgbClr val="428774">
                        <a:alpha val="100000"/>
                      </a:srgbClr>
                    </a:gs>
                  </a:gsLst>
                  <a:lin ang="5400000" scaled="0"/>
                </a:gradFill>
                <a:latin typeface="Source Han Sans CN Bold"/>
                <a:ea typeface="Source Han Sans CN Bold"/>
                <a:cs typeface="Source Han Sans CN Bold"/>
              </a:rPr>
              <a:t>分析方法</a:t>
            </a:r>
            <a:endParaRPr kumimoji="1" lang="zh-CN" altLang="en-US" sz="1800"/>
          </a:p>
        </p:txBody>
      </p:sp>
      <p:sp>
        <p:nvSpPr>
          <p:cNvPr id="15" name="标题 1"/>
          <p:cNvSpPr txBox="1"/>
          <p:nvPr/>
        </p:nvSpPr>
        <p:spPr>
          <a:xfrm>
            <a:off x="3369428" y="2578515"/>
            <a:ext cx="2421285" cy="23311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3A3A3A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使用时间轨迹图展示人均 GDP 与预期寿命的变化。
结合历史事件，分析数据的变化原因。</a:t>
            </a:r>
            <a:endParaRPr kumimoji="1" lang="zh-CN" altLang="en-US" sz="1800"/>
          </a:p>
        </p:txBody>
      </p:sp>
      <p:sp>
        <p:nvSpPr>
          <p:cNvPr id="16" name="标题 1"/>
          <p:cNvSpPr txBox="1"/>
          <p:nvPr/>
        </p:nvSpPr>
        <p:spPr>
          <a:xfrm>
            <a:off x="5998971" y="2064202"/>
            <a:ext cx="2640205" cy="2993574"/>
          </a:xfrm>
          <a:prstGeom prst="rect">
            <a:avLst/>
          </a:prstGeom>
          <a:solidFill>
            <a:schemeClr val="bg1"/>
          </a:solidFill>
          <a:ln w="15875" cap="flat">
            <a:noFill/>
            <a:miter/>
          </a:ln>
          <a:effectLst>
            <a:outerShdw blurRad="152400" dist="38100" dir="2700000" algn="tl" rotWithShape="0">
              <a:schemeClr val="accent1">
                <a:lumMod val="50000"/>
                <a:alpha val="19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17" name="标题 1"/>
          <p:cNvSpPr txBox="1"/>
          <p:nvPr/>
        </p:nvSpPr>
        <p:spPr>
          <a:xfrm>
            <a:off x="6000690" y="2063095"/>
            <a:ext cx="1643134" cy="3958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1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18" name="标题 1"/>
          <p:cNvSpPr txBox="1"/>
          <p:nvPr/>
        </p:nvSpPr>
        <p:spPr>
          <a:xfrm>
            <a:off x="5993822" y="2063095"/>
            <a:ext cx="57255" cy="395841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11811" cap="flat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19" name="标题 1"/>
          <p:cNvSpPr txBox="1"/>
          <p:nvPr/>
        </p:nvSpPr>
        <p:spPr>
          <a:xfrm>
            <a:off x="6112249" y="2063094"/>
            <a:ext cx="2421284" cy="3958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gradFill>
                  <a:gsLst>
                    <a:gs pos="0">
                      <a:srgbClr val="316557">
                        <a:alpha val="100000"/>
                      </a:srgbClr>
                    </a:gs>
                    <a:gs pos="93000">
                      <a:srgbClr val="428774">
                        <a:alpha val="100000"/>
                      </a:srgbClr>
                    </a:gs>
                  </a:gsLst>
                  <a:lin ang="5400000" scaled="0"/>
                </a:gradFill>
                <a:latin typeface="Source Han Sans CN Bold"/>
                <a:ea typeface="Source Han Sans CN Bold"/>
                <a:cs typeface="Source Han Sans CN Bold"/>
              </a:rPr>
              <a:t>分析结果</a:t>
            </a:r>
            <a:endParaRPr kumimoji="1" lang="zh-CN" altLang="en-US" sz="1800"/>
          </a:p>
        </p:txBody>
      </p:sp>
      <p:sp>
        <p:nvSpPr>
          <p:cNvPr id="20" name="标题 1"/>
          <p:cNvSpPr txBox="1"/>
          <p:nvPr/>
        </p:nvSpPr>
        <p:spPr>
          <a:xfrm>
            <a:off x="6112249" y="2578515"/>
            <a:ext cx="2421285" cy="23311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3A3A3A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发现特定国家的发展受到历史事件的显著影响。
例如，卢旺达在内战后经济和健康指标有所改善。</a:t>
            </a:r>
            <a:endParaRPr kumimoji="1" lang="zh-CN" altLang="en-US" sz="1800"/>
          </a:p>
        </p:txBody>
      </p:sp>
      <p:sp>
        <p:nvSpPr>
          <p:cNvPr id="21" name="标题 1"/>
          <p:cNvSpPr txBox="1"/>
          <p:nvPr/>
        </p:nvSpPr>
        <p:spPr>
          <a:xfrm>
            <a:off x="495300" y="1223775"/>
            <a:ext cx="8143875" cy="351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案例 2：特定国家的发展分析</a:t>
            </a:r>
            <a:endParaRPr kumimoji="1" lang="zh-CN" altLang="en-US" sz="1800"/>
          </a:p>
        </p:txBody>
      </p:sp>
      <p:sp>
        <p:nvSpPr>
          <p:cNvPr id="22" name="标题 1"/>
          <p:cNvSpPr txBox="1"/>
          <p:nvPr/>
        </p:nvSpPr>
        <p:spPr>
          <a:xfrm>
            <a:off x="-313216" y="1034749"/>
            <a:ext cx="626431" cy="540026"/>
          </a:xfrm>
          <a:prstGeom prst="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23" name="标题 1"/>
          <p:cNvSpPr txBox="1"/>
          <p:nvPr/>
        </p:nvSpPr>
        <p:spPr>
          <a:xfrm rot="10800000">
            <a:off x="87247" y="1034749"/>
            <a:ext cx="408053" cy="351770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857250"/>
            <a:ext cx="9144000" cy="51435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3" name="标题 1"/>
          <p:cNvSpPr txBox="1"/>
          <p:nvPr/>
        </p:nvSpPr>
        <p:spPr>
          <a:xfrm flipH="1">
            <a:off x="497249" y="857250"/>
            <a:ext cx="7931819" cy="5139666"/>
          </a:xfrm>
          <a:custGeom>
            <a:avLst/>
            <a:gdLst>
              <a:gd name="connsiteX0" fmla="*/ 0 w 10016202"/>
              <a:gd name="connsiteY0" fmla="*/ 0 h 6881989"/>
              <a:gd name="connsiteX1" fmla="*/ 9128035 w 10016202"/>
              <a:gd name="connsiteY1" fmla="*/ 0 h 6881989"/>
              <a:gd name="connsiteX2" fmla="*/ 9290029 w 10016202"/>
              <a:gd name="connsiteY2" fmla="*/ 316290 h 6881989"/>
              <a:gd name="connsiteX3" fmla="*/ 10016202 w 10016202"/>
              <a:gd name="connsiteY3" fmla="*/ 3508901 h 6881989"/>
              <a:gd name="connsiteX4" fmla="*/ 9290029 w 10016202"/>
              <a:gd name="connsiteY4" fmla="*/ 6701512 h 6881989"/>
              <a:gd name="connsiteX5" fmla="*/ 9197594 w 10016202"/>
              <a:gd name="connsiteY5" fmla="*/ 6881989 h 6881989"/>
              <a:gd name="connsiteX6" fmla="*/ 0 w 10016202"/>
              <a:gd name="connsiteY6" fmla="*/ 6881989 h 6881989"/>
              <a:gd name="connsiteX7" fmla="*/ 0 w 10016202"/>
              <a:gd name="connsiteY7" fmla="*/ 0 h 6881989"/>
            </a:gdLst>
            <a:ahLst/>
            <a:cxnLst/>
            <a:rect l="l" t="t" r="r" b="b"/>
            <a:pathLst>
              <a:path w="10016202" h="6881989">
                <a:moveTo>
                  <a:pt x="0" y="0"/>
                </a:moveTo>
                <a:lnTo>
                  <a:pt x="9128035" y="0"/>
                </a:lnTo>
                <a:lnTo>
                  <a:pt x="9290029" y="316290"/>
                </a:lnTo>
                <a:cubicBezTo>
                  <a:pt x="9755405" y="1282103"/>
                  <a:pt x="10016202" y="2365046"/>
                  <a:pt x="10016202" y="3508901"/>
                </a:cubicBezTo>
                <a:cubicBezTo>
                  <a:pt x="10016202" y="4652756"/>
                  <a:pt x="9755405" y="5735699"/>
                  <a:pt x="9290029" y="6701512"/>
                </a:cubicBezTo>
                <a:lnTo>
                  <a:pt x="9197594" y="6881989"/>
                </a:lnTo>
                <a:lnTo>
                  <a:pt x="0" y="688198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65000">
                <a:schemeClr val="bg1"/>
              </a:gs>
              <a:gs pos="100000">
                <a:schemeClr val="accent1">
                  <a:lumMod val="20000"/>
                  <a:lumOff val="80000"/>
                  <a:alpha val="73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4" name="标题 1"/>
          <p:cNvSpPr txBox="1"/>
          <p:nvPr/>
        </p:nvSpPr>
        <p:spPr>
          <a:xfrm flipH="1">
            <a:off x="2488918" y="857250"/>
            <a:ext cx="6655082" cy="5139666"/>
          </a:xfrm>
          <a:custGeom>
            <a:avLst/>
            <a:gdLst>
              <a:gd name="connsiteX0" fmla="*/ 7935657 w 8873442"/>
              <a:gd name="connsiteY0" fmla="*/ 0 h 6852888"/>
              <a:gd name="connsiteX1" fmla="*/ 0 w 8873442"/>
              <a:gd name="connsiteY1" fmla="*/ 0 h 6852888"/>
              <a:gd name="connsiteX2" fmla="*/ 0 w 8873442"/>
              <a:gd name="connsiteY2" fmla="*/ 6852888 h 6852888"/>
              <a:gd name="connsiteX3" fmla="*/ 8009102 w 8873442"/>
              <a:gd name="connsiteY3" fmla="*/ 6852888 h 6852888"/>
              <a:gd name="connsiteX4" fmla="*/ 8106701 w 8873442"/>
              <a:gd name="connsiteY4" fmla="*/ 6673174 h 6852888"/>
              <a:gd name="connsiteX5" fmla="*/ 8873442 w 8873442"/>
              <a:gd name="connsiteY5" fmla="*/ 3494063 h 6852888"/>
              <a:gd name="connsiteX6" fmla="*/ 8106701 w 8873442"/>
              <a:gd name="connsiteY6" fmla="*/ 314953 h 6852888"/>
              <a:gd name="connsiteX7" fmla="*/ 7935657 w 8873442"/>
              <a:gd name="connsiteY7" fmla="*/ 0 h 6852888"/>
            </a:gdLst>
            <a:ahLst/>
            <a:cxnLst/>
            <a:rect l="l" t="t" r="r" b="b"/>
            <a:pathLst>
              <a:path w="8873442" h="6852888">
                <a:moveTo>
                  <a:pt x="7935657" y="0"/>
                </a:moveTo>
                <a:lnTo>
                  <a:pt x="0" y="0"/>
                </a:lnTo>
                <a:lnTo>
                  <a:pt x="0" y="6852888"/>
                </a:lnTo>
                <a:lnTo>
                  <a:pt x="8009102" y="6852888"/>
                </a:lnTo>
                <a:lnTo>
                  <a:pt x="8106701" y="6673174"/>
                </a:lnTo>
                <a:cubicBezTo>
                  <a:pt x="8598076" y="5711445"/>
                  <a:pt x="8873442" y="4633082"/>
                  <a:pt x="8873442" y="3494063"/>
                </a:cubicBezTo>
                <a:cubicBezTo>
                  <a:pt x="8873442" y="2355045"/>
                  <a:pt x="8598076" y="1276682"/>
                  <a:pt x="8106701" y="314953"/>
                </a:cubicBezTo>
                <a:lnTo>
                  <a:pt x="7935657" y="0"/>
                </a:lnTo>
                <a:close/>
              </a:path>
            </a:pathLst>
          </a:custGeom>
          <a:gradFill>
            <a:gsLst>
              <a:gs pos="65000">
                <a:schemeClr val="bg1"/>
              </a:gs>
              <a:gs pos="100000">
                <a:schemeClr val="accent1">
                  <a:lumMod val="20000"/>
                  <a:lumOff val="80000"/>
                  <a:alpha val="73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5" name="标题 1"/>
          <p:cNvSpPr txBox="1"/>
          <p:nvPr/>
        </p:nvSpPr>
        <p:spPr>
          <a:xfrm flipH="1">
            <a:off x="4480589" y="857250"/>
            <a:ext cx="4663410" cy="5139666"/>
          </a:xfrm>
          <a:custGeom>
            <a:avLst/>
            <a:gdLst>
              <a:gd name="connsiteX0" fmla="*/ 5280095 w 6217880"/>
              <a:gd name="connsiteY0" fmla="*/ 0 h 6852888"/>
              <a:gd name="connsiteX1" fmla="*/ 0 w 6217880"/>
              <a:gd name="connsiteY1" fmla="*/ 0 h 6852888"/>
              <a:gd name="connsiteX2" fmla="*/ 0 w 6217880"/>
              <a:gd name="connsiteY2" fmla="*/ 6852888 h 6852888"/>
              <a:gd name="connsiteX3" fmla="*/ 5353540 w 6217880"/>
              <a:gd name="connsiteY3" fmla="*/ 6852888 h 6852888"/>
              <a:gd name="connsiteX4" fmla="*/ 5451139 w 6217880"/>
              <a:gd name="connsiteY4" fmla="*/ 6673174 h 6852888"/>
              <a:gd name="connsiteX5" fmla="*/ 6217880 w 6217880"/>
              <a:gd name="connsiteY5" fmla="*/ 3494063 h 6852888"/>
              <a:gd name="connsiteX6" fmla="*/ 5451139 w 6217880"/>
              <a:gd name="connsiteY6" fmla="*/ 314953 h 6852888"/>
              <a:gd name="connsiteX7" fmla="*/ 5280095 w 6217880"/>
              <a:gd name="connsiteY7" fmla="*/ 0 h 6852888"/>
            </a:gdLst>
            <a:ahLst/>
            <a:cxnLst/>
            <a:rect l="l" t="t" r="r" b="b"/>
            <a:pathLst>
              <a:path w="6217880" h="6852888">
                <a:moveTo>
                  <a:pt x="5280095" y="0"/>
                </a:moveTo>
                <a:lnTo>
                  <a:pt x="0" y="0"/>
                </a:lnTo>
                <a:lnTo>
                  <a:pt x="0" y="6852888"/>
                </a:lnTo>
                <a:lnTo>
                  <a:pt x="5353540" y="6852888"/>
                </a:lnTo>
                <a:lnTo>
                  <a:pt x="5451139" y="6673174"/>
                </a:lnTo>
                <a:cubicBezTo>
                  <a:pt x="5942514" y="5711445"/>
                  <a:pt x="6217880" y="4633082"/>
                  <a:pt x="6217880" y="3494063"/>
                </a:cubicBezTo>
                <a:cubicBezTo>
                  <a:pt x="6217880" y="2355045"/>
                  <a:pt x="5942514" y="1276682"/>
                  <a:pt x="5451139" y="314953"/>
                </a:cubicBezTo>
                <a:lnTo>
                  <a:pt x="5280095" y="0"/>
                </a:lnTo>
                <a:close/>
              </a:path>
            </a:pathLst>
          </a:custGeom>
          <a:gradFill>
            <a:gsLst>
              <a:gs pos="48000">
                <a:schemeClr val="bg1"/>
              </a:gs>
              <a:gs pos="100000">
                <a:schemeClr val="accent1">
                  <a:lumMod val="20000"/>
                  <a:lumOff val="80000"/>
                  <a:alpha val="73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6" name="标题 1"/>
          <p:cNvSpPr txBox="1"/>
          <p:nvPr/>
        </p:nvSpPr>
        <p:spPr>
          <a:xfrm>
            <a:off x="715344" y="3490913"/>
            <a:ext cx="1542734" cy="18002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时间序列数据包括趋势项、季节项、循环项和随机项。
通过分解方法可以清晰地分离出各个成分。</a:t>
            </a:r>
            <a:endParaRPr kumimoji="1" lang="zh-CN" altLang="en-US" sz="1800"/>
          </a:p>
        </p:txBody>
      </p:sp>
      <p:sp>
        <p:nvSpPr>
          <p:cNvPr id="7" name="标题 1"/>
          <p:cNvSpPr txBox="1"/>
          <p:nvPr/>
        </p:nvSpPr>
        <p:spPr>
          <a:xfrm>
            <a:off x="715341" y="2918476"/>
            <a:ext cx="1542735" cy="500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28774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时间序列数据的组成部分</a:t>
            </a:r>
            <a:endParaRPr kumimoji="1" lang="zh-CN" altLang="en-US" sz="1800"/>
          </a:p>
        </p:txBody>
      </p:sp>
      <p:sp>
        <p:nvSpPr>
          <p:cNvPr id="8" name="标题 1"/>
          <p:cNvSpPr txBox="1"/>
          <p:nvPr/>
        </p:nvSpPr>
        <p:spPr>
          <a:xfrm>
            <a:off x="4790533" y="3490913"/>
            <a:ext cx="1542734" cy="18002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移动窗口方法可以平滑时间序列，突出趋势和周期性变化。
简单移动平均和指数加权移动平均是常用方法。</a:t>
            </a:r>
            <a:endParaRPr kumimoji="1" lang="zh-CN" altLang="en-US" sz="1800"/>
          </a:p>
        </p:txBody>
      </p:sp>
      <p:sp>
        <p:nvSpPr>
          <p:cNvPr id="9" name="标题 1"/>
          <p:cNvSpPr txBox="1"/>
          <p:nvPr/>
        </p:nvSpPr>
        <p:spPr>
          <a:xfrm>
            <a:off x="4790531" y="2918476"/>
            <a:ext cx="1542735" cy="500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28774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移动窗口方法的应用</a:t>
            </a:r>
            <a:endParaRPr kumimoji="1" lang="zh-CN" altLang="en-US" sz="1800"/>
          </a:p>
        </p:txBody>
      </p:sp>
      <p:sp>
        <p:nvSpPr>
          <p:cNvPr id="10" name="标题 1"/>
          <p:cNvSpPr txBox="1"/>
          <p:nvPr/>
        </p:nvSpPr>
        <p:spPr>
          <a:xfrm>
            <a:off x="2752939" y="3490913"/>
            <a:ext cx="1542734" cy="18002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缺失值处理方法包括删除法和填充法。
选择合适的方法可以减少数据偏差。</a:t>
            </a:r>
            <a:endParaRPr kumimoji="1" lang="zh-CN" altLang="en-US" sz="1800"/>
          </a:p>
        </p:txBody>
      </p:sp>
      <p:sp>
        <p:nvSpPr>
          <p:cNvPr id="11" name="标题 1"/>
          <p:cNvSpPr txBox="1"/>
          <p:nvPr/>
        </p:nvSpPr>
        <p:spPr>
          <a:xfrm>
            <a:off x="2752936" y="2918476"/>
            <a:ext cx="1542735" cy="500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28774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缺失值处理方法</a:t>
            </a:r>
            <a:endParaRPr kumimoji="1" lang="zh-CN" altLang="en-US" sz="1800"/>
          </a:p>
        </p:txBody>
      </p:sp>
      <p:sp>
        <p:nvSpPr>
          <p:cNvPr id="12" name="标题 1"/>
          <p:cNvSpPr txBox="1"/>
          <p:nvPr/>
        </p:nvSpPr>
        <p:spPr>
          <a:xfrm flipH="1">
            <a:off x="6472259" y="857250"/>
            <a:ext cx="2671740" cy="5139666"/>
          </a:xfrm>
          <a:custGeom>
            <a:avLst/>
            <a:gdLst>
              <a:gd name="connsiteX0" fmla="*/ 2624535 w 3562320"/>
              <a:gd name="connsiteY0" fmla="*/ 0 h 6852888"/>
              <a:gd name="connsiteX1" fmla="*/ 0 w 3562320"/>
              <a:gd name="connsiteY1" fmla="*/ 0 h 6852888"/>
              <a:gd name="connsiteX2" fmla="*/ 0 w 3562320"/>
              <a:gd name="connsiteY2" fmla="*/ 6852888 h 6852888"/>
              <a:gd name="connsiteX3" fmla="*/ 2697980 w 3562320"/>
              <a:gd name="connsiteY3" fmla="*/ 6852888 h 6852888"/>
              <a:gd name="connsiteX4" fmla="*/ 2795579 w 3562320"/>
              <a:gd name="connsiteY4" fmla="*/ 6673174 h 6852888"/>
              <a:gd name="connsiteX5" fmla="*/ 3562320 w 3562320"/>
              <a:gd name="connsiteY5" fmla="*/ 3494063 h 6852888"/>
              <a:gd name="connsiteX6" fmla="*/ 2795579 w 3562320"/>
              <a:gd name="connsiteY6" fmla="*/ 314953 h 6852888"/>
              <a:gd name="connsiteX7" fmla="*/ 2624535 w 3562320"/>
              <a:gd name="connsiteY7" fmla="*/ 0 h 6852888"/>
            </a:gdLst>
            <a:ahLst/>
            <a:cxnLst/>
            <a:rect l="l" t="t" r="r" b="b"/>
            <a:pathLst>
              <a:path w="3562320" h="6852888">
                <a:moveTo>
                  <a:pt x="2624535" y="0"/>
                </a:moveTo>
                <a:lnTo>
                  <a:pt x="0" y="0"/>
                </a:lnTo>
                <a:lnTo>
                  <a:pt x="0" y="6852888"/>
                </a:lnTo>
                <a:lnTo>
                  <a:pt x="2697980" y="6852888"/>
                </a:lnTo>
                <a:lnTo>
                  <a:pt x="2795579" y="6673174"/>
                </a:lnTo>
                <a:cubicBezTo>
                  <a:pt x="3286954" y="5711445"/>
                  <a:pt x="3562320" y="4633082"/>
                  <a:pt x="3562320" y="3494063"/>
                </a:cubicBezTo>
                <a:cubicBezTo>
                  <a:pt x="3562320" y="2355045"/>
                  <a:pt x="3286954" y="1276682"/>
                  <a:pt x="2795579" y="314953"/>
                </a:cubicBezTo>
                <a:lnTo>
                  <a:pt x="2624535" y="0"/>
                </a:lnTo>
                <a:close/>
              </a:path>
            </a:pathLst>
          </a:custGeom>
          <a:gradFill>
            <a:gsLst>
              <a:gs pos="5000">
                <a:schemeClr val="bg1"/>
              </a:gs>
              <a:gs pos="100000">
                <a:schemeClr val="accent1">
                  <a:lumMod val="20000"/>
                  <a:lumOff val="80000"/>
                  <a:alpha val="73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13" name="标题 1"/>
          <p:cNvSpPr txBox="1"/>
          <p:nvPr/>
        </p:nvSpPr>
        <p:spPr>
          <a:xfrm>
            <a:off x="6777314" y="3490913"/>
            <a:ext cx="1542734" cy="18002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数据可视化可以帮助观众更好地理解数据。
故事讲述可以将数据背后的意义呈现出来。</a:t>
            </a:r>
            <a:endParaRPr kumimoji="1" lang="zh-CN" altLang="en-US" sz="1800"/>
          </a:p>
        </p:txBody>
      </p:sp>
      <p:sp>
        <p:nvSpPr>
          <p:cNvPr id="14" name="标题 1"/>
          <p:cNvSpPr txBox="1"/>
          <p:nvPr/>
        </p:nvSpPr>
        <p:spPr>
          <a:xfrm>
            <a:off x="6777311" y="2918476"/>
            <a:ext cx="1542735" cy="500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28774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数据可视化与故事讲述的重要性</a:t>
            </a:r>
            <a:endParaRPr kumimoji="1" lang="zh-CN" altLang="en-US" sz="1800"/>
          </a:p>
        </p:txBody>
      </p:sp>
      <p:sp>
        <p:nvSpPr>
          <p:cNvPr id="15" name="标题 1"/>
          <p:cNvSpPr txBox="1"/>
          <p:nvPr/>
        </p:nvSpPr>
        <p:spPr>
          <a:xfrm>
            <a:off x="1116811" y="2116765"/>
            <a:ext cx="739800" cy="739799"/>
          </a:xfrm>
          <a:prstGeom prst="ellipse">
            <a:avLst/>
          </a:prstGeom>
          <a:solidFill>
            <a:schemeClr val="bg1">
              <a:alpha val="99000"/>
            </a:schemeClr>
          </a:solidFill>
          <a:ln w="1905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16" name="标题 1"/>
          <p:cNvSpPr txBox="1"/>
          <p:nvPr/>
        </p:nvSpPr>
        <p:spPr>
          <a:xfrm>
            <a:off x="1220731" y="2220683"/>
            <a:ext cx="531962" cy="531962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3500000" scaled="0"/>
          </a:gradFill>
          <a:ln w="1905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17" name="标题 1"/>
          <p:cNvSpPr txBox="1"/>
          <p:nvPr/>
        </p:nvSpPr>
        <p:spPr>
          <a:xfrm>
            <a:off x="3154406" y="2116765"/>
            <a:ext cx="739800" cy="739799"/>
          </a:xfrm>
          <a:prstGeom prst="ellipse">
            <a:avLst/>
          </a:prstGeom>
          <a:solidFill>
            <a:schemeClr val="bg1">
              <a:alpha val="99000"/>
            </a:schemeClr>
          </a:solidFill>
          <a:ln w="1905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18" name="标题 1"/>
          <p:cNvSpPr txBox="1"/>
          <p:nvPr/>
        </p:nvSpPr>
        <p:spPr>
          <a:xfrm>
            <a:off x="3258325" y="2220683"/>
            <a:ext cx="531962" cy="531962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3500000" scaled="0"/>
          </a:gradFill>
          <a:ln w="1905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19" name="标题 1"/>
          <p:cNvSpPr txBox="1"/>
          <p:nvPr/>
        </p:nvSpPr>
        <p:spPr>
          <a:xfrm>
            <a:off x="5192000" y="2116765"/>
            <a:ext cx="739800" cy="739799"/>
          </a:xfrm>
          <a:prstGeom prst="ellipse">
            <a:avLst/>
          </a:prstGeom>
          <a:solidFill>
            <a:schemeClr val="bg1">
              <a:alpha val="99000"/>
            </a:schemeClr>
          </a:solidFill>
          <a:ln w="1905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20" name="标题 1"/>
          <p:cNvSpPr txBox="1"/>
          <p:nvPr/>
        </p:nvSpPr>
        <p:spPr>
          <a:xfrm>
            <a:off x="5295920" y="2220683"/>
            <a:ext cx="531962" cy="531962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3500000" scaled="0"/>
          </a:gradFill>
          <a:ln w="1905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21" name="标题 1"/>
          <p:cNvSpPr txBox="1"/>
          <p:nvPr/>
        </p:nvSpPr>
        <p:spPr>
          <a:xfrm>
            <a:off x="7178781" y="2116765"/>
            <a:ext cx="739800" cy="739799"/>
          </a:xfrm>
          <a:prstGeom prst="ellipse">
            <a:avLst/>
          </a:prstGeom>
          <a:solidFill>
            <a:schemeClr val="bg1">
              <a:alpha val="99000"/>
            </a:schemeClr>
          </a:solidFill>
          <a:ln w="1905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22" name="标题 1"/>
          <p:cNvSpPr txBox="1"/>
          <p:nvPr/>
        </p:nvSpPr>
        <p:spPr>
          <a:xfrm>
            <a:off x="7282701" y="2220683"/>
            <a:ext cx="531962" cy="531962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3500000" scaled="0"/>
          </a:gradFill>
          <a:ln w="1905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23" name="标题 1"/>
          <p:cNvSpPr txBox="1"/>
          <p:nvPr/>
        </p:nvSpPr>
        <p:spPr>
          <a:xfrm>
            <a:off x="7420096" y="2332431"/>
            <a:ext cx="257171" cy="267416"/>
          </a:xfrm>
          <a:custGeom>
            <a:avLst/>
            <a:gdLst>
              <a:gd name="connsiteX0" fmla="*/ 198153 w 692417"/>
              <a:gd name="connsiteY0" fmla="*/ 663680 h 720001"/>
              <a:gd name="connsiteX1" fmla="*/ 239787 w 692417"/>
              <a:gd name="connsiteY1" fmla="*/ 663680 h 720001"/>
              <a:gd name="connsiteX2" fmla="*/ 295235 w 692417"/>
              <a:gd name="connsiteY2" fmla="*/ 663680 h 720001"/>
              <a:gd name="connsiteX3" fmla="*/ 397182 w 692417"/>
              <a:gd name="connsiteY3" fmla="*/ 663680 h 720001"/>
              <a:gd name="connsiteX4" fmla="*/ 452630 w 692417"/>
              <a:gd name="connsiteY4" fmla="*/ 663680 h 720001"/>
              <a:gd name="connsiteX5" fmla="*/ 494264 w 692417"/>
              <a:gd name="connsiteY5" fmla="*/ 663680 h 720001"/>
              <a:gd name="connsiteX6" fmla="*/ 522425 w 692417"/>
              <a:gd name="connsiteY6" fmla="*/ 691841 h 720001"/>
              <a:gd name="connsiteX7" fmla="*/ 494264 w 692417"/>
              <a:gd name="connsiteY7" fmla="*/ 720001 h 720001"/>
              <a:gd name="connsiteX8" fmla="*/ 452630 w 692417"/>
              <a:gd name="connsiteY8" fmla="*/ 720001 h 720001"/>
              <a:gd name="connsiteX9" fmla="*/ 397182 w 692417"/>
              <a:gd name="connsiteY9" fmla="*/ 720001 h 720001"/>
              <a:gd name="connsiteX10" fmla="*/ 295235 w 692417"/>
              <a:gd name="connsiteY10" fmla="*/ 720001 h 720001"/>
              <a:gd name="connsiteX11" fmla="*/ 239787 w 692417"/>
              <a:gd name="connsiteY11" fmla="*/ 720001 h 720001"/>
              <a:gd name="connsiteX12" fmla="*/ 198153 w 692417"/>
              <a:gd name="connsiteY12" fmla="*/ 720001 h 720001"/>
              <a:gd name="connsiteX13" fmla="*/ 169992 w 692417"/>
              <a:gd name="connsiteY13" fmla="*/ 691841 h 720001"/>
              <a:gd name="connsiteX14" fmla="*/ 198153 w 692417"/>
              <a:gd name="connsiteY14" fmla="*/ 663680 h 720001"/>
              <a:gd name="connsiteX15" fmla="*/ 154400 w 692417"/>
              <a:gd name="connsiteY15" fmla="*/ 572143 h 720001"/>
              <a:gd name="connsiteX16" fmla="*/ 154241 w 692417"/>
              <a:gd name="connsiteY16" fmla="*/ 572597 h 720001"/>
              <a:gd name="connsiteX17" fmla="*/ 160423 w 692417"/>
              <a:gd name="connsiteY17" fmla="*/ 572597 h 720001"/>
              <a:gd name="connsiteX18" fmla="*/ 346215 w 692417"/>
              <a:gd name="connsiteY18" fmla="*/ 0 h 720001"/>
              <a:gd name="connsiteX19" fmla="*/ 456041 w 692417"/>
              <a:gd name="connsiteY19" fmla="*/ 22341 h 720001"/>
              <a:gd name="connsiteX20" fmla="*/ 545873 w 692417"/>
              <a:gd name="connsiteY20" fmla="*/ 82980 h 720001"/>
              <a:gd name="connsiteX21" fmla="*/ 606513 w 692417"/>
              <a:gd name="connsiteY21" fmla="*/ 172812 h 720001"/>
              <a:gd name="connsiteX22" fmla="*/ 628853 w 692417"/>
              <a:gd name="connsiteY22" fmla="*/ 282638 h 720001"/>
              <a:gd name="connsiteX23" fmla="*/ 628853 w 692417"/>
              <a:gd name="connsiteY23" fmla="*/ 493091 h 720001"/>
              <a:gd name="connsiteX24" fmla="*/ 687990 w 692417"/>
              <a:gd name="connsiteY24" fmla="*/ 585551 h 720001"/>
              <a:gd name="connsiteX25" fmla="*/ 688929 w 692417"/>
              <a:gd name="connsiteY25" fmla="*/ 614275 h 720001"/>
              <a:gd name="connsiteX26" fmla="*/ 664336 w 692417"/>
              <a:gd name="connsiteY26" fmla="*/ 628918 h 720001"/>
              <a:gd name="connsiteX27" fmla="*/ 28189 w 692417"/>
              <a:gd name="connsiteY27" fmla="*/ 628918 h 720001"/>
              <a:gd name="connsiteX28" fmla="*/ 3596 w 692417"/>
              <a:gd name="connsiteY28" fmla="*/ 614462 h 720001"/>
              <a:gd name="connsiteX29" fmla="*/ 4159 w 692417"/>
              <a:gd name="connsiteY29" fmla="*/ 585927 h 720001"/>
              <a:gd name="connsiteX30" fmla="*/ 63578 w 692417"/>
              <a:gd name="connsiteY30" fmla="*/ 489336 h 720001"/>
              <a:gd name="connsiteX31" fmla="*/ 63578 w 692417"/>
              <a:gd name="connsiteY31" fmla="*/ 282638 h 720001"/>
              <a:gd name="connsiteX32" fmla="*/ 85919 w 692417"/>
              <a:gd name="connsiteY32" fmla="*/ 172812 h 720001"/>
              <a:gd name="connsiteX33" fmla="*/ 146558 w 692417"/>
              <a:gd name="connsiteY33" fmla="*/ 82980 h 720001"/>
              <a:gd name="connsiteX34" fmla="*/ 236389 w 692417"/>
              <a:gd name="connsiteY34" fmla="*/ 22341 h 720001"/>
              <a:gd name="connsiteX35" fmla="*/ 346215 w 692417"/>
              <a:gd name="connsiteY35" fmla="*/ 0 h 720001"/>
            </a:gdLst>
            <a:ahLst/>
            <a:cxnLst/>
            <a:rect l="l" t="t" r="r" b="b"/>
            <a:pathLst>
              <a:path w="692417" h="720001">
                <a:moveTo>
                  <a:pt x="198153" y="663680"/>
                </a:moveTo>
                <a:lnTo>
                  <a:pt x="239787" y="663680"/>
                </a:lnTo>
                <a:lnTo>
                  <a:pt x="295235" y="663680"/>
                </a:lnTo>
                <a:lnTo>
                  <a:pt x="397182" y="663680"/>
                </a:lnTo>
                <a:lnTo>
                  <a:pt x="452630" y="663680"/>
                </a:lnTo>
                <a:lnTo>
                  <a:pt x="494264" y="663680"/>
                </a:lnTo>
                <a:cubicBezTo>
                  <a:pt x="509847" y="663680"/>
                  <a:pt x="522425" y="676259"/>
                  <a:pt x="522425" y="691841"/>
                </a:cubicBezTo>
                <a:cubicBezTo>
                  <a:pt x="522425" y="707423"/>
                  <a:pt x="509753" y="720001"/>
                  <a:pt x="494264" y="720001"/>
                </a:cubicBezTo>
                <a:lnTo>
                  <a:pt x="452630" y="720001"/>
                </a:lnTo>
                <a:lnTo>
                  <a:pt x="397182" y="720001"/>
                </a:lnTo>
                <a:lnTo>
                  <a:pt x="295235" y="720001"/>
                </a:lnTo>
                <a:lnTo>
                  <a:pt x="239787" y="720001"/>
                </a:lnTo>
                <a:lnTo>
                  <a:pt x="198153" y="720001"/>
                </a:lnTo>
                <a:cubicBezTo>
                  <a:pt x="182571" y="720001"/>
                  <a:pt x="169992" y="707423"/>
                  <a:pt x="169992" y="691841"/>
                </a:cubicBezTo>
                <a:cubicBezTo>
                  <a:pt x="169992" y="676259"/>
                  <a:pt x="182571" y="663680"/>
                  <a:pt x="198153" y="663680"/>
                </a:cubicBezTo>
                <a:close/>
                <a:moveTo>
                  <a:pt x="154400" y="572143"/>
                </a:moveTo>
                <a:lnTo>
                  <a:pt x="154241" y="572597"/>
                </a:lnTo>
                <a:lnTo>
                  <a:pt x="160423" y="572597"/>
                </a:lnTo>
                <a:close/>
                <a:moveTo>
                  <a:pt x="346215" y="0"/>
                </a:moveTo>
                <a:cubicBezTo>
                  <a:pt x="384232" y="0"/>
                  <a:pt x="421122" y="7510"/>
                  <a:pt x="456041" y="22341"/>
                </a:cubicBezTo>
                <a:cubicBezTo>
                  <a:pt x="489646" y="36609"/>
                  <a:pt x="519872" y="57072"/>
                  <a:pt x="545873" y="82980"/>
                </a:cubicBezTo>
                <a:cubicBezTo>
                  <a:pt x="571875" y="108981"/>
                  <a:pt x="592245" y="139207"/>
                  <a:pt x="606513" y="172812"/>
                </a:cubicBezTo>
                <a:cubicBezTo>
                  <a:pt x="621344" y="207637"/>
                  <a:pt x="628853" y="244621"/>
                  <a:pt x="628853" y="282638"/>
                </a:cubicBezTo>
                <a:lnTo>
                  <a:pt x="628853" y="493091"/>
                </a:lnTo>
                <a:lnTo>
                  <a:pt x="687990" y="585551"/>
                </a:lnTo>
                <a:cubicBezTo>
                  <a:pt x="693528" y="594187"/>
                  <a:pt x="693904" y="605263"/>
                  <a:pt x="688929" y="614275"/>
                </a:cubicBezTo>
                <a:cubicBezTo>
                  <a:pt x="684048" y="623286"/>
                  <a:pt x="674567" y="628918"/>
                  <a:pt x="664336" y="628918"/>
                </a:cubicBezTo>
                <a:lnTo>
                  <a:pt x="28189" y="628918"/>
                </a:lnTo>
                <a:cubicBezTo>
                  <a:pt x="17958" y="628918"/>
                  <a:pt x="8571" y="623380"/>
                  <a:pt x="3596" y="614462"/>
                </a:cubicBezTo>
                <a:cubicBezTo>
                  <a:pt x="-1380" y="605545"/>
                  <a:pt x="-1192" y="594656"/>
                  <a:pt x="4159" y="585927"/>
                </a:cubicBezTo>
                <a:lnTo>
                  <a:pt x="63578" y="489336"/>
                </a:lnTo>
                <a:lnTo>
                  <a:pt x="63578" y="282638"/>
                </a:lnTo>
                <a:cubicBezTo>
                  <a:pt x="63578" y="244621"/>
                  <a:pt x="71087" y="207731"/>
                  <a:pt x="85919" y="172812"/>
                </a:cubicBezTo>
                <a:cubicBezTo>
                  <a:pt x="100186" y="139207"/>
                  <a:pt x="120650" y="108981"/>
                  <a:pt x="146558" y="82980"/>
                </a:cubicBezTo>
                <a:cubicBezTo>
                  <a:pt x="172465" y="56978"/>
                  <a:pt x="202785" y="36609"/>
                  <a:pt x="236389" y="22341"/>
                </a:cubicBezTo>
                <a:cubicBezTo>
                  <a:pt x="271214" y="7510"/>
                  <a:pt x="308199" y="0"/>
                  <a:pt x="346215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24" name="标题 1"/>
          <p:cNvSpPr txBox="1"/>
          <p:nvPr/>
        </p:nvSpPr>
        <p:spPr>
          <a:xfrm>
            <a:off x="5414420" y="2332431"/>
            <a:ext cx="294961" cy="267416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ahLst/>
            <a:cxnLst/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25" name="标题 1"/>
          <p:cNvSpPr txBox="1"/>
          <p:nvPr/>
        </p:nvSpPr>
        <p:spPr>
          <a:xfrm>
            <a:off x="3389223" y="2332430"/>
            <a:ext cx="267377" cy="267416"/>
          </a:xfrm>
          <a:custGeom>
            <a:avLst/>
            <a:gdLst>
              <a:gd name="connsiteX0" fmla="*/ 579031 w 719895"/>
              <a:gd name="connsiteY0" fmla="*/ 554022 h 720000"/>
              <a:gd name="connsiteX1" fmla="*/ 596778 w 719895"/>
              <a:gd name="connsiteY1" fmla="*/ 561368 h 720000"/>
              <a:gd name="connsiteX2" fmla="*/ 712550 w 719895"/>
              <a:gd name="connsiteY2" fmla="*/ 677140 h 720000"/>
              <a:gd name="connsiteX3" fmla="*/ 712550 w 719895"/>
              <a:gd name="connsiteY3" fmla="*/ 712634 h 720000"/>
              <a:gd name="connsiteX4" fmla="*/ 694887 w 719895"/>
              <a:gd name="connsiteY4" fmla="*/ 720000 h 720000"/>
              <a:gd name="connsiteX5" fmla="*/ 677140 w 719895"/>
              <a:gd name="connsiteY5" fmla="*/ 712634 h 720000"/>
              <a:gd name="connsiteX6" fmla="*/ 561284 w 719895"/>
              <a:gd name="connsiteY6" fmla="*/ 596861 h 720000"/>
              <a:gd name="connsiteX7" fmla="*/ 561284 w 719895"/>
              <a:gd name="connsiteY7" fmla="*/ 561368 h 720000"/>
              <a:gd name="connsiteX8" fmla="*/ 579031 w 719895"/>
              <a:gd name="connsiteY8" fmla="*/ 554022 h 720000"/>
              <a:gd name="connsiteX9" fmla="*/ 301109 w 719895"/>
              <a:gd name="connsiteY9" fmla="*/ 0 h 720000"/>
              <a:gd name="connsiteX10" fmla="*/ 602219 w 719895"/>
              <a:gd name="connsiteY10" fmla="*/ 301109 h 720000"/>
              <a:gd name="connsiteX11" fmla="*/ 301109 w 719895"/>
              <a:gd name="connsiteY11" fmla="*/ 602219 h 720000"/>
              <a:gd name="connsiteX12" fmla="*/ 0 w 719895"/>
              <a:gd name="connsiteY12" fmla="*/ 301109 h 720000"/>
              <a:gd name="connsiteX13" fmla="*/ 301109 w 719895"/>
              <a:gd name="connsiteY13" fmla="*/ 0 h 720000"/>
            </a:gdLst>
            <a:ahLst/>
            <a:cxnLst/>
            <a:rect l="l" t="t" r="r" b="b"/>
            <a:pathLst>
              <a:path w="719895" h="720000">
                <a:moveTo>
                  <a:pt x="579031" y="554022"/>
                </a:moveTo>
                <a:cubicBezTo>
                  <a:pt x="585456" y="554022"/>
                  <a:pt x="591880" y="556471"/>
                  <a:pt x="596778" y="561368"/>
                </a:cubicBezTo>
                <a:lnTo>
                  <a:pt x="712550" y="677140"/>
                </a:lnTo>
                <a:cubicBezTo>
                  <a:pt x="722344" y="686935"/>
                  <a:pt x="722344" y="702840"/>
                  <a:pt x="712550" y="712634"/>
                </a:cubicBezTo>
                <a:cubicBezTo>
                  <a:pt x="707778" y="717573"/>
                  <a:pt x="701333" y="720000"/>
                  <a:pt x="694887" y="720000"/>
                </a:cubicBezTo>
                <a:cubicBezTo>
                  <a:pt x="688441" y="720000"/>
                  <a:pt x="681995" y="717573"/>
                  <a:pt x="677140" y="712634"/>
                </a:cubicBezTo>
                <a:lnTo>
                  <a:pt x="561284" y="596861"/>
                </a:lnTo>
                <a:cubicBezTo>
                  <a:pt x="551490" y="587067"/>
                  <a:pt x="551490" y="571162"/>
                  <a:pt x="561284" y="561368"/>
                </a:cubicBezTo>
                <a:cubicBezTo>
                  <a:pt x="566181" y="556471"/>
                  <a:pt x="572606" y="554022"/>
                  <a:pt x="579031" y="554022"/>
                </a:cubicBezTo>
                <a:close/>
                <a:moveTo>
                  <a:pt x="301109" y="0"/>
                </a:moveTo>
                <a:cubicBezTo>
                  <a:pt x="467443" y="0"/>
                  <a:pt x="602219" y="134859"/>
                  <a:pt x="602219" y="301109"/>
                </a:cubicBezTo>
                <a:cubicBezTo>
                  <a:pt x="602219" y="467443"/>
                  <a:pt x="467443" y="602219"/>
                  <a:pt x="301109" y="602219"/>
                </a:cubicBezTo>
                <a:cubicBezTo>
                  <a:pt x="134775" y="602219"/>
                  <a:pt x="0" y="467443"/>
                  <a:pt x="0" y="301109"/>
                </a:cubicBezTo>
                <a:cubicBezTo>
                  <a:pt x="0" y="134775"/>
                  <a:pt x="134775" y="0"/>
                  <a:pt x="301109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26" name="标题 1"/>
          <p:cNvSpPr txBox="1"/>
          <p:nvPr/>
        </p:nvSpPr>
        <p:spPr>
          <a:xfrm rot="10800000" flipH="1" flipV="1">
            <a:off x="1348545" y="2352955"/>
            <a:ext cx="276331" cy="267416"/>
          </a:xfrm>
          <a:custGeom>
            <a:avLst/>
            <a:gdLst>
              <a:gd name="connsiteX0" fmla="*/ 311954 w 744004"/>
              <a:gd name="connsiteY0" fmla="*/ 337123 h 720001"/>
              <a:gd name="connsiteX1" fmla="*/ 168770 w 744004"/>
              <a:gd name="connsiteY1" fmla="*/ 337123 h 720001"/>
              <a:gd name="connsiteX2" fmla="*/ 49673 w 744004"/>
              <a:gd name="connsiteY2" fmla="*/ 287618 h 720001"/>
              <a:gd name="connsiteX3" fmla="*/ 167 w 744004"/>
              <a:gd name="connsiteY3" fmla="*/ 168520 h 720001"/>
              <a:gd name="connsiteX4" fmla="*/ 49590 w 744004"/>
              <a:gd name="connsiteY4" fmla="*/ 49507 h 720001"/>
              <a:gd name="connsiteX5" fmla="*/ 168687 w 744004"/>
              <a:gd name="connsiteY5" fmla="*/ 0 h 720001"/>
              <a:gd name="connsiteX6" fmla="*/ 287784 w 744004"/>
              <a:gd name="connsiteY6" fmla="*/ 49507 h 720001"/>
              <a:gd name="connsiteX7" fmla="*/ 337290 w 744004"/>
              <a:gd name="connsiteY7" fmla="*/ 168604 h 720001"/>
              <a:gd name="connsiteX8" fmla="*/ 337290 w 744004"/>
              <a:gd name="connsiteY8" fmla="*/ 311787 h 720001"/>
              <a:gd name="connsiteX9" fmla="*/ 311954 w 744004"/>
              <a:gd name="connsiteY9" fmla="*/ 337123 h 720001"/>
              <a:gd name="connsiteX10" fmla="*/ 575401 w 744004"/>
              <a:gd name="connsiteY10" fmla="*/ 337207 h 720001"/>
              <a:gd name="connsiteX11" fmla="*/ 432218 w 744004"/>
              <a:gd name="connsiteY11" fmla="*/ 337207 h 720001"/>
              <a:gd name="connsiteX12" fmla="*/ 406882 w 744004"/>
              <a:gd name="connsiteY12" fmla="*/ 311870 h 720001"/>
              <a:gd name="connsiteX13" fmla="*/ 406882 w 744004"/>
              <a:gd name="connsiteY13" fmla="*/ 168687 h 720001"/>
              <a:gd name="connsiteX14" fmla="*/ 456387 w 744004"/>
              <a:gd name="connsiteY14" fmla="*/ 49590 h 720001"/>
              <a:gd name="connsiteX15" fmla="*/ 575401 w 744004"/>
              <a:gd name="connsiteY15" fmla="*/ 0 h 720001"/>
              <a:gd name="connsiteX16" fmla="*/ 694498 w 744004"/>
              <a:gd name="connsiteY16" fmla="*/ 49507 h 720001"/>
              <a:gd name="connsiteX17" fmla="*/ 744004 w 744004"/>
              <a:gd name="connsiteY17" fmla="*/ 168604 h 720001"/>
              <a:gd name="connsiteX18" fmla="*/ 694498 w 744004"/>
              <a:gd name="connsiteY18" fmla="*/ 287701 h 720001"/>
              <a:gd name="connsiteX19" fmla="*/ 575401 w 744004"/>
              <a:gd name="connsiteY19" fmla="*/ 337207 h 720001"/>
              <a:gd name="connsiteX20" fmla="*/ 168604 w 744004"/>
              <a:gd name="connsiteY20" fmla="*/ 720001 h 720001"/>
              <a:gd name="connsiteX21" fmla="*/ 49507 w 744004"/>
              <a:gd name="connsiteY21" fmla="*/ 670495 h 720001"/>
              <a:gd name="connsiteX22" fmla="*/ 0 w 744004"/>
              <a:gd name="connsiteY22" fmla="*/ 551398 h 720001"/>
              <a:gd name="connsiteX23" fmla="*/ 49507 w 744004"/>
              <a:gd name="connsiteY23" fmla="*/ 432301 h 720001"/>
              <a:gd name="connsiteX24" fmla="*/ 168687 w 744004"/>
              <a:gd name="connsiteY24" fmla="*/ 382879 h 720001"/>
              <a:gd name="connsiteX25" fmla="*/ 311871 w 744004"/>
              <a:gd name="connsiteY25" fmla="*/ 382879 h 720001"/>
              <a:gd name="connsiteX26" fmla="*/ 337207 w 744004"/>
              <a:gd name="connsiteY26" fmla="*/ 408215 h 720001"/>
              <a:gd name="connsiteX27" fmla="*/ 337207 w 744004"/>
              <a:gd name="connsiteY27" fmla="*/ 551398 h 720001"/>
              <a:gd name="connsiteX28" fmla="*/ 287701 w 744004"/>
              <a:gd name="connsiteY28" fmla="*/ 670495 h 720001"/>
              <a:gd name="connsiteX29" fmla="*/ 168604 w 744004"/>
              <a:gd name="connsiteY29" fmla="*/ 720001 h 720001"/>
              <a:gd name="connsiteX30" fmla="*/ 575401 w 744004"/>
              <a:gd name="connsiteY30" fmla="*/ 720001 h 720001"/>
              <a:gd name="connsiteX31" fmla="*/ 456304 w 744004"/>
              <a:gd name="connsiteY31" fmla="*/ 670495 h 720001"/>
              <a:gd name="connsiteX32" fmla="*/ 406798 w 744004"/>
              <a:gd name="connsiteY32" fmla="*/ 551398 h 720001"/>
              <a:gd name="connsiteX33" fmla="*/ 406798 w 744004"/>
              <a:gd name="connsiteY33" fmla="*/ 408215 h 720001"/>
              <a:gd name="connsiteX34" fmla="*/ 432218 w 744004"/>
              <a:gd name="connsiteY34" fmla="*/ 382879 h 720001"/>
              <a:gd name="connsiteX35" fmla="*/ 575401 w 744004"/>
              <a:gd name="connsiteY35" fmla="*/ 382879 h 720001"/>
              <a:gd name="connsiteX36" fmla="*/ 694498 w 744004"/>
              <a:gd name="connsiteY36" fmla="*/ 432385 h 720001"/>
              <a:gd name="connsiteX37" fmla="*/ 744004 w 744004"/>
              <a:gd name="connsiteY37" fmla="*/ 551398 h 720001"/>
              <a:gd name="connsiteX38" fmla="*/ 694498 w 744004"/>
              <a:gd name="connsiteY38" fmla="*/ 670495 h 720001"/>
              <a:gd name="connsiteX39" fmla="*/ 575401 w 744004"/>
              <a:gd name="connsiteY39" fmla="*/ 720001 h 720001"/>
            </a:gdLst>
            <a:ahLst/>
            <a:cxnLst/>
            <a:rect l="l" t="t" r="r" b="b"/>
            <a:pathLst>
              <a:path w="744004" h="720001">
                <a:moveTo>
                  <a:pt x="311954" y="337123"/>
                </a:moveTo>
                <a:lnTo>
                  <a:pt x="168770" y="337123"/>
                </a:lnTo>
                <a:cubicBezTo>
                  <a:pt x="123932" y="337123"/>
                  <a:pt x="81594" y="319538"/>
                  <a:pt x="49673" y="287618"/>
                </a:cubicBezTo>
                <a:cubicBezTo>
                  <a:pt x="17753" y="255697"/>
                  <a:pt x="167" y="213442"/>
                  <a:pt x="167" y="168520"/>
                </a:cubicBezTo>
                <a:cubicBezTo>
                  <a:pt x="167" y="123598"/>
                  <a:pt x="17669" y="81427"/>
                  <a:pt x="49590" y="49507"/>
                </a:cubicBezTo>
                <a:cubicBezTo>
                  <a:pt x="81510" y="17586"/>
                  <a:pt x="123848" y="0"/>
                  <a:pt x="168687" y="0"/>
                </a:cubicBezTo>
                <a:cubicBezTo>
                  <a:pt x="213526" y="0"/>
                  <a:pt x="255864" y="17586"/>
                  <a:pt x="287784" y="49507"/>
                </a:cubicBezTo>
                <a:cubicBezTo>
                  <a:pt x="319705" y="81427"/>
                  <a:pt x="337290" y="123682"/>
                  <a:pt x="337290" y="168604"/>
                </a:cubicBezTo>
                <a:lnTo>
                  <a:pt x="337290" y="311787"/>
                </a:lnTo>
                <a:cubicBezTo>
                  <a:pt x="337290" y="325789"/>
                  <a:pt x="325956" y="337123"/>
                  <a:pt x="311954" y="337123"/>
                </a:cubicBezTo>
                <a:close/>
                <a:moveTo>
                  <a:pt x="575401" y="337207"/>
                </a:moveTo>
                <a:lnTo>
                  <a:pt x="432218" y="337207"/>
                </a:lnTo>
                <a:cubicBezTo>
                  <a:pt x="418216" y="337207"/>
                  <a:pt x="406882" y="325872"/>
                  <a:pt x="406882" y="311870"/>
                </a:cubicBezTo>
                <a:lnTo>
                  <a:pt x="406882" y="168687"/>
                </a:lnTo>
                <a:cubicBezTo>
                  <a:pt x="406882" y="123849"/>
                  <a:pt x="424467" y="81510"/>
                  <a:pt x="456387" y="49590"/>
                </a:cubicBezTo>
                <a:cubicBezTo>
                  <a:pt x="488308" y="17669"/>
                  <a:pt x="530563" y="0"/>
                  <a:pt x="575401" y="0"/>
                </a:cubicBezTo>
                <a:cubicBezTo>
                  <a:pt x="620240" y="0"/>
                  <a:pt x="662578" y="17586"/>
                  <a:pt x="694498" y="49507"/>
                </a:cubicBezTo>
                <a:cubicBezTo>
                  <a:pt x="726419" y="81427"/>
                  <a:pt x="744004" y="123765"/>
                  <a:pt x="744004" y="168604"/>
                </a:cubicBezTo>
                <a:cubicBezTo>
                  <a:pt x="744004" y="213442"/>
                  <a:pt x="726419" y="255780"/>
                  <a:pt x="694498" y="287701"/>
                </a:cubicBezTo>
                <a:cubicBezTo>
                  <a:pt x="662578" y="319621"/>
                  <a:pt x="620323" y="337207"/>
                  <a:pt x="575401" y="337207"/>
                </a:cubicBezTo>
                <a:close/>
                <a:moveTo>
                  <a:pt x="168604" y="720001"/>
                </a:moveTo>
                <a:cubicBezTo>
                  <a:pt x="123682" y="720001"/>
                  <a:pt x="81427" y="702416"/>
                  <a:pt x="49507" y="670495"/>
                </a:cubicBezTo>
                <a:cubicBezTo>
                  <a:pt x="17586" y="638575"/>
                  <a:pt x="0" y="596320"/>
                  <a:pt x="0" y="551398"/>
                </a:cubicBezTo>
                <a:cubicBezTo>
                  <a:pt x="0" y="506476"/>
                  <a:pt x="17586" y="464221"/>
                  <a:pt x="49507" y="432301"/>
                </a:cubicBezTo>
                <a:cubicBezTo>
                  <a:pt x="81510" y="400464"/>
                  <a:pt x="123848" y="382879"/>
                  <a:pt x="168687" y="382879"/>
                </a:cubicBezTo>
                <a:lnTo>
                  <a:pt x="311871" y="382879"/>
                </a:lnTo>
                <a:cubicBezTo>
                  <a:pt x="325872" y="382879"/>
                  <a:pt x="337207" y="394297"/>
                  <a:pt x="337207" y="408215"/>
                </a:cubicBezTo>
                <a:lnTo>
                  <a:pt x="337207" y="551398"/>
                </a:lnTo>
                <a:cubicBezTo>
                  <a:pt x="337207" y="596237"/>
                  <a:pt x="319621" y="638575"/>
                  <a:pt x="287701" y="670495"/>
                </a:cubicBezTo>
                <a:cubicBezTo>
                  <a:pt x="255781" y="702416"/>
                  <a:pt x="213526" y="720001"/>
                  <a:pt x="168604" y="720001"/>
                </a:cubicBezTo>
                <a:close/>
                <a:moveTo>
                  <a:pt x="575401" y="720001"/>
                </a:moveTo>
                <a:cubicBezTo>
                  <a:pt x="530563" y="720001"/>
                  <a:pt x="488224" y="702416"/>
                  <a:pt x="456304" y="670495"/>
                </a:cubicBezTo>
                <a:cubicBezTo>
                  <a:pt x="424383" y="638575"/>
                  <a:pt x="406798" y="596320"/>
                  <a:pt x="406798" y="551398"/>
                </a:cubicBezTo>
                <a:lnTo>
                  <a:pt x="406798" y="408215"/>
                </a:lnTo>
                <a:cubicBezTo>
                  <a:pt x="406882" y="394213"/>
                  <a:pt x="418216" y="382879"/>
                  <a:pt x="432218" y="382879"/>
                </a:cubicBezTo>
                <a:lnTo>
                  <a:pt x="575401" y="382879"/>
                </a:lnTo>
                <a:cubicBezTo>
                  <a:pt x="620240" y="382879"/>
                  <a:pt x="662578" y="400464"/>
                  <a:pt x="694498" y="432385"/>
                </a:cubicBezTo>
                <a:cubicBezTo>
                  <a:pt x="726419" y="464305"/>
                  <a:pt x="744004" y="506560"/>
                  <a:pt x="744004" y="551398"/>
                </a:cubicBezTo>
                <a:cubicBezTo>
                  <a:pt x="744004" y="596237"/>
                  <a:pt x="726419" y="638575"/>
                  <a:pt x="694498" y="670495"/>
                </a:cubicBezTo>
                <a:cubicBezTo>
                  <a:pt x="662578" y="702416"/>
                  <a:pt x="620323" y="720001"/>
                  <a:pt x="575401" y="72000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27" name="标题 1"/>
          <p:cNvSpPr txBox="1"/>
          <p:nvPr/>
        </p:nvSpPr>
        <p:spPr>
          <a:xfrm>
            <a:off x="495300" y="1223775"/>
            <a:ext cx="8143875" cy="351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总结</a:t>
            </a:r>
            <a:endParaRPr kumimoji="1" lang="zh-CN" altLang="en-US" sz="1800"/>
          </a:p>
        </p:txBody>
      </p:sp>
      <p:sp>
        <p:nvSpPr>
          <p:cNvPr id="28" name="标题 1"/>
          <p:cNvSpPr txBox="1"/>
          <p:nvPr/>
        </p:nvSpPr>
        <p:spPr>
          <a:xfrm>
            <a:off x="-313216" y="1034749"/>
            <a:ext cx="626431" cy="540026"/>
          </a:xfrm>
          <a:prstGeom prst="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  <p:sp>
        <p:nvSpPr>
          <p:cNvPr id="29" name="标题 1"/>
          <p:cNvSpPr txBox="1"/>
          <p:nvPr/>
        </p:nvSpPr>
        <p:spPr>
          <a:xfrm rot="10800000">
            <a:off x="87247" y="1034749"/>
            <a:ext cx="408053" cy="351770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8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22F794CA-D588-3733-7FF2-EF6003FDC4F6}"/>
              </a:ext>
            </a:extLst>
          </p:cNvPr>
          <p:cNvSpPr/>
          <p:nvPr/>
        </p:nvSpPr>
        <p:spPr>
          <a:xfrm>
            <a:off x="3080248" y="2406657"/>
            <a:ext cx="2983509" cy="156966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0" hangingPunct="0">
              <a:defRPr/>
            </a:pPr>
            <a:r>
              <a:rPr lang="zh-CN" altLang="en-US" sz="9600" i="0" spc="50" dirty="0">
                <a:ln w="11430"/>
                <a:gradFill>
                  <a:gsLst>
                    <a:gs pos="25000">
                      <a:srgbClr val="969696">
                        <a:satMod val="155000"/>
                      </a:srgbClr>
                    </a:gs>
                    <a:gs pos="100000">
                      <a:srgbClr val="969696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anose="02020603050405020304" pitchFamily="18" charset="0"/>
                <a:ea typeface="+mn-ea"/>
              </a:rPr>
              <a:t>谢 谢</a:t>
            </a:r>
            <a:endParaRPr lang="en-US" sz="9600" i="0" spc="50" dirty="0">
              <a:ln w="11430"/>
              <a:gradFill>
                <a:gsLst>
                  <a:gs pos="25000">
                    <a:srgbClr val="969696">
                      <a:satMod val="155000"/>
                    </a:srgbClr>
                  </a:gs>
                  <a:gs pos="100000">
                    <a:srgbClr val="969696">
                      <a:shade val="45000"/>
                      <a:satMod val="165000"/>
                    </a:srgb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imes New Roman" panose="02020603050405020304" pitchFamily="18" charset="0"/>
              <a:ea typeface="+mn-ea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Times New Roman"/>
        <a:ea typeface="华文中宋"/>
        <a:cs typeface=""/>
      </a:majorFont>
      <a:minorFont>
        <a:latin typeface="Times New Roman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1253</TotalTime>
  <Words>2907</Words>
  <Application>Microsoft Office PowerPoint</Application>
  <PresentationFormat>全屏显示(4:3)</PresentationFormat>
  <Paragraphs>251</Paragraphs>
  <Slides>54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3" baseType="lpstr">
      <vt:lpstr>OPPOSans H</vt:lpstr>
      <vt:lpstr>Source Han Sans</vt:lpstr>
      <vt:lpstr>Source Han Sans CN Bold</vt:lpstr>
      <vt:lpstr>宋体</vt:lpstr>
      <vt:lpstr>微软雅黑</vt:lpstr>
      <vt:lpstr>Arial</vt:lpstr>
      <vt:lpstr>Times New Roman</vt:lpstr>
      <vt:lpstr>Viner Hand ITC</vt:lpstr>
      <vt:lpstr>1_默认设计模板</vt:lpstr>
      <vt:lpstr>PowerPoint 演示文稿</vt:lpstr>
      <vt:lpstr>主要内容</vt:lpstr>
      <vt:lpstr>时间序列定义与示例</vt:lpstr>
      <vt:lpstr>时间的属性</vt:lpstr>
      <vt:lpstr>时序数据的特征</vt:lpstr>
      <vt:lpstr>时序数据可视化方法</vt:lpstr>
      <vt:lpstr>时序数据可视化方法</vt:lpstr>
      <vt:lpstr>时序数据可视化方法</vt:lpstr>
      <vt:lpstr>时序数据可视化方法</vt:lpstr>
      <vt:lpstr>时序数据可视化方法</vt:lpstr>
      <vt:lpstr>时序数据可视化方法</vt:lpstr>
      <vt:lpstr>时序数据可视化方法</vt:lpstr>
      <vt:lpstr>显示随时间变化情况</vt:lpstr>
      <vt:lpstr>x轴 + 线型或条形图</vt:lpstr>
      <vt:lpstr>x轴 + 热图</vt:lpstr>
      <vt:lpstr>y轴 + 密度图</vt:lpstr>
      <vt:lpstr>动画 + 散点图</vt:lpstr>
      <vt:lpstr>条形图 + 小多图</vt:lpstr>
      <vt:lpstr>时间序列数据的组成</vt:lpstr>
      <vt:lpstr>趋势项</vt:lpstr>
      <vt:lpstr>季节项</vt:lpstr>
      <vt:lpstr>循环项</vt:lpstr>
      <vt:lpstr>随机项</vt:lpstr>
      <vt:lpstr>缺失值</vt:lpstr>
      <vt:lpstr>缺失值处理方法</vt:lpstr>
      <vt:lpstr>缺失值处理的影响</vt:lpstr>
      <vt:lpstr>时间序列分解</vt:lpstr>
      <vt:lpstr>时间序列分解</vt:lpstr>
      <vt:lpstr>累加分解</vt:lpstr>
      <vt:lpstr>累加分解</vt:lpstr>
      <vt:lpstr>举例</vt:lpstr>
      <vt:lpstr>成因的分解</vt:lpstr>
      <vt:lpstr>累乘分解</vt:lpstr>
      <vt:lpstr>累乘分解</vt:lpstr>
      <vt:lpstr>累乘分解</vt:lpstr>
      <vt:lpstr>举例</vt:lpstr>
      <vt:lpstr>成因的分解</vt:lpstr>
      <vt:lpstr>移动窗口方法</vt:lpstr>
      <vt:lpstr>移动窗口方法</vt:lpstr>
      <vt:lpstr>移动窗口方法</vt:lpstr>
      <vt:lpstr>简单移动平均</vt:lpstr>
      <vt:lpstr>简单移动平均</vt:lpstr>
      <vt:lpstr>最大、最小</vt:lpstr>
      <vt:lpstr>移动窗口统计量</vt:lpstr>
      <vt:lpstr>移动窗口统计量</vt:lpstr>
      <vt:lpstr>移动窗口统计量</vt:lpstr>
      <vt:lpstr>指数加权移动平均</vt:lpstr>
      <vt:lpstr>指数加权移动平均</vt:lpstr>
      <vt:lpstr>指数加权移动平均</vt:lpstr>
      <vt:lpstr>展望</vt:lpstr>
      <vt:lpstr>PowerPoint 演示文稿</vt:lpstr>
      <vt:lpstr>PowerPoint 演示文稿</vt:lpstr>
      <vt:lpstr>PowerPoint 演示文稿</vt:lpstr>
      <vt:lpstr>PowerPoint 演示文稿</vt:lpstr>
    </vt:vector>
  </TitlesOfParts>
  <Company>d04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lzy</dc:creator>
  <cp:lastModifiedBy>建议</cp:lastModifiedBy>
  <cp:revision>3177</cp:revision>
  <dcterms:created xsi:type="dcterms:W3CDTF">2006-10-16T12:36:00Z</dcterms:created>
  <dcterms:modified xsi:type="dcterms:W3CDTF">2025-04-10T00:04:34Z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2052-10.1.0.7521</vt:lpwstr>
  </property>
</Properties>
</file>