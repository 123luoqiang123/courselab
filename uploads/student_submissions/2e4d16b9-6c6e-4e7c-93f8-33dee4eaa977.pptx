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67" r:id="rId3"/>
    <p:sldId id="275" r:id="rId4"/>
    <p:sldId id="266" r:id="rId5"/>
    <p:sldId id="268" r:id="rId6"/>
    <p:sldId id="277" r:id="rId7"/>
    <p:sldId id="278" r:id="rId8"/>
    <p:sldId id="279" r:id="rId9"/>
    <p:sldId id="263" r:id="rId10"/>
    <p:sldId id="264" r:id="rId11"/>
    <p:sldId id="258" r:id="rId12"/>
    <p:sldId id="259" r:id="rId13"/>
    <p:sldId id="260" r:id="rId14"/>
    <p:sldId id="261" r:id="rId15"/>
    <p:sldId id="272" r:id="rId16"/>
    <p:sldId id="271" r:id="rId17"/>
    <p:sldId id="269" r:id="rId18"/>
    <p:sldId id="273" r:id="rId19"/>
    <p:sldId id="274" r:id="rId20"/>
    <p:sldId id="265" r:id="rId21"/>
    <p:sldId id="280" r:id="rId22"/>
    <p:sldId id="281" r:id="rId23"/>
    <p:sldId id="282"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9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90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4.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5.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66.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68.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0.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2.xml"/></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12.wmf"/><Relationship Id="rId7" Type="http://schemas.openxmlformats.org/officeDocument/2006/relationships/oleObject" Target="../embeddings/oleObject4.bin"/><Relationship Id="rId6" Type="http://schemas.openxmlformats.org/officeDocument/2006/relationships/image" Target="../media/image11.wmf"/><Relationship Id="rId5" Type="http://schemas.openxmlformats.org/officeDocument/2006/relationships/oleObject" Target="../embeddings/oleObject3.bin"/><Relationship Id="rId4" Type="http://schemas.openxmlformats.org/officeDocument/2006/relationships/image" Target="../media/image10.wmf"/><Relationship Id="rId3" Type="http://schemas.openxmlformats.org/officeDocument/2006/relationships/oleObject" Target="../embeddings/oleObject2.bin"/><Relationship Id="rId2" Type="http://schemas.openxmlformats.org/officeDocument/2006/relationships/image" Target="../media/image9.wmf"/><Relationship Id="rId15" Type="http://schemas.openxmlformats.org/officeDocument/2006/relationships/vmlDrawing" Target="../drawings/vmlDrawing1.vml"/><Relationship Id="rId14" Type="http://schemas.openxmlformats.org/officeDocument/2006/relationships/slideLayout" Target="../slideLayouts/slideLayout7.xml"/><Relationship Id="rId13" Type="http://schemas.openxmlformats.org/officeDocument/2006/relationships/tags" Target="../tags/tag73.xml"/><Relationship Id="rId12" Type="http://schemas.openxmlformats.org/officeDocument/2006/relationships/image" Target="../media/image14.wmf"/><Relationship Id="rId11" Type="http://schemas.openxmlformats.org/officeDocument/2006/relationships/oleObject" Target="../embeddings/oleObject6.bin"/><Relationship Id="rId10" Type="http://schemas.openxmlformats.org/officeDocument/2006/relationships/image" Target="../media/image13.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5.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6.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7.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8.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79.xml"/><Relationship Id="rId2" Type="http://schemas.openxmlformats.org/officeDocument/2006/relationships/image" Target="../media/image22.png"/><Relationship Id="rId1"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185545" y="889000"/>
            <a:ext cx="4064000" cy="460375"/>
          </a:xfrm>
          <a:prstGeom prst="rect">
            <a:avLst/>
          </a:prstGeom>
          <a:noFill/>
        </p:spPr>
        <p:txBody>
          <a:bodyPr wrap="square" rtlCol="0">
            <a:spAutoFit/>
          </a:bodyPr>
          <a:p>
            <a:r>
              <a:rPr lang="zh-CN" altLang="en-US" sz="2400"/>
              <a:t>包饺子中的数学</a:t>
            </a:r>
            <a:endParaRPr lang="zh-CN" altLang="en-US" sz="2400"/>
          </a:p>
        </p:txBody>
      </p:sp>
      <p:sp>
        <p:nvSpPr>
          <p:cNvPr id="4" name="文本框 3"/>
          <p:cNvSpPr txBox="1"/>
          <p:nvPr/>
        </p:nvSpPr>
        <p:spPr>
          <a:xfrm>
            <a:off x="1185545" y="1945005"/>
            <a:ext cx="9695815" cy="3746500"/>
          </a:xfrm>
          <a:prstGeom prst="rect">
            <a:avLst/>
          </a:prstGeom>
          <a:noFill/>
        </p:spPr>
        <p:txBody>
          <a:bodyPr wrap="square" rtlCol="0">
            <a:spAutoFit/>
          </a:bodyPr>
          <a:p>
            <a:pPr>
              <a:lnSpc>
                <a:spcPct val="160000"/>
              </a:lnSpc>
            </a:pPr>
            <a:r>
              <a:rPr lang="zh-CN" altLang="en-US">
                <a:latin typeface="仿宋" panose="02010609060101010101" charset="-122"/>
                <a:ea typeface="仿宋" panose="02010609060101010101" charset="-122"/>
                <a:cs typeface="仿宋" panose="02010609060101010101" charset="-122"/>
              </a:rPr>
              <a:t>通常，用 1</a:t>
            </a:r>
            <a:r>
              <a:rPr lang="en-US" altLang="zh-CN">
                <a:latin typeface="仿宋" panose="02010609060101010101" charset="-122"/>
                <a:ea typeface="仿宋" panose="02010609060101010101" charset="-122"/>
                <a:cs typeface="仿宋" panose="02010609060101010101" charset="-122"/>
              </a:rPr>
              <a:t>kg </a:t>
            </a:r>
            <a:r>
              <a:rPr lang="zh-CN" altLang="en-US">
                <a:latin typeface="仿宋" panose="02010609060101010101" charset="-122"/>
                <a:ea typeface="仿宋" panose="02010609060101010101" charset="-122"/>
                <a:cs typeface="仿宋" panose="02010609060101010101" charset="-122"/>
              </a:rPr>
              <a:t>的面和 1</a:t>
            </a:r>
            <a:r>
              <a:rPr lang="en-US" altLang="zh-CN">
                <a:latin typeface="仿宋" panose="02010609060101010101" charset="-122"/>
                <a:ea typeface="仿宋" panose="02010609060101010101" charset="-122"/>
                <a:cs typeface="仿宋" panose="02010609060101010101" charset="-122"/>
              </a:rPr>
              <a:t>kg </a:t>
            </a:r>
            <a:r>
              <a:rPr lang="zh-CN" altLang="en-US">
                <a:latin typeface="仿宋" panose="02010609060101010101" charset="-122"/>
                <a:ea typeface="仿宋" panose="02010609060101010101" charset="-122"/>
                <a:cs typeface="仿宋" panose="02010609060101010101" charset="-122"/>
              </a:rPr>
              <a:t>的馅，可以包 100 个饺子。现在面的总量不变，但是馅比 1</a:t>
            </a:r>
            <a:r>
              <a:rPr lang="en-US" altLang="zh-CN">
                <a:latin typeface="仿宋" panose="02010609060101010101" charset="-122"/>
                <a:ea typeface="仿宋" panose="02010609060101010101" charset="-122"/>
                <a:cs typeface="仿宋" panose="02010609060101010101" charset="-122"/>
              </a:rPr>
              <a:t>kg </a:t>
            </a:r>
            <a:r>
              <a:rPr lang="zh-CN" altLang="en-US">
                <a:latin typeface="仿宋" panose="02010609060101010101" charset="-122"/>
                <a:ea typeface="仿宋" panose="02010609060101010101" charset="-122"/>
                <a:cs typeface="仿宋" panose="02010609060101010101" charset="-122"/>
              </a:rPr>
              <a:t>多了，为了把馅都包完：</a:t>
            </a:r>
            <a:endParaRPr lang="zh-CN" altLang="en-US">
              <a:latin typeface="仿宋" panose="02010609060101010101" charset="-122"/>
              <a:ea typeface="仿宋" panose="02010609060101010101" charset="-122"/>
              <a:cs typeface="仿宋" panose="02010609060101010101" charset="-122"/>
            </a:endParaRPr>
          </a:p>
          <a:p>
            <a:pPr>
              <a:lnSpc>
                <a:spcPct val="160000"/>
              </a:lnSpc>
            </a:pPr>
            <a:r>
              <a:rPr lang="zh-CN" altLang="en-US">
                <a:latin typeface="仿宋" panose="02010609060101010101" charset="-122"/>
                <a:ea typeface="仿宋" panose="02010609060101010101" charset="-122"/>
                <a:cs typeface="仿宋" panose="02010609060101010101" charset="-122"/>
              </a:rPr>
              <a:t>(1) 直观判断：应该让每个饺子小一些、多包几个，还是每个饺子大一些、少包几个？</a:t>
            </a:r>
            <a:endParaRPr lang="zh-CN" altLang="en-US">
              <a:latin typeface="仿宋" panose="02010609060101010101" charset="-122"/>
              <a:ea typeface="仿宋" panose="02010609060101010101" charset="-122"/>
              <a:cs typeface="仿宋" panose="02010609060101010101" charset="-122"/>
            </a:endParaRPr>
          </a:p>
          <a:p>
            <a:pPr>
              <a:lnSpc>
                <a:spcPct val="160000"/>
              </a:lnSpc>
            </a:pPr>
            <a:r>
              <a:rPr lang="zh-CN" altLang="en-US">
                <a:latin typeface="仿宋" panose="02010609060101010101" charset="-122"/>
                <a:ea typeface="仿宋" panose="02010609060101010101" charset="-122"/>
                <a:cs typeface="仿宋" panose="02010609060101010101" charset="-122"/>
              </a:rPr>
              <a:t>(2) 建立数学模型，说明在面皮总厚度相同、饺子形状相似的前提下，大饺子和小饺子相比，哪种方式能包下更多的馅（即体积更大），并解释原因。</a:t>
            </a:r>
            <a:endParaRPr lang="zh-CN" altLang="en-US">
              <a:latin typeface="仿宋" panose="02010609060101010101" charset="-122"/>
              <a:ea typeface="仿宋" panose="02010609060101010101" charset="-122"/>
              <a:cs typeface="仿宋" panose="02010609060101010101" charset="-122"/>
            </a:endParaRPr>
          </a:p>
          <a:p>
            <a:pPr>
              <a:lnSpc>
                <a:spcPct val="160000"/>
              </a:lnSpc>
            </a:pPr>
            <a:r>
              <a:rPr lang="zh-CN" altLang="en-US">
                <a:latin typeface="仿宋" panose="02010609060101010101" charset="-122"/>
                <a:ea typeface="仿宋" panose="02010609060101010101" charset="-122"/>
                <a:cs typeface="仿宋" panose="02010609060101010101" charset="-122"/>
              </a:rPr>
              <a:t>(3) 已知 100 个饺子能包 1</a:t>
            </a:r>
            <a:r>
              <a:rPr lang="en-US" altLang="zh-CN">
                <a:latin typeface="仿宋" panose="02010609060101010101" charset="-122"/>
                <a:ea typeface="仿宋" panose="02010609060101010101" charset="-122"/>
                <a:cs typeface="仿宋" panose="02010609060101010101" charset="-122"/>
              </a:rPr>
              <a:t>kg </a:t>
            </a:r>
            <a:r>
              <a:rPr lang="zh-CN" altLang="en-US">
                <a:latin typeface="仿宋" panose="02010609060101010101" charset="-122"/>
                <a:ea typeface="仿宋" panose="02010609060101010101" charset="-122"/>
                <a:cs typeface="仿宋" panose="02010609060101010101" charset="-122"/>
              </a:rPr>
              <a:t>的馅，如果改为包 50 个饺子（面皮总量不变、厚度不变），能包多少馅？</a:t>
            </a:r>
            <a:endParaRPr lang="zh-CN" altLang="en-US">
              <a:latin typeface="仿宋" panose="02010609060101010101" charset="-122"/>
              <a:ea typeface="仿宋" panose="02010609060101010101" charset="-122"/>
              <a:cs typeface="仿宋" panose="02010609060101010101" charset="-122"/>
            </a:endParaRPr>
          </a:p>
          <a:p>
            <a:endParaRPr lang="en-US" altLang="zh-CN"/>
          </a:p>
          <a:p>
            <a:endParaRPr lang="zh-CN" alt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2" name="文本框 1"/>
              <p:cNvSpPr txBox="1"/>
              <p:nvPr/>
            </p:nvSpPr>
            <p:spPr>
              <a:xfrm>
                <a:off x="967740" y="751840"/>
                <a:ext cx="10552430" cy="5586095"/>
              </a:xfrm>
              <a:prstGeom prst="rect">
                <a:avLst/>
              </a:prstGeom>
              <a:noFill/>
            </p:spPr>
            <p:txBody>
              <a:bodyPr wrap="square" rtlCol="0" anchor="t">
                <a:noAutofit/>
              </a:bodyPr>
              <a:p>
                <a:pPr>
                  <a:lnSpc>
                    <a:spcPct val="130000"/>
                  </a:lnSpc>
                </a:pPr>
                <a:r>
                  <a:rPr lang="zh-CN" altLang="en-US">
                    <a:latin typeface="仿宋" panose="02010609060101010101" charset="-122"/>
                    <a:ea typeface="仿宋" panose="02010609060101010101" charset="-122"/>
                    <a:cs typeface="仿宋" panose="02010609060101010101" charset="-122"/>
                    <a:sym typeface="+mn-ea"/>
                  </a:rPr>
                  <a:t>解：</a:t>
                </a:r>
                <a:endParaRPr lang="zh-CN" altLang="en-US">
                  <a:latin typeface="仿宋" panose="02010609060101010101" charset="-122"/>
                  <a:ea typeface="仿宋" panose="02010609060101010101" charset="-122"/>
                  <a:cs typeface="仿宋" panose="02010609060101010101" charset="-122"/>
                </a:endParaRPr>
              </a:p>
              <a:p>
                <a:pPr>
                  <a:lnSpc>
                    <a:spcPct val="130000"/>
                  </a:lnSpc>
                </a:pPr>
                <a:r>
                  <a:rPr lang="zh-CN" altLang="en-US">
                    <a:latin typeface="仿宋" panose="02010609060101010101" charset="-122"/>
                    <a:ea typeface="仿宋" panose="02010609060101010101" charset="-122"/>
                    <a:cs typeface="仿宋" panose="02010609060101010101" charset="-122"/>
                    <a:sym typeface="+mn-ea"/>
                  </a:rPr>
                  <a:t>(1) 应该少包几个，每个大些（2分）。</a:t>
                </a:r>
                <a:endParaRPr lang="zh-CN" altLang="en-US">
                  <a:latin typeface="仿宋" panose="02010609060101010101" charset="-122"/>
                  <a:ea typeface="仿宋" panose="02010609060101010101" charset="-122"/>
                  <a:cs typeface="仿宋" panose="02010609060101010101" charset="-122"/>
                </a:endParaRPr>
              </a:p>
              <a:p>
                <a:pPr>
                  <a:lnSpc>
                    <a:spcPct val="130000"/>
                  </a:lnSpc>
                </a:pPr>
                <a:endParaRPr lang="en-US" altLang="zh-CN">
                  <a:latin typeface="仿宋" panose="02010609060101010101" charset="-122"/>
                  <a:ea typeface="仿宋" panose="02010609060101010101" charset="-122"/>
                  <a:cs typeface="仿宋" panose="02010609060101010101" charset="-122"/>
                </a:endParaRPr>
              </a:p>
              <a:p>
                <a:pPr>
                  <a:lnSpc>
                    <a:spcPct val="130000"/>
                  </a:lnSpc>
                </a:pPr>
                <a:r>
                  <a:rPr lang="zh-CN" altLang="en-US">
                    <a:latin typeface="仿宋" panose="02010609060101010101" charset="-122"/>
                    <a:ea typeface="仿宋" panose="02010609060101010101" charset="-122"/>
                    <a:cs typeface="仿宋" panose="02010609060101010101" charset="-122"/>
                    <a:sym typeface="+mn-ea"/>
                  </a:rPr>
                  <a:t>(2) 设 </a:t>
                </a:r>
                <a:r>
                  <a:rPr lang="en-US" altLang="zh-CN">
                    <a:latin typeface="仿宋" panose="02010609060101010101" charset="-122"/>
                    <a:ea typeface="仿宋" panose="02010609060101010101" charset="-122"/>
                    <a:cs typeface="仿宋" panose="02010609060101010101" charset="-122"/>
                    <a:sym typeface="+mn-ea"/>
                  </a:rPr>
                  <a:t>R，S，V </a:t>
                </a:r>
                <a:r>
                  <a:rPr lang="zh-CN" altLang="en-US">
                    <a:latin typeface="仿宋" panose="02010609060101010101" charset="-122"/>
                    <a:ea typeface="仿宋" panose="02010609060101010101" charset="-122"/>
                    <a:cs typeface="仿宋" panose="02010609060101010101" charset="-122"/>
                    <a:sym typeface="+mn-ea"/>
                  </a:rPr>
                  <a:t>表示大饺子半径、表面积及体积；</a:t>
                </a:r>
                <a:r>
                  <a:rPr lang="en-US" altLang="zh-CN">
                    <a:latin typeface="仿宋" panose="02010609060101010101" charset="-122"/>
                    <a:ea typeface="仿宋" panose="02010609060101010101" charset="-122"/>
                    <a:cs typeface="仿宋" panose="02010609060101010101" charset="-122"/>
                    <a:sym typeface="+mn-ea"/>
                  </a:rPr>
                  <a:t>r，s，v </a:t>
                </a:r>
                <a:r>
                  <a:rPr lang="zh-CN" altLang="en-US">
                    <a:latin typeface="仿宋" panose="02010609060101010101" charset="-122"/>
                    <a:ea typeface="仿宋" panose="02010609060101010101" charset="-122"/>
                    <a:cs typeface="仿宋" panose="02010609060101010101" charset="-122"/>
                    <a:sym typeface="+mn-ea"/>
                  </a:rPr>
                  <a:t>表示小饺子半径、表面积及体积，一个大饺子面皮可以分成 </a:t>
                </a:r>
                <a:r>
                  <a:rPr lang="en-US" altLang="zh-CN">
                    <a:latin typeface="仿宋" panose="02010609060101010101" charset="-122"/>
                    <a:ea typeface="仿宋" panose="02010609060101010101" charset="-122"/>
                    <a:cs typeface="仿宋" panose="02010609060101010101" charset="-122"/>
                    <a:sym typeface="+mn-ea"/>
                  </a:rPr>
                  <a:t>n </a:t>
                </a:r>
                <a:r>
                  <a:rPr lang="zh-CN" altLang="en-US">
                    <a:latin typeface="仿宋" panose="02010609060101010101" charset="-122"/>
                    <a:ea typeface="仿宋" panose="02010609060101010101" charset="-122"/>
                    <a:cs typeface="仿宋" panose="02010609060101010101" charset="-122"/>
                    <a:sym typeface="+mn-ea"/>
                  </a:rPr>
                  <a:t>个小饺子的面皮，大小饺子形状相似。</a:t>
                </a:r>
                <a:endParaRPr lang="zh-CN" altLang="en-US">
                  <a:latin typeface="仿宋" panose="02010609060101010101" charset="-122"/>
                  <a:ea typeface="仿宋" panose="02010609060101010101" charset="-122"/>
                  <a:cs typeface="仿宋" panose="02010609060101010101" charset="-122"/>
                </a:endParaRPr>
              </a:p>
              <a:p>
                <a:pPr>
                  <a:lnSpc>
                    <a:spcPct val="130000"/>
                  </a:lnSpc>
                </a:pPr>
                <a:r>
                  <a:rPr lang="zh-CN" altLang="en-US">
                    <a:latin typeface="仿宋" panose="02010609060101010101" charset="-122"/>
                    <a:ea typeface="仿宋" panose="02010609060101010101" charset="-122"/>
                    <a:cs typeface="仿宋" panose="02010609060101010101" charset="-122"/>
                    <a:sym typeface="+mn-ea"/>
                  </a:rPr>
                  <a:t>因为皮的厚度一样，所以有 </a:t>
                </a:r>
                <a:r>
                  <a:rPr lang="en-US" altLang="zh-CN">
                    <a:latin typeface="仿宋" panose="02010609060101010101" charset="-122"/>
                    <a:ea typeface="仿宋" panose="02010609060101010101" charset="-122"/>
                    <a:cs typeface="仿宋" panose="02010609060101010101" charset="-122"/>
                    <a:sym typeface="+mn-ea"/>
                  </a:rPr>
                  <a:t>S = ns （1</a:t>
                </a:r>
                <a:r>
                  <a:rPr lang="zh-CN" altLang="en-US">
                    <a:latin typeface="仿宋" panose="02010609060101010101" charset="-122"/>
                    <a:ea typeface="仿宋" panose="02010609060101010101" charset="-122"/>
                    <a:cs typeface="仿宋" panose="02010609060101010101" charset="-122"/>
                    <a:sym typeface="+mn-ea"/>
                  </a:rPr>
                  <a:t>分）</a:t>
                </a:r>
                <a:endParaRPr lang="zh-CN" altLang="en-US">
                  <a:latin typeface="仿宋" panose="02010609060101010101" charset="-122"/>
                  <a:ea typeface="仿宋" panose="02010609060101010101" charset="-122"/>
                  <a:cs typeface="仿宋" panose="02010609060101010101" charset="-122"/>
                </a:endParaRPr>
              </a:p>
              <a:p>
                <a:pPr>
                  <a:lnSpc>
                    <a:spcPct val="130000"/>
                  </a:lnSpc>
                </a:pPr>
                <a:r>
                  <a:rPr lang="zh-CN" altLang="en-US">
                    <a:latin typeface="仿宋" panose="02010609060101010101" charset="-122"/>
                    <a:ea typeface="仿宋" panose="02010609060101010101" charset="-122"/>
                    <a:cs typeface="仿宋" panose="02010609060101010101" charset="-122"/>
                    <a:sym typeface="+mn-ea"/>
                  </a:rPr>
                  <a:t>又 </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sym typeface="+mn-ea"/>
                      </a:rPr>
                      <m:t>𝑆</m:t>
                    </m:r>
                    <m:r>
                      <a:rPr lang="en-US" altLang="zh-CN" i="1">
                        <a:latin typeface="Cambria Math" panose="02040503050406030204" charset="0"/>
                        <a:ea typeface="MS Mincho" charset="0"/>
                        <a:cs typeface="Cambria Math" panose="02040503050406030204" charset="0"/>
                        <a:sym typeface="+mn-ea"/>
                      </a:rPr>
                      <m:t>=</m:t>
                    </m:r>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𝑘</m:t>
                        </m:r>
                      </m:e>
                      <m:sub>
                        <m:r>
                          <a:rPr lang="en-US" altLang="zh-CN" i="1">
                            <a:latin typeface="Cambria Math" panose="02040503050406030204" charset="0"/>
                            <a:ea typeface="MS Mincho" charset="0"/>
                            <a:cs typeface="Cambria Math" panose="02040503050406030204" charset="0"/>
                            <a:sym typeface="+mn-ea"/>
                          </a:rPr>
                          <m:t>1</m:t>
                        </m:r>
                      </m:sub>
                    </m:sSub>
                    <m:sSup>
                      <m:sSupPr>
                        <m:ctrlPr>
                          <a:rPr lang="en-US" altLang="zh-CN" i="1">
                            <a:latin typeface="Cambria Math" panose="02040503050406030204" charset="0"/>
                            <a:ea typeface="仿宋" panose="02010609060101010101" charset="-122"/>
                            <a:cs typeface="Cambria Math" panose="02040503050406030204" charset="0"/>
                            <a:sym typeface="+mn-ea"/>
                          </a:rPr>
                        </m:ctrlPr>
                      </m:sSupPr>
                      <m:e>
                        <m:r>
                          <a:rPr lang="en-US" altLang="zh-CN" i="1">
                            <a:latin typeface="Cambria Math" panose="02040503050406030204" charset="0"/>
                            <a:ea typeface="仿宋" panose="02010609060101010101" charset="-122"/>
                            <a:cs typeface="Cambria Math" panose="02040503050406030204" charset="0"/>
                            <a:sym typeface="+mn-ea"/>
                          </a:rPr>
                          <m:t>𝑅</m:t>
                        </m:r>
                      </m:e>
                      <m:sup>
                        <m:r>
                          <a:rPr lang="en-US" altLang="zh-CN" i="1">
                            <a:latin typeface="Cambria Math" panose="02040503050406030204" charset="0"/>
                            <a:ea typeface="MS Mincho" charset="0"/>
                            <a:cs typeface="Cambria Math" panose="02040503050406030204" charset="0"/>
                            <a:sym typeface="+mn-ea"/>
                          </a:rPr>
                          <m:t>2</m:t>
                        </m:r>
                      </m:sup>
                    </m:sSup>
                  </m:oMath>
                </a14:m>
                <a:r>
                  <a:rPr lang="zh-CN" altLang="en-US">
                    <a:latin typeface="仿宋" panose="02010609060101010101" charset="-122"/>
                    <a:ea typeface="仿宋" panose="02010609060101010101" charset="-122"/>
                    <a:cs typeface="仿宋" panose="02010609060101010101" charset="-122"/>
                    <a:sym typeface="+mn-ea"/>
                  </a:rPr>
                  <a:t>，</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sym typeface="+mn-ea"/>
                      </a:rPr>
                      <m:t>𝑉</m:t>
                    </m:r>
                    <m:r>
                      <a:rPr lang="en-US" altLang="zh-CN" i="1">
                        <a:latin typeface="Cambria Math" panose="02040503050406030204" charset="0"/>
                        <a:ea typeface="MS Mincho" charset="0"/>
                        <a:cs typeface="Cambria Math" panose="02040503050406030204" charset="0"/>
                        <a:sym typeface="+mn-ea"/>
                      </a:rPr>
                      <m:t>=</m:t>
                    </m:r>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𝑘</m:t>
                        </m:r>
                      </m:e>
                      <m:sub>
                        <m:r>
                          <a:rPr lang="en-US" altLang="zh-CN" i="1">
                            <a:latin typeface="Cambria Math" panose="02040503050406030204" charset="0"/>
                            <a:ea typeface="MS Mincho" charset="0"/>
                            <a:cs typeface="Cambria Math" panose="02040503050406030204" charset="0"/>
                            <a:sym typeface="+mn-ea"/>
                          </a:rPr>
                          <m:t>2</m:t>
                        </m:r>
                      </m:sub>
                    </m:sSub>
                    <m:sSup>
                      <m:sSupPr>
                        <m:ctrlPr>
                          <a:rPr lang="en-US" altLang="zh-CN" i="1">
                            <a:latin typeface="Cambria Math" panose="02040503050406030204" charset="0"/>
                            <a:ea typeface="仿宋" panose="02010609060101010101" charset="-122"/>
                            <a:cs typeface="Cambria Math" panose="02040503050406030204" charset="0"/>
                            <a:sym typeface="+mn-ea"/>
                          </a:rPr>
                        </m:ctrlPr>
                      </m:sSupPr>
                      <m:e>
                        <m:r>
                          <a:rPr lang="en-US" altLang="zh-CN" i="1">
                            <a:latin typeface="Cambria Math" panose="02040503050406030204" charset="0"/>
                            <a:ea typeface="仿宋" panose="02010609060101010101" charset="-122"/>
                            <a:cs typeface="Cambria Math" panose="02040503050406030204" charset="0"/>
                            <a:sym typeface="+mn-ea"/>
                          </a:rPr>
                          <m:t>𝑅</m:t>
                        </m:r>
                      </m:e>
                      <m:sup>
                        <m:r>
                          <a:rPr lang="en-US" altLang="zh-CN" i="1">
                            <a:latin typeface="Cambria Math" panose="02040503050406030204" charset="0"/>
                            <a:ea typeface="MS Mincho" charset="0"/>
                            <a:cs typeface="Cambria Math" panose="02040503050406030204" charset="0"/>
                            <a:sym typeface="+mn-ea"/>
                          </a:rPr>
                          <m:t>3</m:t>
                        </m:r>
                      </m:sup>
                    </m:sSup>
                  </m:oMath>
                </a14:m>
                <a:r>
                  <a:rPr lang="en-US" altLang="zh-CN">
                    <a:latin typeface="仿宋" panose="02010609060101010101" charset="-122"/>
                    <a:ea typeface="仿宋" panose="02010609060101010101" charset="-122"/>
                    <a:cs typeface="仿宋" panose="02010609060101010101" charset="-122"/>
                    <a:sym typeface="+mn-ea"/>
                  </a:rPr>
                  <a:t>, </a:t>
                </a:r>
                <a:r>
                  <a:rPr lang="zh-CN" altLang="en-US">
                    <a:latin typeface="仿宋" panose="02010609060101010101" charset="-122"/>
                    <a:ea typeface="仿宋" panose="02010609060101010101" charset="-122"/>
                    <a:cs typeface="仿宋" panose="02010609060101010101" charset="-122"/>
                    <a:sym typeface="+mn-ea"/>
                  </a:rPr>
                  <a:t>所以</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sym typeface="+mn-ea"/>
                      </a:rPr>
                      <m:t>𝑉</m:t>
                    </m:r>
                    <m:r>
                      <a:rPr lang="en-US" altLang="zh-CN" i="1">
                        <a:latin typeface="Cambria Math" panose="02040503050406030204" charset="0"/>
                        <a:ea typeface="MS Mincho" charset="0"/>
                        <a:cs typeface="Cambria Math" panose="02040503050406030204" charset="0"/>
                        <a:sym typeface="+mn-ea"/>
                      </a:rPr>
                      <m:t>=</m:t>
                    </m:r>
                    <m:r>
                      <a:rPr lang="en-US" altLang="zh-CN" i="1">
                        <a:latin typeface="Cambria Math" panose="02040503050406030204" charset="0"/>
                        <a:ea typeface="仿宋" panose="02010609060101010101" charset="-122"/>
                        <a:cs typeface="Cambria Math" panose="02040503050406030204" charset="0"/>
                        <a:sym typeface="+mn-ea"/>
                      </a:rPr>
                      <m:t>𝑘</m:t>
                    </m:r>
                    <m:sSup>
                      <m:sSupPr>
                        <m:ctrlPr>
                          <a:rPr lang="en-US" altLang="zh-CN" i="1">
                            <a:latin typeface="Cambria Math" panose="02040503050406030204" charset="0"/>
                            <a:ea typeface="仿宋" panose="02010609060101010101" charset="-122"/>
                            <a:cs typeface="Cambria Math" panose="02040503050406030204" charset="0"/>
                            <a:sym typeface="+mn-ea"/>
                          </a:rPr>
                        </m:ctrlPr>
                      </m:sSupPr>
                      <m:e>
                        <m:r>
                          <a:rPr lang="en-US" altLang="zh-CN" i="1">
                            <a:latin typeface="Cambria Math" panose="02040503050406030204" charset="0"/>
                            <a:ea typeface="仿宋" panose="02010609060101010101" charset="-122"/>
                            <a:cs typeface="Cambria Math" panose="02040503050406030204" charset="0"/>
                            <a:sym typeface="+mn-ea"/>
                          </a:rPr>
                          <m:t>𝑆</m:t>
                        </m:r>
                      </m:e>
                      <m:sup>
                        <m:f>
                          <m:fPr>
                            <m:ctrlPr>
                              <a:rPr lang="en-US" altLang="zh-CN" i="1">
                                <a:latin typeface="Cambria Math" panose="02040503050406030204" charset="0"/>
                                <a:ea typeface="仿宋" panose="02010609060101010101" charset="-122"/>
                                <a:cs typeface="Cambria Math" panose="02040503050406030204" charset="0"/>
                                <a:sym typeface="+mn-ea"/>
                              </a:rPr>
                            </m:ctrlPr>
                          </m:fPr>
                          <m:num>
                            <m:r>
                              <a:rPr lang="en-US" altLang="zh-CN" i="1">
                                <a:latin typeface="Cambria Math" panose="02040503050406030204" charset="0"/>
                                <a:ea typeface="MS Mincho" charset="0"/>
                                <a:cs typeface="Cambria Math" panose="02040503050406030204" charset="0"/>
                                <a:sym typeface="+mn-ea"/>
                              </a:rPr>
                              <m:t>3</m:t>
                            </m:r>
                          </m:num>
                          <m:den>
                            <m:r>
                              <a:rPr lang="en-US" altLang="zh-CN" i="1">
                                <a:latin typeface="Cambria Math" panose="02040503050406030204" charset="0"/>
                                <a:ea typeface="MS Mincho" charset="0"/>
                                <a:cs typeface="Cambria Math" panose="02040503050406030204" charset="0"/>
                                <a:sym typeface="+mn-ea"/>
                              </a:rPr>
                              <m:t>2</m:t>
                            </m:r>
                          </m:den>
                        </m:f>
                      </m:sup>
                    </m:sSup>
                  </m:oMath>
                </a14:m>
                <a:r>
                  <a:rPr lang="en-US" altLang="zh-CN">
                    <a:latin typeface="仿宋" panose="02010609060101010101" charset="-122"/>
                    <a:ea typeface="仿宋" panose="02010609060101010101" charset="-122"/>
                    <a:cs typeface="仿宋" panose="02010609060101010101" charset="-122"/>
                    <a:sym typeface="+mn-ea"/>
                  </a:rPr>
                  <a:t> （2</a:t>
                </a:r>
                <a:r>
                  <a:rPr lang="zh-CN" altLang="en-US">
                    <a:latin typeface="仿宋" panose="02010609060101010101" charset="-122"/>
                    <a:ea typeface="仿宋" panose="02010609060101010101" charset="-122"/>
                    <a:cs typeface="仿宋" panose="02010609060101010101" charset="-122"/>
                    <a:sym typeface="+mn-ea"/>
                  </a:rPr>
                  <a:t>分）</a:t>
                </a:r>
                <a:endParaRPr lang="zh-CN" altLang="en-US">
                  <a:latin typeface="仿宋" panose="02010609060101010101" charset="-122"/>
                  <a:ea typeface="仿宋" panose="02010609060101010101" charset="-122"/>
                  <a:cs typeface="仿宋" panose="02010609060101010101" charset="-122"/>
                </a:endParaRPr>
              </a:p>
              <a:p>
                <a:pPr>
                  <a:lnSpc>
                    <a:spcPct val="130000"/>
                  </a:lnSpc>
                </a:pPr>
                <a:r>
                  <a:rPr lang="zh-CN" altLang="en-US">
                    <a:latin typeface="仿宋" panose="02010609060101010101" charset="-122"/>
                    <a:ea typeface="仿宋" panose="02010609060101010101" charset="-122"/>
                    <a:cs typeface="仿宋" panose="02010609060101010101" charset="-122"/>
                    <a:sym typeface="+mn-ea"/>
                  </a:rPr>
                  <a:t>同理小饺子的体积与小饺子表面积之间的关系同样有 </a:t>
                </a:r>
                <a14:m>
                  <m:oMath xmlns:m="http://schemas.openxmlformats.org/officeDocument/2006/math">
                    <m:r>
                      <a:rPr lang="en-US" altLang="zh-CN">
                        <a:latin typeface="Cambria Math" panose="02040503050406030204" charset="0"/>
                        <a:ea typeface="仿宋" panose="02010609060101010101" charset="-122"/>
                        <a:cs typeface="Cambria Math" panose="02040503050406030204" charset="0"/>
                        <a:sym typeface="+mn-ea"/>
                      </a:rPr>
                      <m:t>𝑣</m:t>
                    </m:r>
                    <m:r>
                      <a:rPr lang="en-US" altLang="zh-CN" i="1">
                        <a:latin typeface="Cambria Math" panose="02040503050406030204" charset="0"/>
                        <a:ea typeface="MS Mincho" charset="0"/>
                        <a:cs typeface="Cambria Math" panose="02040503050406030204" charset="0"/>
                        <a:sym typeface="+mn-ea"/>
                      </a:rPr>
                      <m:t>=</m:t>
                    </m:r>
                    <m:r>
                      <a:rPr lang="en-US" altLang="zh-CN" i="1">
                        <a:latin typeface="Cambria Math" panose="02040503050406030204" charset="0"/>
                        <a:ea typeface="仿宋" panose="02010609060101010101" charset="-122"/>
                        <a:cs typeface="Cambria Math" panose="02040503050406030204" charset="0"/>
                        <a:sym typeface="+mn-ea"/>
                      </a:rPr>
                      <m:t>𝑘</m:t>
                    </m:r>
                    <m:sSup>
                      <m:sSupPr>
                        <m:ctrlPr>
                          <a:rPr lang="en-US" altLang="zh-CN" i="1">
                            <a:latin typeface="Cambria Math" panose="02040503050406030204" charset="0"/>
                            <a:ea typeface="仿宋" panose="02010609060101010101" charset="-122"/>
                            <a:cs typeface="Cambria Math" panose="02040503050406030204" charset="0"/>
                            <a:sym typeface="+mn-ea"/>
                          </a:rPr>
                        </m:ctrlPr>
                      </m:sSupPr>
                      <m:e>
                        <m:r>
                          <a:rPr lang="en-US" altLang="zh-CN" i="1">
                            <a:latin typeface="Cambria Math" panose="02040503050406030204" charset="0"/>
                            <a:ea typeface="仿宋" panose="02010609060101010101" charset="-122"/>
                            <a:cs typeface="Cambria Math" panose="02040503050406030204" charset="0"/>
                            <a:sym typeface="+mn-ea"/>
                          </a:rPr>
                          <m:t>𝑠</m:t>
                        </m:r>
                      </m:e>
                      <m:sup>
                        <m:f>
                          <m:fPr>
                            <m:ctrlPr>
                              <a:rPr lang="en-US" altLang="zh-CN" i="1">
                                <a:latin typeface="Cambria Math" panose="02040503050406030204" charset="0"/>
                                <a:ea typeface="仿宋" panose="02010609060101010101" charset="-122"/>
                                <a:cs typeface="Cambria Math" panose="02040503050406030204" charset="0"/>
                                <a:sym typeface="+mn-ea"/>
                              </a:rPr>
                            </m:ctrlPr>
                          </m:fPr>
                          <m:num>
                            <m:r>
                              <a:rPr lang="en-US" altLang="zh-CN" i="1">
                                <a:latin typeface="Cambria Math" panose="02040503050406030204" charset="0"/>
                                <a:ea typeface="MS Mincho" charset="0"/>
                                <a:cs typeface="Cambria Math" panose="02040503050406030204" charset="0"/>
                                <a:sym typeface="+mn-ea"/>
                              </a:rPr>
                              <m:t>3</m:t>
                            </m:r>
                          </m:num>
                          <m:den>
                            <m:r>
                              <a:rPr lang="en-US" altLang="zh-CN" i="1">
                                <a:latin typeface="Cambria Math" panose="02040503050406030204" charset="0"/>
                                <a:ea typeface="MS Mincho" charset="0"/>
                                <a:cs typeface="Cambria Math" panose="02040503050406030204" charset="0"/>
                                <a:sym typeface="+mn-ea"/>
                              </a:rPr>
                              <m:t>2</m:t>
                            </m:r>
                          </m:den>
                        </m:f>
                      </m:sup>
                    </m:sSup>
                  </m:oMath>
                </a14:m>
                <a:r>
                  <a:rPr lang="en-US" altLang="zh-CN">
                    <a:latin typeface="仿宋" panose="02010609060101010101" charset="-122"/>
                    <a:ea typeface="仿宋" panose="02010609060101010101" charset="-122"/>
                    <a:cs typeface="仿宋" panose="02010609060101010101" charset="-122"/>
                    <a:sym typeface="+mn-ea"/>
                  </a:rPr>
                  <a:t> （1</a:t>
                </a:r>
                <a:r>
                  <a:rPr lang="zh-CN" altLang="en-US">
                    <a:latin typeface="仿宋" panose="02010609060101010101" charset="-122"/>
                    <a:ea typeface="仿宋" panose="02010609060101010101" charset="-122"/>
                    <a:cs typeface="仿宋" panose="02010609060101010101" charset="-122"/>
                    <a:sym typeface="+mn-ea"/>
                  </a:rPr>
                  <a:t>分）</a:t>
                </a:r>
                <a:endParaRPr lang="zh-CN" altLang="en-US">
                  <a:latin typeface="仿宋" panose="02010609060101010101" charset="-122"/>
                  <a:ea typeface="仿宋" panose="02010609060101010101" charset="-122"/>
                  <a:cs typeface="仿宋" panose="02010609060101010101" charset="-122"/>
                </a:endParaRPr>
              </a:p>
              <a:p>
                <a:pPr>
                  <a:lnSpc>
                    <a:spcPct val="130000"/>
                  </a:lnSpc>
                </a:pPr>
                <a:r>
                  <a:rPr lang="zh-CN" altLang="en-US">
                    <a:latin typeface="仿宋" panose="02010609060101010101" charset="-122"/>
                    <a:ea typeface="仿宋" panose="02010609060101010101" charset="-122"/>
                    <a:cs typeface="仿宋" panose="02010609060101010101" charset="-122"/>
                    <a:sym typeface="+mn-ea"/>
                  </a:rPr>
                  <a:t>再由 </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sym typeface="+mn-ea"/>
                      </a:rPr>
                      <m:t>𝑆</m:t>
                    </m:r>
                    <m:r>
                      <a:rPr lang="en-US" altLang="zh-CN" i="1">
                        <a:latin typeface="Cambria Math" panose="02040503050406030204" charset="0"/>
                        <a:ea typeface="MS Mincho" charset="0"/>
                        <a:cs typeface="Cambria Math" panose="02040503050406030204" charset="0"/>
                        <a:sym typeface="+mn-ea"/>
                      </a:rPr>
                      <m:t>=</m:t>
                    </m:r>
                    <m:r>
                      <a:rPr lang="en-US" altLang="zh-CN" i="1">
                        <a:latin typeface="Cambria Math" panose="02040503050406030204" charset="0"/>
                        <a:ea typeface="仿宋" panose="02010609060101010101" charset="-122"/>
                        <a:cs typeface="Cambria Math" panose="02040503050406030204" charset="0"/>
                        <a:sym typeface="+mn-ea"/>
                      </a:rPr>
                      <m:t>𝑛𝑠</m:t>
                    </m:r>
                  </m:oMath>
                </a14:m>
                <a:r>
                  <a:rPr lang="en-US" altLang="zh-CN">
                    <a:latin typeface="仿宋" panose="02010609060101010101" charset="-122"/>
                    <a:ea typeface="仿宋" panose="02010609060101010101" charset="-122"/>
                    <a:cs typeface="仿宋" panose="02010609060101010101" charset="-122"/>
                    <a:sym typeface="+mn-ea"/>
                  </a:rPr>
                  <a:t>，</a:t>
                </a:r>
                <a:r>
                  <a:rPr lang="zh-CN" altLang="en-US">
                    <a:latin typeface="仿宋" panose="02010609060101010101" charset="-122"/>
                    <a:ea typeface="仿宋" panose="02010609060101010101" charset="-122"/>
                    <a:cs typeface="仿宋" panose="02010609060101010101" charset="-122"/>
                    <a:sym typeface="+mn-ea"/>
                  </a:rPr>
                  <a:t>可得大小饺子体积之间的关系 </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sym typeface="+mn-ea"/>
                      </a:rPr>
                      <m:t>𝑉</m:t>
                    </m:r>
                    <m:r>
                      <a:rPr lang="en-US" altLang="zh-CN" i="1">
                        <a:latin typeface="Cambria Math" panose="02040503050406030204" charset="0"/>
                        <a:ea typeface="MS Mincho" charset="0"/>
                        <a:cs typeface="Cambria Math" panose="02040503050406030204" charset="0"/>
                        <a:sym typeface="+mn-ea"/>
                      </a:rPr>
                      <m:t>=</m:t>
                    </m:r>
                    <m:sSup>
                      <m:sSupPr>
                        <m:ctrlPr>
                          <a:rPr lang="en-US" altLang="zh-CN" i="1">
                            <a:latin typeface="Cambria Math" panose="02040503050406030204" charset="0"/>
                            <a:ea typeface="仿宋" panose="02010609060101010101" charset="-122"/>
                            <a:cs typeface="Cambria Math" panose="02040503050406030204" charset="0"/>
                            <a:sym typeface="+mn-ea"/>
                          </a:rPr>
                        </m:ctrlPr>
                      </m:sSupPr>
                      <m:e>
                        <m:r>
                          <a:rPr lang="en-US" altLang="zh-CN" i="1">
                            <a:latin typeface="Cambria Math" panose="02040503050406030204" charset="0"/>
                            <a:ea typeface="仿宋" panose="02010609060101010101" charset="-122"/>
                            <a:cs typeface="Cambria Math" panose="02040503050406030204" charset="0"/>
                            <a:sym typeface="+mn-ea"/>
                          </a:rPr>
                          <m:t>𝑛</m:t>
                        </m:r>
                      </m:e>
                      <m:sup>
                        <m:f>
                          <m:fPr>
                            <m:type m:val="lin"/>
                            <m:ctrlPr>
                              <a:rPr lang="en-US" altLang="zh-CN" i="1">
                                <a:latin typeface="Cambria Math" panose="02040503050406030204" charset="0"/>
                                <a:ea typeface="仿宋" panose="02010609060101010101" charset="-122"/>
                                <a:cs typeface="Cambria Math" panose="02040503050406030204" charset="0"/>
                                <a:sym typeface="+mn-ea"/>
                              </a:rPr>
                            </m:ctrlPr>
                          </m:fPr>
                          <m:num>
                            <m:r>
                              <a:rPr lang="en-US" altLang="zh-CN" i="1">
                                <a:latin typeface="Cambria Math" panose="02040503050406030204" charset="0"/>
                                <a:ea typeface="MS Mincho" charset="0"/>
                                <a:cs typeface="Cambria Math" panose="02040503050406030204" charset="0"/>
                                <a:sym typeface="+mn-ea"/>
                              </a:rPr>
                              <m:t>3</m:t>
                            </m:r>
                          </m:num>
                          <m:den>
                            <m:r>
                              <a:rPr lang="en-US" altLang="zh-CN" i="1">
                                <a:latin typeface="Cambria Math" panose="02040503050406030204" charset="0"/>
                                <a:ea typeface="MS Mincho" charset="0"/>
                                <a:cs typeface="Cambria Math" panose="02040503050406030204" charset="0"/>
                                <a:sym typeface="+mn-ea"/>
                              </a:rPr>
                              <m:t>2</m:t>
                            </m:r>
                          </m:den>
                        </m:f>
                      </m:sup>
                    </m:sSup>
                    <m:r>
                      <a:rPr lang="en-US" altLang="zh-CN" i="1">
                        <a:latin typeface="Cambria Math" panose="02040503050406030204" charset="0"/>
                        <a:ea typeface="仿宋" panose="02010609060101010101" charset="-122"/>
                        <a:cs typeface="Cambria Math" panose="02040503050406030204" charset="0"/>
                        <a:sym typeface="+mn-ea"/>
                      </a:rPr>
                      <m:t>𝑣</m:t>
                    </m:r>
                    <m:r>
                      <a:rPr lang="en-US" altLang="zh-CN" i="1">
                        <a:latin typeface="Cambria Math" panose="02040503050406030204" charset="0"/>
                        <a:ea typeface="MS Mincho" charset="0"/>
                        <a:cs typeface="Cambria Math" panose="02040503050406030204" charset="0"/>
                        <a:sym typeface="+mn-ea"/>
                      </a:rPr>
                      <m:t> =</m:t>
                    </m:r>
                    <m:rad>
                      <m:radPr>
                        <m:degHide m:val="on"/>
                        <m:ctrlPr>
                          <a:rPr lang="en-US" altLang="zh-CN" i="1">
                            <a:latin typeface="Cambria Math" panose="02040503050406030204" charset="0"/>
                            <a:ea typeface="仿宋" panose="02010609060101010101" charset="-122"/>
                            <a:cs typeface="Cambria Math" panose="02040503050406030204" charset="0"/>
                            <a:sym typeface="+mn-ea"/>
                          </a:rPr>
                        </m:ctrlPr>
                      </m:radPr>
                      <m:deg/>
                      <m:e>
                        <m:r>
                          <a:rPr lang="en-US" altLang="zh-CN" i="1">
                            <a:latin typeface="Cambria Math" panose="02040503050406030204" charset="0"/>
                            <a:ea typeface="仿宋" panose="02010609060101010101" charset="-122"/>
                            <a:cs typeface="Cambria Math" panose="02040503050406030204" charset="0"/>
                            <a:sym typeface="+mn-ea"/>
                          </a:rPr>
                          <m:t>𝑛</m:t>
                        </m:r>
                      </m:e>
                    </m:rad>
                    <m:r>
                      <a:rPr lang="en-US" altLang="zh-CN" i="1">
                        <a:latin typeface="Cambria Math" panose="02040503050406030204" charset="0"/>
                        <a:ea typeface="MS Mincho" charset="0"/>
                        <a:cs typeface="Cambria Math" panose="02040503050406030204" charset="0"/>
                        <a:sym typeface="+mn-ea"/>
                      </a:rPr>
                      <m:t>(</m:t>
                    </m:r>
                    <m:r>
                      <a:rPr lang="en-US" altLang="zh-CN" i="1">
                        <a:latin typeface="Cambria Math" panose="02040503050406030204" charset="0"/>
                        <a:ea typeface="仿宋" panose="02010609060101010101" charset="-122"/>
                        <a:cs typeface="Cambria Math" panose="02040503050406030204" charset="0"/>
                        <a:sym typeface="+mn-ea"/>
                      </a:rPr>
                      <m:t>𝑛𝑣</m:t>
                    </m:r>
                    <m:r>
                      <a:rPr lang="en-US" altLang="zh-CN" i="1">
                        <a:latin typeface="Cambria Math" panose="02040503050406030204" charset="0"/>
                        <a:ea typeface="MS Mincho" charset="0"/>
                        <a:cs typeface="Cambria Math" panose="02040503050406030204" charset="0"/>
                        <a:sym typeface="+mn-ea"/>
                      </a:rPr>
                      <m:t>)</m:t>
                    </m:r>
                  </m:oMath>
                </a14:m>
                <a:endParaRPr lang="en-US" altLang="zh-CN">
                  <a:latin typeface="仿宋" panose="02010609060101010101" charset="-122"/>
                  <a:ea typeface="仿宋" panose="02010609060101010101" charset="-122"/>
                  <a:cs typeface="仿宋" panose="02010609060101010101" charset="-122"/>
                </a:endParaRPr>
              </a:p>
              <a:p>
                <a:pPr>
                  <a:lnSpc>
                    <a:spcPct val="130000"/>
                  </a:lnSpc>
                </a:pPr>
                <a:r>
                  <a:rPr lang="zh-CN" altLang="en-US">
                    <a:latin typeface="仿宋" panose="02010609060101010101" charset="-122"/>
                    <a:ea typeface="仿宋" panose="02010609060101010101" charset="-122"/>
                    <a:cs typeface="仿宋" panose="02010609060101010101" charset="-122"/>
                    <a:sym typeface="+mn-ea"/>
                  </a:rPr>
                  <a:t>所以 </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sym typeface="+mn-ea"/>
                      </a:rPr>
                      <m:t>𝑉</m:t>
                    </m:r>
                  </m:oMath>
                </a14:m>
                <a:r>
                  <a:rPr lang="zh-CN" altLang="en-US">
                    <a:latin typeface="仿宋" panose="02010609060101010101" charset="-122"/>
                    <a:ea typeface="仿宋" panose="02010609060101010101" charset="-122"/>
                    <a:cs typeface="仿宋" panose="02010609060101010101" charset="-122"/>
                    <a:sym typeface="+mn-ea"/>
                  </a:rPr>
                  <a:t>比 </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sym typeface="+mn-ea"/>
                      </a:rPr>
                      <m:t>𝑛𝑣</m:t>
                    </m:r>
                  </m:oMath>
                </a14:m>
                <a:r>
                  <a:rPr lang="en-US" altLang="zh-CN">
                    <a:latin typeface="仿宋" panose="02010609060101010101" charset="-122"/>
                    <a:ea typeface="仿宋" panose="02010609060101010101" charset="-122"/>
                    <a:cs typeface="仿宋" panose="02010609060101010101" charset="-122"/>
                    <a:sym typeface="+mn-ea"/>
                  </a:rPr>
                  <a:t> </a:t>
                </a:r>
                <a:r>
                  <a:rPr lang="zh-CN" altLang="en-US">
                    <a:latin typeface="仿宋" panose="02010609060101010101" charset="-122"/>
                    <a:ea typeface="仿宋" panose="02010609060101010101" charset="-122"/>
                    <a:cs typeface="仿宋" panose="02010609060101010101" charset="-122"/>
                    <a:sym typeface="+mn-ea"/>
                  </a:rPr>
                  <a:t>大（</a:t>
                </a:r>
                <a:r>
                  <a:rPr lang="en-US" altLang="zh-CN">
                    <a:latin typeface="仿宋" panose="02010609060101010101" charset="-122"/>
                    <a:ea typeface="仿宋" panose="02010609060101010101" charset="-122"/>
                    <a:cs typeface="仿宋" panose="02010609060101010101" charset="-122"/>
                    <a:sym typeface="+mn-ea"/>
                  </a:rPr>
                  <a:t>n&gt;1）——</a:t>
                </a:r>
                <a:r>
                  <a:rPr lang="zh-CN" altLang="en-US">
                    <a:latin typeface="仿宋" panose="02010609060101010101" charset="-122"/>
                    <a:ea typeface="仿宋" panose="02010609060101010101" charset="-122"/>
                    <a:cs typeface="仿宋" panose="02010609060101010101" charset="-122"/>
                    <a:sym typeface="+mn-ea"/>
                  </a:rPr>
                  <a:t>大饺子包得馅多.（2分）</a:t>
                </a:r>
                <a:endParaRPr lang="zh-CN" altLang="en-US">
                  <a:latin typeface="仿宋" panose="02010609060101010101" charset="-122"/>
                  <a:ea typeface="仿宋" panose="02010609060101010101" charset="-122"/>
                  <a:cs typeface="仿宋" panose="02010609060101010101" charset="-122"/>
                  <a:sym typeface="+mn-ea"/>
                </a:endParaRPr>
              </a:p>
              <a:p>
                <a:pPr>
                  <a:lnSpc>
                    <a:spcPct val="130000"/>
                  </a:lnSpc>
                </a:pPr>
                <a:endParaRPr lang="en-US" altLang="zh-CN">
                  <a:latin typeface="仿宋" panose="02010609060101010101" charset="-122"/>
                  <a:ea typeface="仿宋" panose="02010609060101010101" charset="-122"/>
                  <a:cs typeface="仿宋" panose="02010609060101010101" charset="-122"/>
                </a:endParaRPr>
              </a:p>
              <a:p>
                <a:pPr>
                  <a:lnSpc>
                    <a:spcPct val="130000"/>
                  </a:lnSpc>
                </a:pPr>
                <a:r>
                  <a:rPr lang="zh-CN" altLang="en-US">
                    <a:latin typeface="仿宋" panose="02010609060101010101" charset="-122"/>
                    <a:ea typeface="仿宋" panose="02010609060101010101" charset="-122"/>
                    <a:cs typeface="仿宋" panose="02010609060101010101" charset="-122"/>
                    <a:sym typeface="+mn-ea"/>
                  </a:rPr>
                  <a:t>(3) 由(2)的结果知</a:t>
                </a:r>
                <a14:m>
                  <m:oMath xmlns:m="http://schemas.openxmlformats.org/officeDocument/2006/math">
                    <m:rad>
                      <m:radPr>
                        <m:degHide m:val="on"/>
                        <m:ctrlPr>
                          <a:rPr lang="en-US" altLang="zh-CN" i="1">
                            <a:latin typeface="Cambria Math" panose="02040503050406030204" charset="0"/>
                            <a:ea typeface="仿宋" panose="02010609060101010101" charset="-122"/>
                            <a:cs typeface="Cambria Math" panose="02040503050406030204" charset="0"/>
                            <a:sym typeface="+mn-ea"/>
                          </a:rPr>
                        </m:ctrlPr>
                      </m:radPr>
                      <m:deg/>
                      <m:e>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1</m:t>
                            </m:r>
                          </m:sub>
                        </m:sSub>
                      </m:e>
                    </m:rad>
                    <m:r>
                      <a:rPr lang="en-US" altLang="zh-CN" i="1">
                        <a:latin typeface="Cambria Math" panose="02040503050406030204" charset="0"/>
                        <a:ea typeface="MS Mincho" charset="0"/>
                        <a:cs typeface="Cambria Math" panose="02040503050406030204" charset="0"/>
                        <a:sym typeface="+mn-ea"/>
                      </a:rPr>
                      <m:t>(</m:t>
                    </m:r>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1</m:t>
                        </m:r>
                      </m:sub>
                    </m:sSub>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𝑣</m:t>
                        </m:r>
                      </m:e>
                      <m:sub>
                        <m:r>
                          <a:rPr lang="en-US" altLang="zh-CN" i="1">
                            <a:latin typeface="Cambria Math" panose="02040503050406030204" charset="0"/>
                            <a:ea typeface="MS Mincho" charset="0"/>
                            <a:cs typeface="Cambria Math" panose="02040503050406030204" charset="0"/>
                            <a:sym typeface="+mn-ea"/>
                          </a:rPr>
                          <m:t>1</m:t>
                        </m:r>
                      </m:sub>
                    </m:sSub>
                    <m:r>
                      <a:rPr lang="en-US" altLang="zh-CN" i="1">
                        <a:latin typeface="Cambria Math" panose="02040503050406030204" charset="0"/>
                        <a:ea typeface="MS Mincho" charset="0"/>
                        <a:cs typeface="Cambria Math" panose="02040503050406030204" charset="0"/>
                        <a:sym typeface="+mn-ea"/>
                      </a:rPr>
                      <m:t>)=</m:t>
                    </m:r>
                    <m:rad>
                      <m:radPr>
                        <m:degHide m:val="on"/>
                        <m:ctrlPr>
                          <a:rPr lang="en-US" altLang="zh-CN" i="1">
                            <a:latin typeface="Cambria Math" panose="02040503050406030204" charset="0"/>
                            <a:ea typeface="仿宋" panose="02010609060101010101" charset="-122"/>
                            <a:cs typeface="Cambria Math" panose="02040503050406030204" charset="0"/>
                            <a:sym typeface="+mn-ea"/>
                          </a:rPr>
                        </m:ctrlPr>
                      </m:radPr>
                      <m:deg/>
                      <m:e>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2</m:t>
                            </m:r>
                          </m:sub>
                        </m:sSub>
                      </m:e>
                    </m:rad>
                    <m:r>
                      <a:rPr lang="en-US" altLang="zh-CN" i="1">
                        <a:latin typeface="Cambria Math" panose="02040503050406030204" charset="0"/>
                        <a:ea typeface="MS Mincho" charset="0"/>
                        <a:cs typeface="Cambria Math" panose="02040503050406030204" charset="0"/>
                        <a:sym typeface="+mn-ea"/>
                      </a:rPr>
                      <m:t>(</m:t>
                    </m:r>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2</m:t>
                        </m:r>
                      </m:sub>
                    </m:sSub>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𝑣</m:t>
                        </m:r>
                      </m:e>
                      <m:sub>
                        <m:r>
                          <a:rPr lang="en-US" altLang="zh-CN" i="1">
                            <a:latin typeface="Cambria Math" panose="02040503050406030204" charset="0"/>
                            <a:ea typeface="MS Mincho" charset="0"/>
                            <a:cs typeface="Cambria Math" panose="02040503050406030204" charset="0"/>
                            <a:sym typeface="+mn-ea"/>
                          </a:rPr>
                          <m:t>2</m:t>
                        </m:r>
                      </m:sub>
                    </m:sSub>
                    <m:r>
                      <a:rPr lang="en-US" altLang="zh-CN" i="1">
                        <a:latin typeface="Cambria Math" panose="02040503050406030204" charset="0"/>
                        <a:ea typeface="MS Mincho" charset="0"/>
                        <a:cs typeface="Cambria Math" panose="02040503050406030204" charset="0"/>
                        <a:sym typeface="+mn-ea"/>
                      </a:rPr>
                      <m:t>)</m:t>
                    </m:r>
                  </m:oMath>
                </a14:m>
                <a:r>
                  <a:rPr lang="en-US" altLang="zh-CN">
                    <a:latin typeface="仿宋" panose="02010609060101010101" charset="-122"/>
                    <a:ea typeface="仿宋" panose="02010609060101010101" charset="-122"/>
                    <a:cs typeface="仿宋" panose="02010609060101010101" charset="-122"/>
                    <a:sym typeface="+mn-ea"/>
                  </a:rPr>
                  <a:t>，</a:t>
                </a:r>
                <a:r>
                  <a:rPr lang="zh-CN" altLang="en-US">
                    <a:latin typeface="仿宋" panose="02010609060101010101" charset="-122"/>
                    <a:ea typeface="仿宋" panose="02010609060101010101" charset="-122"/>
                    <a:cs typeface="仿宋" panose="02010609060101010101" charset="-122"/>
                    <a:sym typeface="+mn-ea"/>
                  </a:rPr>
                  <a:t>即 </a:t>
                </a:r>
                <a14:m>
                  <m:oMath xmlns:m="http://schemas.openxmlformats.org/officeDocument/2006/math">
                    <m:f>
                      <m:fPr>
                        <m:ctrlPr>
                          <a:rPr lang="en-US" altLang="zh-CN" i="1">
                            <a:latin typeface="Cambria Math" panose="02040503050406030204" charset="0"/>
                            <a:ea typeface="仿宋" panose="02010609060101010101" charset="-122"/>
                            <a:cs typeface="Cambria Math" panose="02040503050406030204" charset="0"/>
                            <a:sym typeface="+mn-ea"/>
                          </a:rPr>
                        </m:ctrlPr>
                      </m:fPr>
                      <m:num>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1</m:t>
                            </m:r>
                          </m:sub>
                        </m:sSub>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𝑣</m:t>
                            </m:r>
                          </m:e>
                          <m:sub>
                            <m:r>
                              <a:rPr lang="en-US" altLang="zh-CN" i="1">
                                <a:latin typeface="Cambria Math" panose="02040503050406030204" charset="0"/>
                                <a:ea typeface="MS Mincho" charset="0"/>
                                <a:cs typeface="Cambria Math" panose="02040503050406030204" charset="0"/>
                                <a:sym typeface="+mn-ea"/>
                              </a:rPr>
                              <m:t>1</m:t>
                            </m:r>
                          </m:sub>
                        </m:sSub>
                      </m:num>
                      <m:den>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2</m:t>
                            </m:r>
                          </m:sub>
                        </m:sSub>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𝑣</m:t>
                            </m:r>
                          </m:e>
                          <m:sub>
                            <m:r>
                              <a:rPr lang="en-US" altLang="zh-CN" i="1">
                                <a:latin typeface="Cambria Math" panose="02040503050406030204" charset="0"/>
                                <a:ea typeface="MS Mincho" charset="0"/>
                                <a:cs typeface="Cambria Math" panose="02040503050406030204" charset="0"/>
                                <a:sym typeface="+mn-ea"/>
                              </a:rPr>
                              <m:t>2</m:t>
                            </m:r>
                          </m:sub>
                        </m:sSub>
                      </m:den>
                    </m:f>
                    <m:r>
                      <a:rPr lang="en-US" altLang="zh-CN" i="1">
                        <a:latin typeface="Cambria Math" panose="02040503050406030204" charset="0"/>
                        <a:ea typeface="MS Mincho" charset="0"/>
                        <a:cs typeface="Cambria Math" panose="02040503050406030204" charset="0"/>
                        <a:sym typeface="+mn-ea"/>
                      </a:rPr>
                      <m:t>=</m:t>
                    </m:r>
                    <m:f>
                      <m:fPr>
                        <m:ctrlPr>
                          <a:rPr lang="en-US" altLang="zh-CN" i="1">
                            <a:latin typeface="Cambria Math" panose="02040503050406030204" charset="0"/>
                            <a:ea typeface="MS Mincho" charset="0"/>
                            <a:cs typeface="Cambria Math" panose="02040503050406030204" charset="0"/>
                            <a:sym typeface="+mn-ea"/>
                          </a:rPr>
                        </m:ctrlPr>
                      </m:fPr>
                      <m:num>
                        <m:rad>
                          <m:radPr>
                            <m:degHide m:val="on"/>
                            <m:ctrlPr>
                              <a:rPr lang="en-US" altLang="zh-CN" i="1">
                                <a:latin typeface="Cambria Math" panose="02040503050406030204" charset="0"/>
                                <a:ea typeface="MS Mincho" charset="0"/>
                                <a:cs typeface="Cambria Math" panose="02040503050406030204" charset="0"/>
                                <a:sym typeface="+mn-ea"/>
                              </a:rPr>
                            </m:ctrlPr>
                          </m:radPr>
                          <m:deg/>
                          <m:e>
                            <m:sSub>
                              <m:sSubPr>
                                <m:ctrlPr>
                                  <a:rPr lang="en-US" altLang="zh-CN" i="1">
                                    <a:latin typeface="Cambria Math" panose="02040503050406030204" charset="0"/>
                                    <a:ea typeface="MS Mincho" charset="0"/>
                                    <a:cs typeface="Cambria Math" panose="02040503050406030204" charset="0"/>
                                    <a:sym typeface="+mn-ea"/>
                                  </a:rPr>
                                </m:ctrlPr>
                              </m:sSubPr>
                              <m:e>
                                <m:r>
                                  <a:rPr lang="en-US" altLang="zh-CN" i="1">
                                    <a:latin typeface="Cambria Math" panose="02040503050406030204" charset="0"/>
                                    <a:ea typeface="MS Mincho" charset="0"/>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2</m:t>
                                </m:r>
                              </m:sub>
                            </m:sSub>
                          </m:e>
                        </m:rad>
                      </m:num>
                      <m:den>
                        <m:rad>
                          <m:radPr>
                            <m:degHide m:val="on"/>
                            <m:ctrlPr>
                              <a:rPr lang="en-US" altLang="zh-CN" i="1">
                                <a:latin typeface="Cambria Math" panose="02040503050406030204" charset="0"/>
                                <a:ea typeface="MS Mincho" charset="0"/>
                                <a:cs typeface="Cambria Math" panose="02040503050406030204" charset="0"/>
                                <a:sym typeface="+mn-ea"/>
                              </a:rPr>
                            </m:ctrlPr>
                          </m:radPr>
                          <m:deg/>
                          <m:e>
                            <m:sSub>
                              <m:sSubPr>
                                <m:ctrlPr>
                                  <a:rPr lang="en-US" altLang="zh-CN" i="1">
                                    <a:latin typeface="Cambria Math" panose="02040503050406030204" charset="0"/>
                                    <a:ea typeface="MS Mincho" charset="0"/>
                                    <a:cs typeface="Cambria Math" panose="02040503050406030204" charset="0"/>
                                    <a:sym typeface="+mn-ea"/>
                                  </a:rPr>
                                </m:ctrlPr>
                              </m:sSubPr>
                              <m:e>
                                <m:r>
                                  <a:rPr lang="en-US" altLang="zh-CN" i="1">
                                    <a:latin typeface="Cambria Math" panose="02040503050406030204" charset="0"/>
                                    <a:ea typeface="MS Mincho" charset="0"/>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1</m:t>
                                </m:r>
                              </m:sub>
                            </m:sSub>
                          </m:e>
                        </m:rad>
                      </m:den>
                    </m:f>
                  </m:oMath>
                </a14:m>
                <a:r>
                  <a:rPr lang="en-US" altLang="zh-CN">
                    <a:latin typeface="仿宋" panose="02010609060101010101" charset="-122"/>
                    <a:ea typeface="仿宋" panose="02010609060101010101" charset="-122"/>
                    <a:cs typeface="仿宋" panose="02010609060101010101" charset="-122"/>
                    <a:sym typeface="+mn-ea"/>
                  </a:rPr>
                  <a:t>，</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1</m:t>
                        </m:r>
                      </m:sub>
                    </m:sSub>
                    <m:r>
                      <a:rPr lang="en-US" altLang="zh-CN" i="1">
                        <a:latin typeface="Cambria Math" panose="02040503050406030204" charset="0"/>
                        <a:ea typeface="MS Mincho" charset="0"/>
                        <a:cs typeface="Cambria Math" panose="02040503050406030204" charset="0"/>
                        <a:sym typeface="+mn-ea"/>
                      </a:rPr>
                      <m:t>=</m:t>
                    </m:r>
                    <m:r>
                      <a:rPr lang="en-US" altLang="zh-CN" i="1">
                        <a:latin typeface="Cambria Math" panose="02040503050406030204" charset="0"/>
                        <a:ea typeface="MS Mincho" charset="0"/>
                        <a:cs typeface="Cambria Math" panose="02040503050406030204" charset="0"/>
                        <a:sym typeface="+mn-ea"/>
                      </a:rPr>
                      <m:t>100</m:t>
                    </m:r>
                  </m:oMath>
                </a14:m>
                <a:r>
                  <a:rPr lang="en-US" altLang="zh-CN">
                    <a:latin typeface="仿宋" panose="02010609060101010101" charset="-122"/>
                    <a:ea typeface="仿宋" panose="02010609060101010101" charset="-122"/>
                    <a:cs typeface="仿宋" panose="02010609060101010101" charset="-122"/>
                    <a:sym typeface="+mn-ea"/>
                  </a:rPr>
                  <a:t>, </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2</m:t>
                        </m:r>
                      </m:sub>
                    </m:sSub>
                    <m:r>
                      <a:rPr lang="en-US" altLang="zh-CN" i="1">
                        <a:latin typeface="Cambria Math" panose="02040503050406030204" charset="0"/>
                        <a:ea typeface="MS Mincho" charset="0"/>
                        <a:cs typeface="Cambria Math" panose="02040503050406030204" charset="0"/>
                        <a:sym typeface="+mn-ea"/>
                      </a:rPr>
                      <m:t>=</m:t>
                    </m:r>
                    <m:r>
                      <a:rPr lang="en-US" altLang="zh-CN" i="1">
                        <a:latin typeface="Cambria Math" panose="02040503050406030204" charset="0"/>
                        <a:ea typeface="MS Mincho" charset="0"/>
                        <a:cs typeface="Cambria Math" panose="02040503050406030204" charset="0"/>
                        <a:sym typeface="+mn-ea"/>
                      </a:rPr>
                      <m:t>50</m:t>
                    </m:r>
                  </m:oMath>
                </a14:m>
                <a:r>
                  <a:rPr lang="en-US" altLang="zh-CN">
                    <a:latin typeface="仿宋" panose="02010609060101010101" charset="-122"/>
                    <a:ea typeface="仿宋" panose="02010609060101010101" charset="-122"/>
                    <a:cs typeface="仿宋" panose="02010609060101010101" charset="-122"/>
                    <a:sym typeface="+mn-ea"/>
                  </a:rPr>
                  <a:t>, </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1</m:t>
                        </m:r>
                      </m:sub>
                    </m:sSub>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𝑣</m:t>
                        </m:r>
                      </m:e>
                      <m:sub>
                        <m:r>
                          <a:rPr lang="en-US" altLang="zh-CN" i="1">
                            <a:latin typeface="Cambria Math" panose="02040503050406030204" charset="0"/>
                            <a:ea typeface="MS Mincho" charset="0"/>
                            <a:cs typeface="Cambria Math" panose="02040503050406030204" charset="0"/>
                            <a:sym typeface="+mn-ea"/>
                          </a:rPr>
                          <m:t>1</m:t>
                        </m:r>
                      </m:sub>
                    </m:sSub>
                    <m:r>
                      <a:rPr lang="en-US" altLang="zh-CN" i="1">
                        <a:latin typeface="Cambria Math" panose="02040503050406030204" charset="0"/>
                        <a:ea typeface="MS Mincho" charset="0"/>
                        <a:cs typeface="Cambria Math" panose="02040503050406030204" charset="0"/>
                        <a:sym typeface="+mn-ea"/>
                      </a:rPr>
                      <m:t>=</m:t>
                    </m:r>
                    <m:r>
                      <a:rPr lang="en-US" altLang="zh-CN" i="1">
                        <a:latin typeface="Cambria Math" panose="02040503050406030204" charset="0"/>
                        <a:ea typeface="MS Mincho" charset="0"/>
                        <a:cs typeface="Cambria Math" panose="02040503050406030204" charset="0"/>
                        <a:sym typeface="+mn-ea"/>
                      </a:rPr>
                      <m:t>1</m:t>
                    </m:r>
                    <m:r>
                      <a:rPr lang="en-US" altLang="zh-CN" i="1">
                        <a:latin typeface="Cambria Math" panose="02040503050406030204" charset="0"/>
                        <a:ea typeface="仿宋" panose="02010609060101010101" charset="-122"/>
                        <a:cs typeface="Cambria Math" panose="02040503050406030204" charset="0"/>
                        <a:sym typeface="+mn-ea"/>
                      </a:rPr>
                      <m:t>𝑘𝑔</m:t>
                    </m:r>
                  </m:oMath>
                </a14:m>
                <a:endParaRPr lang="en-US" altLang="zh-CN">
                  <a:latin typeface="仿宋" panose="02010609060101010101" charset="-122"/>
                  <a:ea typeface="仿宋" panose="02010609060101010101" charset="-122"/>
                  <a:cs typeface="仿宋" panose="02010609060101010101" charset="-122"/>
                </a:endParaRPr>
              </a:p>
              <a:p>
                <a:pPr>
                  <a:lnSpc>
                    <a:spcPct val="130000"/>
                  </a:lnSpc>
                </a:pPr>
                <a:r>
                  <a:rPr lang="zh-CN" altLang="en-US">
                    <a:latin typeface="仿宋" panose="02010609060101010101" charset="-122"/>
                    <a:ea typeface="仿宋" panose="02010609060101010101" charset="-122"/>
                    <a:cs typeface="仿宋" panose="02010609060101010101" charset="-122"/>
                    <a:sym typeface="+mn-ea"/>
                  </a:rPr>
                  <a:t>所以 50 个饺子包的馅为</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2</m:t>
                        </m:r>
                      </m:sub>
                    </m:sSub>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𝑣</m:t>
                        </m:r>
                      </m:e>
                      <m:sub>
                        <m:r>
                          <a:rPr lang="en-US" altLang="zh-CN" i="1">
                            <a:latin typeface="Cambria Math" panose="02040503050406030204" charset="0"/>
                            <a:ea typeface="MS Mincho" charset="0"/>
                            <a:cs typeface="Cambria Math" panose="02040503050406030204" charset="0"/>
                            <a:sym typeface="+mn-ea"/>
                          </a:rPr>
                          <m:t>2</m:t>
                        </m:r>
                      </m:sub>
                    </m:sSub>
                    <m:r>
                      <a:rPr lang="en-US" altLang="zh-CN" i="1">
                        <a:latin typeface="Cambria Math" panose="02040503050406030204" charset="0"/>
                        <a:ea typeface="MS Mincho" charset="0"/>
                        <a:cs typeface="Cambria Math" panose="02040503050406030204" charset="0"/>
                        <a:sym typeface="+mn-ea"/>
                      </a:rPr>
                      <m:t>=</m:t>
                    </m:r>
                    <m:rad>
                      <m:radPr>
                        <m:degHide m:val="on"/>
                        <m:ctrlPr>
                          <a:rPr lang="en-US" altLang="zh-CN" i="1">
                            <a:latin typeface="Cambria Math" panose="02040503050406030204" charset="0"/>
                            <a:ea typeface="仿宋" panose="02010609060101010101" charset="-122"/>
                            <a:cs typeface="Cambria Math" panose="02040503050406030204" charset="0"/>
                            <a:sym typeface="+mn-ea"/>
                          </a:rPr>
                        </m:ctrlPr>
                      </m:radPr>
                      <m:deg/>
                      <m:e>
                        <m:f>
                          <m:fPr>
                            <m:ctrlPr>
                              <a:rPr lang="en-US" altLang="zh-CN" i="1">
                                <a:latin typeface="Cambria Math" panose="02040503050406030204" charset="0"/>
                                <a:ea typeface="仿宋" panose="02010609060101010101" charset="-122"/>
                                <a:cs typeface="Cambria Math" panose="02040503050406030204" charset="0"/>
                                <a:sym typeface="+mn-ea"/>
                              </a:rPr>
                            </m:ctrlPr>
                          </m:fPr>
                          <m:num>
                            <m:r>
                              <a:rPr lang="en-US" altLang="zh-CN" i="1">
                                <a:latin typeface="Cambria Math" panose="02040503050406030204" charset="0"/>
                                <a:ea typeface="MS Mincho" charset="0"/>
                                <a:cs typeface="Cambria Math" panose="02040503050406030204" charset="0"/>
                                <a:sym typeface="+mn-ea"/>
                              </a:rPr>
                              <m:t>100</m:t>
                            </m:r>
                          </m:num>
                          <m:den>
                            <m:r>
                              <a:rPr lang="en-US" altLang="zh-CN" i="1">
                                <a:latin typeface="Cambria Math" panose="02040503050406030204" charset="0"/>
                                <a:ea typeface="MS Mincho" charset="0"/>
                                <a:cs typeface="Cambria Math" panose="02040503050406030204" charset="0"/>
                                <a:sym typeface="+mn-ea"/>
                              </a:rPr>
                              <m:t>50</m:t>
                            </m:r>
                          </m:den>
                        </m:f>
                      </m:e>
                    </m:rad>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𝑛</m:t>
                        </m:r>
                      </m:e>
                      <m:sub>
                        <m:r>
                          <a:rPr lang="en-US" altLang="zh-CN" i="1">
                            <a:latin typeface="Cambria Math" panose="02040503050406030204" charset="0"/>
                            <a:ea typeface="MS Mincho" charset="0"/>
                            <a:cs typeface="Cambria Math" panose="02040503050406030204" charset="0"/>
                            <a:sym typeface="+mn-ea"/>
                          </a:rPr>
                          <m:t>1</m:t>
                        </m:r>
                      </m:sub>
                    </m:sSub>
                    <m:sSub>
                      <m:sSubPr>
                        <m:ctrlPr>
                          <a:rPr lang="en-US" altLang="zh-CN" i="1">
                            <a:latin typeface="Cambria Math" panose="02040503050406030204" charset="0"/>
                            <a:ea typeface="仿宋" panose="02010609060101010101" charset="-122"/>
                            <a:cs typeface="Cambria Math" panose="02040503050406030204" charset="0"/>
                            <a:sym typeface="+mn-ea"/>
                          </a:rPr>
                        </m:ctrlPr>
                      </m:sSubPr>
                      <m:e>
                        <m:r>
                          <a:rPr lang="en-US" altLang="zh-CN" i="1">
                            <a:latin typeface="Cambria Math" panose="02040503050406030204" charset="0"/>
                            <a:ea typeface="仿宋" panose="02010609060101010101" charset="-122"/>
                            <a:cs typeface="Cambria Math" panose="02040503050406030204" charset="0"/>
                            <a:sym typeface="+mn-ea"/>
                          </a:rPr>
                          <m:t>𝑣</m:t>
                        </m:r>
                      </m:e>
                      <m:sub>
                        <m:r>
                          <a:rPr lang="en-US" altLang="zh-CN" i="1">
                            <a:latin typeface="Cambria Math" panose="02040503050406030204" charset="0"/>
                            <a:ea typeface="MS Mincho" charset="0"/>
                            <a:cs typeface="Cambria Math" panose="02040503050406030204" charset="0"/>
                            <a:sym typeface="+mn-ea"/>
                          </a:rPr>
                          <m:t>1</m:t>
                        </m:r>
                      </m:sub>
                    </m:sSub>
                    <m:r>
                      <a:rPr lang="en-US" altLang="zh-CN" i="1">
                        <a:latin typeface="Cambria Math" panose="02040503050406030204" charset="0"/>
                        <a:ea typeface="MS Mincho" charset="0"/>
                        <a:cs typeface="Cambria Math" panose="02040503050406030204" charset="0"/>
                        <a:sym typeface="+mn-ea"/>
                      </a:rPr>
                      <m:t>=</m:t>
                    </m:r>
                    <m:rad>
                      <m:radPr>
                        <m:degHide m:val="on"/>
                        <m:ctrlPr>
                          <a:rPr lang="en-US" altLang="zh-CN" i="1">
                            <a:latin typeface="Cambria Math" panose="02040503050406030204" charset="0"/>
                            <a:ea typeface="仿宋" panose="02010609060101010101" charset="-122"/>
                            <a:cs typeface="Cambria Math" panose="02040503050406030204" charset="0"/>
                            <a:sym typeface="+mn-ea"/>
                          </a:rPr>
                        </m:ctrlPr>
                      </m:radPr>
                      <m:deg/>
                      <m:e>
                        <m:r>
                          <a:rPr lang="en-US" altLang="zh-CN" i="1">
                            <a:latin typeface="Cambria Math" panose="02040503050406030204" charset="0"/>
                            <a:ea typeface="MS Mincho" charset="0"/>
                            <a:cs typeface="Cambria Math" panose="02040503050406030204" charset="0"/>
                            <a:sym typeface="+mn-ea"/>
                          </a:rPr>
                          <m:t>2</m:t>
                        </m:r>
                      </m:e>
                    </m:rad>
                    <m:r>
                      <a:rPr lang="en-US" altLang="zh-CN" i="1">
                        <a:latin typeface="Cambria Math" panose="02040503050406030204" charset="0"/>
                        <a:ea typeface="仿宋" panose="02010609060101010101" charset="-122"/>
                        <a:cs typeface="Cambria Math" panose="02040503050406030204" charset="0"/>
                        <a:sym typeface="+mn-ea"/>
                      </a:rPr>
                      <m:t>𝑘𝑔</m:t>
                    </m:r>
                  </m:oMath>
                </a14:m>
                <a:r>
                  <a:rPr lang="en-US" altLang="zh-CN">
                    <a:latin typeface="仿宋" panose="02010609060101010101" charset="-122"/>
                    <a:ea typeface="仿宋" panose="02010609060101010101" charset="-122"/>
                    <a:cs typeface="仿宋" panose="02010609060101010101" charset="-122"/>
                    <a:sym typeface="+mn-ea"/>
                  </a:rPr>
                  <a:t> （2</a:t>
                </a:r>
                <a:r>
                  <a:rPr lang="zh-CN" altLang="en-US">
                    <a:latin typeface="仿宋" panose="02010609060101010101" charset="-122"/>
                    <a:ea typeface="仿宋" panose="02010609060101010101" charset="-122"/>
                    <a:cs typeface="仿宋" panose="02010609060101010101" charset="-122"/>
                    <a:sym typeface="+mn-ea"/>
                  </a:rPr>
                  <a:t>分）</a:t>
                </a:r>
                <a:endParaRPr lang="zh-CN" altLang="en-US">
                  <a:latin typeface="仿宋" panose="02010609060101010101" charset="-122"/>
                  <a:ea typeface="仿宋" panose="02010609060101010101" charset="-122"/>
                  <a:cs typeface="仿宋" panose="02010609060101010101" charset="-122"/>
                  <a:sym typeface="+mn-ea"/>
                </a:endParaRPr>
              </a:p>
            </p:txBody>
          </p:sp>
        </mc:Choice>
        <mc:Fallback>
          <p:sp>
            <p:nvSpPr>
              <p:cNvPr id="2" name="文本框 1"/>
              <p:cNvSpPr txBox="1">
                <a:spLocks noRot="1" noChangeAspect="1" noMove="1" noResize="1" noEditPoints="1" noAdjustHandles="1" noChangeArrowheads="1" noChangeShapeType="1" noTextEdit="1"/>
              </p:cNvSpPr>
              <p:nvPr/>
            </p:nvSpPr>
            <p:spPr>
              <a:xfrm>
                <a:off x="967740" y="751840"/>
                <a:ext cx="10552430" cy="5586095"/>
              </a:xfrm>
              <a:prstGeom prst="rect">
                <a:avLst/>
              </a:prstGeom>
              <a:blipFill rotWithShape="1">
                <a:blip r:embed="rId1"/>
                <a:stretch>
                  <a:fillRect/>
                </a:stretch>
              </a:blipFill>
            </p:spPr>
            <p:txBody>
              <a:bodyPr/>
              <a:lstStyle/>
              <a:p>
                <a:r>
                  <a:rPr lang="zh-CN" altLang="en-US">
                    <a:noFill/>
                  </a:rPr>
                  <a:t> </a:t>
                </a:r>
              </a:p>
            </p:txBody>
          </p:sp>
        </mc:Fallback>
      </mc:AlternateContent>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88695" y="1569720"/>
            <a:ext cx="10311130" cy="1920875"/>
          </a:xfrm>
          <a:prstGeom prst="rect">
            <a:avLst/>
          </a:prstGeom>
          <a:noFill/>
        </p:spPr>
        <p:txBody>
          <a:bodyPr wrap="square" rtlCol="0" anchor="t">
            <a:noAutofit/>
          </a:bodyPr>
          <a:p>
            <a:pPr>
              <a:lnSpc>
                <a:spcPct val="150000"/>
              </a:lnSpc>
            </a:pPr>
            <a:r>
              <a:rPr lang="zh-CN" altLang="en-US">
                <a:latin typeface="仿宋" panose="02010609060101010101" charset="-122"/>
                <a:ea typeface="仿宋" panose="02010609060101010101" charset="-122"/>
                <a:cs typeface="仿宋" panose="02010609060101010101" charset="-122"/>
              </a:rPr>
              <a:t>(路障间距的设计) 校园、居民小区道路需要限制车速 —— 设置路障，汽车过路障时速度接近 1</a:t>
            </a:r>
            <a:r>
              <a:rPr lang="en-US" altLang="zh-CN">
                <a:latin typeface="仿宋" panose="02010609060101010101" charset="-122"/>
                <a:ea typeface="仿宋" panose="02010609060101010101" charset="-122"/>
                <a:cs typeface="仿宋" panose="02010609060101010101" charset="-122"/>
              </a:rPr>
              <a:t>m/s，</a:t>
            </a:r>
            <a:r>
              <a:rPr lang="zh-CN" altLang="en-US">
                <a:latin typeface="仿宋" panose="02010609060101010101" charset="-122"/>
                <a:ea typeface="仿宋" panose="02010609060101010101" charset="-122"/>
                <a:cs typeface="仿宋" panose="02010609060101010101" charset="-122"/>
              </a:rPr>
              <a:t>过路障后加速，如果限制车速≤11</a:t>
            </a:r>
            <a:r>
              <a:rPr lang="en-US" altLang="zh-CN">
                <a:latin typeface="仿宋" panose="02010609060101010101" charset="-122"/>
                <a:ea typeface="仿宋" panose="02010609060101010101" charset="-122"/>
                <a:cs typeface="仿宋" panose="02010609060101010101" charset="-122"/>
              </a:rPr>
              <a:t>m/s，</a:t>
            </a:r>
            <a:r>
              <a:rPr lang="zh-CN" altLang="en-US">
                <a:latin typeface="仿宋" panose="02010609060101010101" charset="-122"/>
                <a:ea typeface="仿宋" panose="02010609060101010101" charset="-122"/>
                <a:cs typeface="仿宋" panose="02010609060101010101" charset="-122"/>
              </a:rPr>
              <a:t>当车速达到 11</a:t>
            </a:r>
            <a:r>
              <a:rPr lang="en-US" altLang="zh-CN">
                <a:latin typeface="仿宋" panose="02010609060101010101" charset="-122"/>
                <a:ea typeface="仿宋" panose="02010609060101010101" charset="-122"/>
                <a:cs typeface="仿宋" panose="02010609060101010101" charset="-122"/>
              </a:rPr>
              <a:t>m/s </a:t>
            </a:r>
            <a:r>
              <a:rPr lang="zh-CN" altLang="en-US">
                <a:latin typeface="仿宋" panose="02010609060101010101" charset="-122"/>
                <a:ea typeface="仿宋" panose="02010609060101010101" charset="-122"/>
                <a:cs typeface="仿宋" panose="02010609060101010101" charset="-122"/>
              </a:rPr>
              <a:t>时让司机看到下一路障而减速，至路障处车速又接近 1</a:t>
            </a:r>
            <a:r>
              <a:rPr lang="en-US" altLang="zh-CN">
                <a:latin typeface="仿宋" panose="02010609060101010101" charset="-122"/>
                <a:ea typeface="仿宋" panose="02010609060101010101" charset="-122"/>
                <a:cs typeface="仿宋" panose="02010609060101010101" charset="-122"/>
              </a:rPr>
              <a:t>m/s。</a:t>
            </a:r>
            <a:r>
              <a:rPr lang="zh-CN" altLang="en-US">
                <a:latin typeface="仿宋" panose="02010609060101010101" charset="-122"/>
                <a:ea typeface="仿宋" panose="02010609060101010101" charset="-122"/>
                <a:cs typeface="仿宋" panose="02010609060101010101" charset="-122"/>
              </a:rPr>
              <a:t>则应该相距多远设置一个路障？假设汽车加速度为 </a:t>
            </a:r>
            <a:r>
              <a:rPr lang="en-US" altLang="zh-CN">
                <a:latin typeface="仿宋" panose="02010609060101010101" charset="-122"/>
                <a:ea typeface="仿宋" panose="02010609060101010101" charset="-122"/>
                <a:cs typeface="仿宋" panose="02010609060101010101" charset="-122"/>
              </a:rPr>
              <a:t>      </a:t>
            </a:r>
            <a:r>
              <a:rPr lang="zh-CN" altLang="en-US">
                <a:latin typeface="仿宋" panose="02010609060101010101" charset="-122"/>
                <a:ea typeface="仿宋" panose="02010609060101010101" charset="-122"/>
                <a:cs typeface="仿宋" panose="02010609060101010101" charset="-122"/>
              </a:rPr>
              <a:t>，刹车减速度为 </a:t>
            </a:r>
            <a:endParaRPr lang="zh-CN" altLang="en-US"/>
          </a:p>
        </p:txBody>
      </p:sp>
      <p:sp>
        <p:nvSpPr>
          <p:cNvPr id="3" name="文本框 2"/>
          <p:cNvSpPr txBox="1"/>
          <p:nvPr/>
        </p:nvSpPr>
        <p:spPr>
          <a:xfrm>
            <a:off x="988695" y="841375"/>
            <a:ext cx="2800985" cy="460375"/>
          </a:xfrm>
          <a:prstGeom prst="rect">
            <a:avLst/>
          </a:prstGeom>
          <a:noFill/>
        </p:spPr>
        <p:txBody>
          <a:bodyPr wrap="square" rtlCol="0">
            <a:spAutoFit/>
          </a:bodyPr>
          <a:p>
            <a:r>
              <a:rPr lang="zh-CN" altLang="en-US" sz="2400"/>
              <a:t>路障间距的设计</a:t>
            </a:r>
            <a:endParaRPr lang="zh-CN" altLang="en-US" sz="2400"/>
          </a:p>
        </p:txBody>
      </p:sp>
      <mc:AlternateContent xmlns:mc="http://schemas.openxmlformats.org/markup-compatibility/2006">
        <mc:Choice xmlns:a14="http://schemas.microsoft.com/office/drawing/2010/main" Requires="a14">
          <p:sp>
            <p:nvSpPr>
              <p:cNvPr id="4" name="文本框 3"/>
              <p:cNvSpPr txBox="1"/>
              <p:nvPr/>
            </p:nvSpPr>
            <p:spPr>
              <a:xfrm>
                <a:off x="988695" y="3604895"/>
                <a:ext cx="10311130" cy="2423160"/>
              </a:xfrm>
              <a:prstGeom prst="rect">
                <a:avLst/>
              </a:prstGeom>
              <a:noFill/>
            </p:spPr>
            <p:txBody>
              <a:bodyPr wrap="square" rtlCol="0">
                <a:spAutoFit/>
              </a:bodyPr>
              <a:p>
                <a:pPr>
                  <a:lnSpc>
                    <a:spcPct val="160000"/>
                  </a:lnSpc>
                </a:pPr>
                <a:r>
                  <a:rPr lang="zh-CN" altLang="en-US">
                    <a:latin typeface="仿宋" panose="02010609060101010101" charset="-122"/>
                    <a:ea typeface="仿宋" panose="02010609060101010101" charset="-122"/>
                    <a:cs typeface="仿宋" panose="02010609060101010101" charset="-122"/>
                  </a:rPr>
                  <a:t>解：加速行驶：距离</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𝑠</m:t>
                        </m:r>
                      </m:e>
                      <m:sub>
                        <m:r>
                          <a:rPr lang="en-US" altLang="zh-CN" i="1">
                            <a:latin typeface="Cambria Math" panose="02040503050406030204" charset="0"/>
                            <a:ea typeface="仿宋" panose="02010609060101010101" charset="-122"/>
                            <a:cs typeface="Cambria Math" panose="02040503050406030204" charset="0"/>
                          </a:rPr>
                          <m:t>1</m:t>
                        </m:r>
                      </m:sub>
                    </m:sSub>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时间</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1</m:t>
                        </m:r>
                      </m:sub>
                    </m:sSub>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加速度</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𝑎</m:t>
                        </m:r>
                      </m:e>
                      <m:sub>
                        <m:r>
                          <a:rPr lang="en-US" altLang="zh-CN" i="1">
                            <a:latin typeface="Cambria Math" panose="02040503050406030204" charset="0"/>
                            <a:ea typeface="仿宋" panose="02010609060101010101" charset="-122"/>
                            <a:cs typeface="Cambria Math" panose="02040503050406030204" charset="0"/>
                          </a:rPr>
                          <m:t>1</m:t>
                        </m:r>
                      </m:sub>
                    </m:sSub>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加速过程走了</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𝑠</m:t>
                        </m:r>
                      </m:e>
                      <m:sub>
                        <m:r>
                          <a:rPr lang="en-US" altLang="zh-CN" i="1">
                            <a:latin typeface="Cambria Math" panose="02040503050406030204" charset="0"/>
                            <a:ea typeface="仿宋" panose="02010609060101010101" charset="-122"/>
                            <a:cs typeface="Cambria Math" panose="02040503050406030204" charset="0"/>
                          </a:rPr>
                          <m:t>1</m:t>
                        </m:r>
                      </m:sub>
                    </m:sSub>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𝑣</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1</m:t>
                        </m:r>
                      </m:sub>
                    </m:sSub>
                    <m:r>
                      <a:rPr lang="en-US" altLang="zh-CN" i="1">
                        <a:latin typeface="Cambria Math" panose="02040503050406030204" charset="0"/>
                        <a:ea typeface="仿宋" panose="02010609060101010101" charset="-122"/>
                        <a:cs typeface="Cambria Math" panose="02040503050406030204" charset="0"/>
                      </a:rPr>
                      <m:t>+</m:t>
                    </m:r>
                    <m:f>
                      <m:fPr>
                        <m:ctrlPr>
                          <a:rPr lang="en-US" altLang="zh-CN" i="1">
                            <a:latin typeface="Cambria Math" panose="02040503050406030204" charset="0"/>
                            <a:ea typeface="仿宋" panose="02010609060101010101" charset="-122"/>
                            <a:cs typeface="Cambria Math" panose="02040503050406030204" charset="0"/>
                          </a:rPr>
                        </m:ctrlPr>
                      </m:fPr>
                      <m:num>
                        <m:r>
                          <a:rPr lang="en-US" altLang="zh-CN" i="1">
                            <a:latin typeface="Cambria Math" panose="02040503050406030204" charset="0"/>
                            <a:ea typeface="仿宋" panose="02010609060101010101" charset="-122"/>
                            <a:cs typeface="Cambria Math" panose="02040503050406030204" charset="0"/>
                          </a:rPr>
                          <m:t>1</m:t>
                        </m:r>
                      </m:num>
                      <m:den>
                        <m:r>
                          <a:rPr lang="en-US" altLang="zh-CN" i="1">
                            <a:latin typeface="Cambria Math" panose="02040503050406030204" charset="0"/>
                            <a:ea typeface="仿宋" panose="02010609060101010101" charset="-122"/>
                            <a:cs typeface="Cambria Math" panose="02040503050406030204" charset="0"/>
                          </a:rPr>
                          <m:t>2</m:t>
                        </m:r>
                      </m:den>
                    </m:f>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𝑎</m:t>
                        </m:r>
                      </m:e>
                      <m:sub>
                        <m:r>
                          <a:rPr lang="en-US" altLang="zh-CN" i="1">
                            <a:latin typeface="Cambria Math" panose="02040503050406030204" charset="0"/>
                            <a:ea typeface="仿宋" panose="02010609060101010101" charset="-122"/>
                            <a:cs typeface="Cambria Math" panose="02040503050406030204" charset="0"/>
                          </a:rPr>
                          <m:t>1</m:t>
                        </m:r>
                      </m:sub>
                    </m:sSub>
                    <m:sSubSup>
                      <m:sSubSupPr>
                        <m:ctrlPr>
                          <a:rPr lang="en-US" altLang="zh-CN" i="1">
                            <a:latin typeface="Cambria Math" panose="02040503050406030204" charset="0"/>
                            <a:ea typeface="仿宋" panose="02010609060101010101" charset="-122"/>
                            <a:cs typeface="Cambria Math" panose="02040503050406030204" charset="0"/>
                          </a:rPr>
                        </m:ctrlPr>
                      </m:sSubSup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1</m:t>
                        </m:r>
                      </m:sub>
                      <m:sup>
                        <m:r>
                          <a:rPr lang="en-US" altLang="zh-CN" i="1">
                            <a:latin typeface="Cambria Math" panose="02040503050406030204" charset="0"/>
                            <a:ea typeface="仿宋" panose="02010609060101010101" charset="-122"/>
                            <a:cs typeface="Cambria Math" panose="02040503050406030204" charset="0"/>
                          </a:rPr>
                          <m:t>2</m:t>
                        </m:r>
                      </m:sup>
                    </m:sSubSup>
                    <m:r>
                      <a:rPr lang="en-US" altLang="zh-CN" i="1">
                        <a:latin typeface="Cambria Math" panose="02040503050406030204" charset="0"/>
                        <a:ea typeface="仿宋" panose="02010609060101010101" charset="-122"/>
                        <a:cs typeface="Cambria Math" panose="02040503050406030204" charset="0"/>
                      </a:rPr>
                      <m:t> </m:t>
                    </m:r>
                  </m:oMath>
                </a14:m>
                <a:r>
                  <a:rPr lang="en-US" altLang="zh-CN">
                    <a:latin typeface="仿宋" panose="02010609060101010101" charset="-122"/>
                    <a:ea typeface="仿宋" panose="02010609060101010101" charset="-122"/>
                    <a:cs typeface="仿宋" panose="02010609060101010101" charset="-122"/>
                  </a:rPr>
                  <a:t>​           ……（2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a:p>
                <a:pPr>
                  <a:lnSpc>
                    <a:spcPct val="160000"/>
                  </a:lnSpc>
                </a:pPr>
                <a:r>
                  <a:rPr lang="zh-CN" altLang="en-US">
                    <a:latin typeface="仿宋" panose="02010609060101010101" charset="-122"/>
                    <a:ea typeface="仿宋" panose="02010609060101010101" charset="-122"/>
                    <a:cs typeface="仿宋" panose="02010609060101010101" charset="-122"/>
                  </a:rPr>
                  <a:t>减速行驶：距离</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𝑠</m:t>
                        </m:r>
                      </m:e>
                      <m:sub>
                        <m:r>
                          <a:rPr lang="en-US" altLang="zh-CN" i="1">
                            <a:latin typeface="Cambria Math" panose="02040503050406030204" charset="0"/>
                            <a:ea typeface="仿宋" panose="02010609060101010101" charset="-122"/>
                            <a:cs typeface="Cambria Math" panose="02040503050406030204" charset="0"/>
                          </a:rPr>
                          <m:t>2</m:t>
                        </m:r>
                      </m:sub>
                    </m:sSub>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时间</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2</m:t>
                        </m:r>
                      </m:sub>
                    </m:sSub>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减速度</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𝑎</m:t>
                        </m:r>
                      </m:e>
                      <m:sub>
                        <m:r>
                          <a:rPr lang="en-US" altLang="zh-CN" i="1">
                            <a:latin typeface="Cambria Math" panose="02040503050406030204" charset="0"/>
                            <a:ea typeface="仿宋" panose="02010609060101010101" charset="-122"/>
                            <a:cs typeface="Cambria Math" panose="02040503050406030204" charset="0"/>
                          </a:rPr>
                          <m:t>2</m:t>
                        </m:r>
                      </m:sub>
                    </m:sSub>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减速过程走了</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𝑠</m:t>
                        </m:r>
                      </m:e>
                      <m:sub>
                        <m:r>
                          <a:rPr lang="en-US" altLang="zh-CN" i="1">
                            <a:latin typeface="Cambria Math" panose="02040503050406030204" charset="0"/>
                            <a:ea typeface="仿宋" panose="02010609060101010101" charset="-122"/>
                            <a:cs typeface="Cambria Math" panose="02040503050406030204" charset="0"/>
                          </a:rPr>
                          <m:t>2</m:t>
                        </m:r>
                      </m:sub>
                    </m:sSub>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𝑣</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2</m:t>
                        </m:r>
                      </m:sub>
                    </m:sSub>
                    <m:r>
                      <a:rPr lang="en-US" altLang="zh-CN" i="1">
                        <a:latin typeface="Cambria Math" panose="02040503050406030204" charset="0"/>
                        <a:ea typeface="仿宋" panose="02010609060101010101" charset="-122"/>
                        <a:cs typeface="Cambria Math" panose="02040503050406030204" charset="0"/>
                      </a:rPr>
                      <m:t>+</m:t>
                    </m:r>
                    <m:f>
                      <m:fPr>
                        <m:ctrlPr>
                          <a:rPr lang="en-US" altLang="zh-CN" i="1">
                            <a:latin typeface="Cambria Math" panose="02040503050406030204" charset="0"/>
                            <a:ea typeface="仿宋" panose="02010609060101010101" charset="-122"/>
                            <a:cs typeface="Cambria Math" panose="02040503050406030204" charset="0"/>
                          </a:rPr>
                        </m:ctrlPr>
                      </m:fPr>
                      <m:num>
                        <m:r>
                          <a:rPr lang="en-US" altLang="zh-CN" i="1">
                            <a:latin typeface="Cambria Math" panose="02040503050406030204" charset="0"/>
                            <a:ea typeface="仿宋" panose="02010609060101010101" charset="-122"/>
                            <a:cs typeface="Cambria Math" panose="02040503050406030204" charset="0"/>
                          </a:rPr>
                          <m:t>1</m:t>
                        </m:r>
                      </m:num>
                      <m:den>
                        <m:r>
                          <a:rPr lang="en-US" altLang="zh-CN" i="1">
                            <a:latin typeface="Cambria Math" panose="02040503050406030204" charset="0"/>
                            <a:ea typeface="仿宋" panose="02010609060101010101" charset="-122"/>
                            <a:cs typeface="Cambria Math" panose="02040503050406030204" charset="0"/>
                          </a:rPr>
                          <m:t>2</m:t>
                        </m:r>
                      </m:den>
                    </m:f>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𝑎</m:t>
                        </m:r>
                      </m:e>
                      <m:sub>
                        <m:r>
                          <a:rPr lang="en-US" altLang="zh-CN" i="1">
                            <a:latin typeface="Cambria Math" panose="02040503050406030204" charset="0"/>
                            <a:ea typeface="仿宋" panose="02010609060101010101" charset="-122"/>
                            <a:cs typeface="Cambria Math" panose="02040503050406030204" charset="0"/>
                          </a:rPr>
                          <m:t>2</m:t>
                        </m:r>
                      </m:sub>
                    </m:sSub>
                    <m:sSubSup>
                      <m:sSubSupPr>
                        <m:ctrlPr>
                          <a:rPr lang="en-US" altLang="zh-CN" i="1">
                            <a:latin typeface="Cambria Math" panose="02040503050406030204" charset="0"/>
                            <a:ea typeface="仿宋" panose="02010609060101010101" charset="-122"/>
                            <a:cs typeface="Cambria Math" panose="02040503050406030204" charset="0"/>
                          </a:rPr>
                        </m:ctrlPr>
                      </m:sSubSup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2</m:t>
                        </m:r>
                      </m:sub>
                      <m:sup>
                        <m:r>
                          <a:rPr lang="en-US" altLang="zh-CN" i="1">
                            <a:latin typeface="Cambria Math" panose="02040503050406030204" charset="0"/>
                            <a:ea typeface="仿宋" panose="02010609060101010101" charset="-122"/>
                            <a:cs typeface="Cambria Math" panose="02040503050406030204" charset="0"/>
                          </a:rPr>
                          <m:t>2</m:t>
                        </m:r>
                      </m:sup>
                    </m:sSubSup>
                  </m:oMath>
                </a14:m>
                <a:r>
                  <a:rPr lang="en-US" altLang="zh-CN">
                    <a:latin typeface="仿宋" panose="02010609060101010101" charset="-122"/>
                    <a:ea typeface="仿宋" panose="02010609060101010101" charset="-122"/>
                    <a:cs typeface="仿宋" panose="02010609060101010101" charset="-122"/>
                  </a:rPr>
                  <a:t>​               ……（2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a:p>
                <a:pPr>
                  <a:lnSpc>
                    <a:spcPct val="160000"/>
                  </a:lnSpc>
                </a:pPr>
                <a:r>
                  <a:rPr lang="zh-CN" altLang="en-US">
                    <a:latin typeface="仿宋" panose="02010609060101010101" charset="-122"/>
                    <a:ea typeface="仿宋" panose="02010609060101010101" charset="-122"/>
                    <a:cs typeface="仿宋" panose="02010609060101010101" charset="-122"/>
                  </a:rPr>
                  <a:t>且</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𝑣</m:t>
                        </m:r>
                      </m:e>
                      <m:sub>
                        <m:r>
                          <a:rPr lang="en-US" altLang="zh-CN" i="1">
                            <a:latin typeface="Cambria Math" panose="02040503050406030204" charset="0"/>
                            <a:ea typeface="仿宋" panose="02010609060101010101" charset="-122"/>
                            <a:cs typeface="Cambria Math" panose="02040503050406030204" charset="0"/>
                          </a:rPr>
                          <m:t>𝑚𝑎𝑥</m:t>
                        </m:r>
                      </m:sub>
                    </m:sSub>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𝑣</m:t>
                    </m:r>
                    <m:r>
                      <a:rPr lang="en-US" altLang="zh-CN" i="1">
                        <a:latin typeface="Cambria Math" panose="02040503050406030204" charset="0"/>
                        <a:ea typeface="仿宋" panose="02010609060101010101" charset="-122"/>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𝑎</m:t>
                        </m:r>
                      </m:e>
                      <m:sub>
                        <m:r>
                          <a:rPr lang="en-US" altLang="zh-CN" i="1">
                            <a:latin typeface="Cambria Math" panose="02040503050406030204" charset="0"/>
                            <a:ea typeface="仿宋" panose="02010609060101010101" charset="-122"/>
                            <a:cs typeface="Cambria Math" panose="02040503050406030204" charset="0"/>
                          </a:rPr>
                          <m:t>1</m:t>
                        </m:r>
                      </m:sub>
                    </m:sSub>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1</m:t>
                        </m:r>
                      </m:sub>
                    </m:sSub>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𝑣</m:t>
                    </m:r>
                    <m:r>
                      <a:rPr lang="en-US" altLang="zh-CN" i="1">
                        <a:latin typeface="Cambria Math" panose="02040503050406030204" charset="0"/>
                        <a:ea typeface="仿宋" panose="02010609060101010101" charset="-122"/>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𝑎</m:t>
                        </m:r>
                      </m:e>
                      <m:sub>
                        <m:r>
                          <a:rPr lang="en-US" altLang="zh-CN" i="1">
                            <a:latin typeface="Cambria Math" panose="02040503050406030204" charset="0"/>
                            <a:ea typeface="仿宋" panose="02010609060101010101" charset="-122"/>
                            <a:cs typeface="Cambria Math" panose="02040503050406030204" charset="0"/>
                          </a:rPr>
                          <m:t>2</m:t>
                        </m:r>
                      </m:sub>
                    </m:sSub>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2</m:t>
                        </m:r>
                      </m:sub>
                    </m:sSub>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于是</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10</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11</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𝑣</m:t>
                    </m:r>
                    <m:r>
                      <a:rPr lang="en-US" altLang="zh-CN" i="1">
                        <a:latin typeface="Cambria Math" panose="02040503050406030204" charset="0"/>
                        <a:ea typeface="仿宋" panose="02010609060101010101" charset="-122"/>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𝑎</m:t>
                        </m:r>
                      </m:e>
                      <m:sub>
                        <m:r>
                          <a:rPr lang="en-US" altLang="zh-CN" i="1">
                            <a:latin typeface="Cambria Math" panose="02040503050406030204" charset="0"/>
                            <a:ea typeface="仿宋" panose="02010609060101010101" charset="-122"/>
                            <a:cs typeface="Cambria Math" panose="02040503050406030204" charset="0"/>
                          </a:rPr>
                          <m:t>1</m:t>
                        </m:r>
                      </m:sub>
                    </m:sSub>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1</m:t>
                        </m:r>
                      </m:sub>
                    </m:sSub>
                    <m:r>
                      <a:rPr lang="en-US" altLang="zh-CN" i="1">
                        <a:latin typeface="Cambria Math" panose="02040503050406030204" charset="0"/>
                        <a:ea typeface="仿宋" panose="02010609060101010101" charset="-122"/>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𝑎</m:t>
                        </m:r>
                      </m:e>
                      <m:sub>
                        <m:r>
                          <a:rPr lang="en-US" altLang="zh-CN" i="1">
                            <a:latin typeface="Cambria Math" panose="02040503050406030204" charset="0"/>
                            <a:ea typeface="仿宋" panose="02010609060101010101" charset="-122"/>
                            <a:cs typeface="Cambria Math" panose="02040503050406030204" charset="0"/>
                          </a:rPr>
                          <m:t>2</m:t>
                        </m:r>
                      </m:sub>
                    </m:sSub>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2</m:t>
                        </m:r>
                      </m:sub>
                    </m:sSub>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所以</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1</m:t>
                        </m:r>
                      </m:sub>
                    </m:sSub>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5</m:t>
                    </m:r>
                  </m:oMath>
                </a14:m>
                <a:r>
                  <a:rPr lang="en-US" altLang="zh-CN">
                    <a:latin typeface="仿宋" panose="02010609060101010101" charset="-122"/>
                    <a:ea typeface="仿宋" panose="02010609060101010101" charset="-122"/>
                    <a:cs typeface="仿宋" panose="02010609060101010101" charset="-122"/>
                  </a:rPr>
                  <a:t>,</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2</m:t>
                        </m:r>
                      </m:sub>
                    </m:sSub>
                  </m:oMath>
                </a14:m>
                <a:r>
                  <a:rPr lang="en-US" altLang="zh-CN">
                    <a:latin typeface="仿宋" panose="02010609060101010101" charset="-122"/>
                    <a:ea typeface="仿宋" panose="02010609060101010101" charset="-122"/>
                    <a:cs typeface="仿宋" panose="02010609060101010101" charset="-122"/>
                  </a:rPr>
                  <a:t>=10     </a:t>
                </a:r>
                <a:r>
                  <a:rPr lang="en-US" altLang="zh-CN">
                    <a:latin typeface="仿宋" panose="02010609060101010101" charset="-122"/>
                    <a:ea typeface="仿宋" panose="02010609060101010101" charset="-122"/>
                    <a:cs typeface="仿宋" panose="02010609060101010101" charset="-122"/>
                    <a:sym typeface="+mn-ea"/>
                  </a:rPr>
                  <a:t>…</a:t>
                </a:r>
                <a:r>
                  <a:rPr lang="en-US" altLang="zh-CN">
                    <a:latin typeface="仿宋" panose="02010609060101010101" charset="-122"/>
                    <a:ea typeface="仿宋" panose="02010609060101010101" charset="-122"/>
                    <a:cs typeface="仿宋" panose="02010609060101010101" charset="-122"/>
                  </a:rPr>
                  <a:t>…（3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a:p>
                <a:pPr>
                  <a:lnSpc>
                    <a:spcPct val="160000"/>
                  </a:lnSpc>
                </a:pP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𝑆</m:t>
                    </m:r>
                    <m:r>
                      <a:rPr lang="en-US" altLang="zh-CN" i="1">
                        <a:latin typeface="Cambria Math" panose="02040503050406030204" charset="0"/>
                        <a:ea typeface="仿宋" panose="02010609060101010101" charset="-122"/>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𝑠</m:t>
                        </m:r>
                      </m:e>
                      <m:sub>
                        <m:r>
                          <a:rPr lang="en-US" altLang="zh-CN" i="1">
                            <a:latin typeface="Cambria Math" panose="02040503050406030204" charset="0"/>
                            <a:ea typeface="仿宋" panose="02010609060101010101" charset="-122"/>
                            <a:cs typeface="Cambria Math" panose="02040503050406030204" charset="0"/>
                          </a:rPr>
                          <m:t>1</m:t>
                        </m:r>
                      </m:sub>
                    </m:sSub>
                    <m:r>
                      <a:rPr lang="en-US" altLang="zh-CN" i="1">
                        <a:latin typeface="Cambria Math" panose="02040503050406030204" charset="0"/>
                        <a:ea typeface="仿宋" panose="02010609060101010101" charset="-122"/>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𝑠</m:t>
                        </m:r>
                      </m:e>
                      <m:sub>
                        <m:r>
                          <a:rPr lang="en-US" altLang="zh-CN" i="1">
                            <a:latin typeface="Cambria Math" panose="02040503050406030204" charset="0"/>
                            <a:ea typeface="仿宋" panose="02010609060101010101" charset="-122"/>
                            <a:cs typeface="Cambria Math" panose="02040503050406030204" charset="0"/>
                          </a:rPr>
                          <m:t>2</m:t>
                        </m:r>
                      </m:sub>
                    </m:sSub>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𝑣</m:t>
                    </m:r>
                    <m:r>
                      <a:rPr lang="en-US" altLang="zh-CN" i="1">
                        <a:latin typeface="Cambria Math" panose="02040503050406030204" charset="0"/>
                        <a:ea typeface="仿宋" panose="02010609060101010101" charset="-122"/>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1</m:t>
                        </m:r>
                      </m:sub>
                    </m:sSub>
                    <m:r>
                      <a:rPr lang="en-US" altLang="zh-CN" i="1">
                        <a:latin typeface="Cambria Math" panose="02040503050406030204" charset="0"/>
                        <a:ea typeface="仿宋" panose="02010609060101010101" charset="-122"/>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2</m:t>
                        </m:r>
                      </m:sub>
                    </m:sSub>
                    <m:r>
                      <a:rPr lang="en-US" altLang="zh-CN" i="1">
                        <a:latin typeface="Cambria Math" panose="02040503050406030204" charset="0"/>
                        <a:ea typeface="仿宋" panose="02010609060101010101" charset="-122"/>
                        <a:cs typeface="Cambria Math" panose="02040503050406030204" charset="0"/>
                      </a:rPr>
                      <m:t>)+</m:t>
                    </m:r>
                    <m:f>
                      <m:fPr>
                        <m:ctrlPr>
                          <a:rPr lang="en-US" altLang="zh-CN" i="1">
                            <a:latin typeface="Cambria Math" panose="02040503050406030204" charset="0"/>
                            <a:ea typeface="仿宋" panose="02010609060101010101" charset="-122"/>
                            <a:cs typeface="Cambria Math" panose="02040503050406030204" charset="0"/>
                          </a:rPr>
                        </m:ctrlPr>
                      </m:fPr>
                      <m:num>
                        <m:r>
                          <a:rPr lang="en-US" altLang="zh-CN" i="1">
                            <a:latin typeface="Cambria Math" panose="02040503050406030204" charset="0"/>
                            <a:ea typeface="仿宋" panose="02010609060101010101" charset="-122"/>
                            <a:cs typeface="Cambria Math" panose="02040503050406030204" charset="0"/>
                          </a:rPr>
                          <m:t>1</m:t>
                        </m:r>
                      </m:num>
                      <m:den>
                        <m:r>
                          <a:rPr lang="en-US" altLang="zh-CN" i="1">
                            <a:latin typeface="Cambria Math" panose="02040503050406030204" charset="0"/>
                            <a:ea typeface="仿宋" panose="02010609060101010101" charset="-122"/>
                            <a:cs typeface="Cambria Math" panose="02040503050406030204" charset="0"/>
                          </a:rPr>
                          <m:t>2</m:t>
                        </m:r>
                      </m:den>
                    </m:f>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𝑎</m:t>
                        </m:r>
                      </m:e>
                      <m:sub>
                        <m:r>
                          <a:rPr lang="en-US" altLang="zh-CN" i="1">
                            <a:latin typeface="Cambria Math" panose="02040503050406030204" charset="0"/>
                            <a:ea typeface="仿宋" panose="02010609060101010101" charset="-122"/>
                            <a:cs typeface="Cambria Math" panose="02040503050406030204" charset="0"/>
                          </a:rPr>
                          <m:t>1</m:t>
                        </m:r>
                      </m:sub>
                    </m:sSub>
                    <m:sSubSup>
                      <m:sSubSupPr>
                        <m:ctrlPr>
                          <a:rPr lang="en-US" altLang="zh-CN" i="1">
                            <a:latin typeface="Cambria Math" panose="02040503050406030204" charset="0"/>
                            <a:ea typeface="仿宋" panose="02010609060101010101" charset="-122"/>
                            <a:cs typeface="Cambria Math" panose="02040503050406030204" charset="0"/>
                          </a:rPr>
                        </m:ctrlPr>
                      </m:sSubSup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1</m:t>
                        </m:r>
                      </m:sub>
                      <m:sup>
                        <m:r>
                          <a:rPr lang="en-US" altLang="zh-CN" i="1">
                            <a:latin typeface="Cambria Math" panose="02040503050406030204" charset="0"/>
                            <a:ea typeface="仿宋" panose="02010609060101010101" charset="-122"/>
                            <a:cs typeface="Cambria Math" panose="02040503050406030204" charset="0"/>
                          </a:rPr>
                          <m:t>2</m:t>
                        </m:r>
                      </m:sup>
                    </m:sSubSup>
                    <m:r>
                      <a:rPr lang="en-US" altLang="zh-CN" i="1">
                        <a:latin typeface="Cambria Math" panose="02040503050406030204" charset="0"/>
                        <a:ea typeface="仿宋" panose="02010609060101010101" charset="-122"/>
                        <a:cs typeface="Cambria Math" panose="02040503050406030204" charset="0"/>
                      </a:rPr>
                      <m:t>+</m:t>
                    </m:r>
                    <m:f>
                      <m:fPr>
                        <m:ctrlPr>
                          <a:rPr lang="en-US" altLang="zh-CN" i="1">
                            <a:latin typeface="Cambria Math" panose="02040503050406030204" charset="0"/>
                            <a:ea typeface="仿宋" panose="02010609060101010101" charset="-122"/>
                            <a:cs typeface="Cambria Math" panose="02040503050406030204" charset="0"/>
                          </a:rPr>
                        </m:ctrlPr>
                      </m:fPr>
                      <m:num>
                        <m:r>
                          <a:rPr lang="en-US" altLang="zh-CN" i="1">
                            <a:latin typeface="Cambria Math" panose="02040503050406030204" charset="0"/>
                            <a:ea typeface="仿宋" panose="02010609060101010101" charset="-122"/>
                            <a:cs typeface="Cambria Math" panose="02040503050406030204" charset="0"/>
                          </a:rPr>
                          <m:t>1</m:t>
                        </m:r>
                      </m:num>
                      <m:den>
                        <m:r>
                          <a:rPr lang="en-US" altLang="zh-CN" i="1">
                            <a:latin typeface="Cambria Math" panose="02040503050406030204" charset="0"/>
                            <a:ea typeface="仿宋" panose="02010609060101010101" charset="-122"/>
                            <a:cs typeface="Cambria Math" panose="02040503050406030204" charset="0"/>
                          </a:rPr>
                          <m:t>2</m:t>
                        </m:r>
                      </m:den>
                    </m:f>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𝑎</m:t>
                        </m:r>
                      </m:e>
                      <m:sub>
                        <m:r>
                          <a:rPr lang="en-US" altLang="zh-CN" i="1">
                            <a:latin typeface="Cambria Math" panose="02040503050406030204" charset="0"/>
                            <a:ea typeface="仿宋" panose="02010609060101010101" charset="-122"/>
                            <a:cs typeface="Cambria Math" panose="02040503050406030204" charset="0"/>
                          </a:rPr>
                          <m:t>2</m:t>
                        </m:r>
                      </m:sub>
                    </m:sSub>
                    <m:sSubSup>
                      <m:sSubSupPr>
                        <m:ctrlPr>
                          <a:rPr lang="en-US" altLang="zh-CN" i="1">
                            <a:latin typeface="Cambria Math" panose="02040503050406030204" charset="0"/>
                            <a:ea typeface="仿宋" panose="02010609060101010101" charset="-122"/>
                            <a:cs typeface="Cambria Math" panose="02040503050406030204" charset="0"/>
                          </a:rPr>
                        </m:ctrlPr>
                      </m:sSubSupPr>
                      <m:e>
                        <m:r>
                          <a:rPr lang="en-US" altLang="zh-CN" i="1">
                            <a:latin typeface="Cambria Math" panose="02040503050406030204" charset="0"/>
                            <a:ea typeface="仿宋" panose="02010609060101010101" charset="-122"/>
                            <a:cs typeface="Cambria Math" panose="02040503050406030204" charset="0"/>
                          </a:rPr>
                          <m:t>𝑡</m:t>
                        </m:r>
                      </m:e>
                      <m:sub>
                        <m:r>
                          <a:rPr lang="en-US" altLang="zh-CN" i="1">
                            <a:latin typeface="Cambria Math" panose="02040503050406030204" charset="0"/>
                            <a:ea typeface="仿宋" panose="02010609060101010101" charset="-122"/>
                            <a:cs typeface="Cambria Math" panose="02040503050406030204" charset="0"/>
                          </a:rPr>
                          <m:t>2</m:t>
                        </m:r>
                      </m:sub>
                      <m:sup>
                        <m:r>
                          <a:rPr lang="en-US" altLang="zh-CN" i="1">
                            <a:latin typeface="Cambria Math" panose="02040503050406030204" charset="0"/>
                            <a:ea typeface="仿宋" panose="02010609060101010101" charset="-122"/>
                            <a:cs typeface="Cambria Math" panose="02040503050406030204" charset="0"/>
                          </a:rPr>
                          <m:t>2</m:t>
                        </m:r>
                      </m:sup>
                    </m:sSubSup>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90</m:t>
                    </m:r>
                  </m:oMath>
                </a14:m>
                <a:r>
                  <a:rPr lang="zh-CN" altLang="en-US">
                    <a:latin typeface="Cambria Math" panose="02040503050406030204" charset="0"/>
                    <a:ea typeface="仿宋" panose="02010609060101010101" charset="-122"/>
                    <a:cs typeface="Cambria Math" panose="02040503050406030204" charset="0"/>
                  </a:rPr>
                  <a:t>米</a:t>
                </a:r>
                <a:r>
                  <a:rPr lang="zh-CN" altLang="en-US">
                    <a:latin typeface="仿宋" panose="02010609060101010101" charset="-122"/>
                    <a:ea typeface="仿宋" panose="02010609060101010101" charset="-122"/>
                    <a:cs typeface="仿宋" panose="02010609060101010101" charset="-122"/>
                  </a:rPr>
                  <a:t> </a:t>
                </a:r>
                <a:r>
                  <a:rPr lang="en-US" altLang="zh-CN">
                    <a:latin typeface="仿宋" panose="02010609060101010101" charset="-122"/>
                    <a:ea typeface="仿宋" panose="02010609060101010101" charset="-122"/>
                    <a:cs typeface="仿宋" panose="02010609060101010101" charset="-122"/>
                  </a:rPr>
                  <a:t>                                  </a:t>
                </a:r>
                <a:r>
                  <a:rPr lang="zh-CN" altLang="en-US">
                    <a:latin typeface="仿宋" panose="02010609060101010101" charset="-122"/>
                    <a:ea typeface="仿宋" panose="02010609060101010101" charset="-122"/>
                    <a:cs typeface="仿宋" panose="02010609060101010101" charset="-122"/>
                  </a:rPr>
                  <a:t>……（3 分）</a:t>
                </a:r>
                <a:endParaRPr lang="zh-CN" altLang="en-US">
                  <a:latin typeface="仿宋" panose="02010609060101010101" charset="-122"/>
                  <a:ea typeface="仿宋" panose="02010609060101010101" charset="-122"/>
                  <a:cs typeface="仿宋" panose="02010609060101010101"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988695" y="3604895"/>
                <a:ext cx="10311130" cy="2423160"/>
              </a:xfrm>
              <a:prstGeom prst="rect">
                <a:avLst/>
              </a:prstGeom>
              <a:blipFill rotWithShape="1">
                <a:blip r:embed="rId1"/>
                <a:stretch>
                  <a:fillRect r="-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8027035" y="2506980"/>
                <a:ext cx="873760" cy="304165"/>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𝑠</m:t>
                          </m:r>
                        </m:e>
                        <m:sup>
                          <m:r>
                            <a:rPr lang="en-US" altLang="zh-CN" i="1">
                              <a:latin typeface="Cambria Math" panose="02040503050406030204" charset="0"/>
                              <a:cs typeface="Cambria Math" panose="02040503050406030204" charset="0"/>
                            </a:rPr>
                            <m:t>2</m:t>
                          </m:r>
                        </m:sup>
                      </m:sSup>
                    </m:oMath>
                  </m:oMathPara>
                </a14:m>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8027035" y="2506980"/>
                <a:ext cx="873760" cy="304165"/>
              </a:xfrm>
              <a:prstGeom prst="rect">
                <a:avLst/>
              </a:prstGeom>
              <a:blipFill rotWithShape="1">
                <a:blip r:embed="rId2"/>
                <a:stretch>
                  <a:fillRect b="-187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10426001" y="2507234"/>
                <a:ext cx="873760" cy="35814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𝑠</m:t>
                          </m:r>
                        </m:e>
                        <m:sup>
                          <m:r>
                            <a:rPr lang="en-US" altLang="zh-CN" i="1">
                              <a:latin typeface="Cambria Math" panose="02040503050406030204" charset="0"/>
                              <a:cs typeface="Cambria Math" panose="02040503050406030204" charset="0"/>
                            </a:rPr>
                            <m:t>2</m:t>
                          </m:r>
                        </m:sup>
                      </m:sSup>
                    </m:oMath>
                  </m:oMathPara>
                </a14:m>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10426001" y="2507234"/>
                <a:ext cx="873760" cy="358140"/>
              </a:xfrm>
              <a:prstGeom prst="rect">
                <a:avLst/>
              </a:prstGeom>
              <a:blipFill rotWithShape="1">
                <a:blip r:embed="rId3"/>
                <a:stretch>
                  <a:fillRect l="-65" t="-71" r="65" b="71"/>
                </a:stretch>
              </a:blipFill>
            </p:spPr>
            <p:txBody>
              <a:bodyPr/>
              <a:lstStyle/>
              <a:p>
                <a:r>
                  <a:rPr lang="zh-CN" altLang="en-US">
                    <a:noFill/>
                  </a:rPr>
                  <a:t> </a:t>
                </a:r>
              </a:p>
            </p:txBody>
          </p:sp>
        </mc:Fallback>
      </mc:AlternateContent>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92200" y="848360"/>
            <a:ext cx="3345180" cy="460375"/>
          </a:xfrm>
          <a:prstGeom prst="rect">
            <a:avLst/>
          </a:prstGeom>
          <a:noFill/>
        </p:spPr>
        <p:txBody>
          <a:bodyPr wrap="square" rtlCol="0">
            <a:spAutoFit/>
          </a:bodyPr>
          <a:p>
            <a:r>
              <a:rPr lang="zh-CN" altLang="en-US" sz="2400"/>
              <a:t>正方形椅子问题</a:t>
            </a:r>
            <a:endParaRPr lang="zh-CN" altLang="en-US" sz="2400"/>
          </a:p>
        </p:txBody>
      </p:sp>
      <p:sp>
        <p:nvSpPr>
          <p:cNvPr id="3" name="文本框 2"/>
          <p:cNvSpPr txBox="1"/>
          <p:nvPr/>
        </p:nvSpPr>
        <p:spPr>
          <a:xfrm>
            <a:off x="1092200" y="1656715"/>
            <a:ext cx="10204450" cy="1771650"/>
          </a:xfrm>
          <a:prstGeom prst="rect">
            <a:avLst/>
          </a:prstGeom>
        </p:spPr>
        <p:txBody>
          <a:bodyPr>
            <a:noAutofit/>
          </a:bodyPr>
          <a:p>
            <a:pPr marL="0" indent="0">
              <a:lnSpc>
                <a:spcPct val="130000"/>
              </a:lnSpc>
            </a:pPr>
            <a:r>
              <a:rPr lang="zh-CN" altLang="en-US" sz="1600" b="0" i="0">
                <a:solidFill>
                  <a:srgbClr val="000000"/>
                </a:solidFill>
                <a:latin typeface="仿宋" panose="02010609060101010101" charset="-122"/>
                <a:ea typeface="仿宋" panose="02010609060101010101" charset="-122"/>
                <a:cs typeface="仿宋" panose="02010609060101010101" charset="-122"/>
              </a:rPr>
              <a:t>一把椅子放在不平的地面上，通常挪动几下便可以使之平稳，请讨论其中的原理。（</a:t>
            </a:r>
            <a:r>
              <a:rPr lang="en-US" altLang="zh-CN" sz="1600" b="0" i="0">
                <a:solidFill>
                  <a:srgbClr val="000000"/>
                </a:solidFill>
                <a:latin typeface="仿宋" panose="02010609060101010101" charset="-122"/>
                <a:ea typeface="仿宋" panose="02010609060101010101" charset="-122"/>
                <a:cs typeface="仿宋" panose="02010609060101010101" charset="-122"/>
              </a:rPr>
              <a:t>10</a:t>
            </a:r>
            <a:r>
              <a:rPr lang="zh-CN" altLang="en-US" sz="1600" b="0" i="0">
                <a:solidFill>
                  <a:srgbClr val="000000"/>
                </a:solidFill>
                <a:latin typeface="仿宋" panose="02010609060101010101" charset="-122"/>
                <a:ea typeface="仿宋" panose="02010609060101010101" charset="-122"/>
                <a:cs typeface="仿宋" panose="02010609060101010101" charset="-122"/>
              </a:rPr>
              <a:t>分） </a:t>
            </a:r>
            <a:endParaRPr lang="zh-CN" altLang="en-US" sz="1600" b="0" i="0">
              <a:solidFill>
                <a:srgbClr val="000000"/>
              </a:solidFill>
              <a:latin typeface="仿宋" panose="02010609060101010101" charset="-122"/>
              <a:ea typeface="仿宋" panose="02010609060101010101" charset="-122"/>
              <a:cs typeface="仿宋" panose="02010609060101010101" charset="-122"/>
            </a:endParaRPr>
          </a:p>
          <a:p>
            <a:pPr marL="0" indent="0">
              <a:lnSpc>
                <a:spcPct val="130000"/>
              </a:lnSpc>
            </a:pPr>
            <a:r>
              <a:rPr lang="zh-CN" altLang="en-US" sz="1600" b="0" i="0">
                <a:solidFill>
                  <a:srgbClr val="000000"/>
                </a:solidFill>
                <a:latin typeface="仿宋" panose="02010609060101010101" charset="-122"/>
                <a:ea typeface="仿宋" panose="02010609060101010101" charset="-122"/>
                <a:cs typeface="仿宋" panose="02010609060101010101" charset="-122"/>
              </a:rPr>
              <a:t>（本题中允许的基本假设如下：</a:t>
            </a:r>
            <a:endParaRPr lang="zh-CN" altLang="en-US" sz="1600" b="0" i="0">
              <a:solidFill>
                <a:srgbClr val="000000"/>
              </a:solidFill>
              <a:latin typeface="仿宋" panose="02010609060101010101" charset="-122"/>
              <a:ea typeface="仿宋" panose="02010609060101010101" charset="-122"/>
              <a:cs typeface="仿宋" panose="02010609060101010101" charset="-122"/>
            </a:endParaRPr>
          </a:p>
          <a:p>
            <a:pPr marL="0" indent="0">
              <a:lnSpc>
                <a:spcPct val="130000"/>
              </a:lnSpc>
            </a:pPr>
            <a:r>
              <a:rPr lang="zh-CN" altLang="en-US" sz="1600" b="0" i="0">
                <a:solidFill>
                  <a:srgbClr val="000000"/>
                </a:solidFill>
                <a:latin typeface="仿宋" panose="02010609060101010101" charset="-122"/>
                <a:ea typeface="仿宋" panose="02010609060101010101" charset="-122"/>
                <a:cs typeface="仿宋" panose="02010609060101010101" charset="-122"/>
              </a:rPr>
              <a:t>（</a:t>
            </a:r>
            <a:r>
              <a:rPr lang="en-US" altLang="zh-CN" sz="1600" b="0" i="0">
                <a:solidFill>
                  <a:srgbClr val="000000"/>
                </a:solidFill>
                <a:latin typeface="仿宋" panose="02010609060101010101" charset="-122"/>
                <a:ea typeface="仿宋" panose="02010609060101010101" charset="-122"/>
                <a:cs typeface="仿宋" panose="02010609060101010101" charset="-122"/>
              </a:rPr>
              <a:t>1</a:t>
            </a:r>
            <a:r>
              <a:rPr lang="zh-CN" altLang="en-US" sz="1600" b="0" i="0">
                <a:solidFill>
                  <a:srgbClr val="000000"/>
                </a:solidFill>
                <a:latin typeface="仿宋" panose="02010609060101010101" charset="-122"/>
                <a:ea typeface="仿宋" panose="02010609060101010101" charset="-122"/>
                <a:cs typeface="仿宋" panose="02010609060101010101" charset="-122"/>
              </a:rPr>
              <a:t>）四腿一样长，椅脚与地面点接触，四脚连线呈</a:t>
            </a:r>
            <a:r>
              <a:rPr lang="zh-CN" altLang="en-US" sz="1600" b="0" i="0">
                <a:solidFill>
                  <a:srgbClr val="000000"/>
                </a:solidFill>
                <a:latin typeface="仿宋" panose="02010609060101010101" charset="-122"/>
                <a:ea typeface="仿宋" panose="02010609060101010101" charset="-122"/>
                <a:cs typeface="仿宋" panose="02010609060101010101" charset="-122"/>
              </a:rPr>
              <a:t>正方形；</a:t>
            </a:r>
            <a:endParaRPr lang="zh-CN" altLang="en-US" sz="1600" b="0" i="0">
              <a:solidFill>
                <a:srgbClr val="000000"/>
              </a:solidFill>
              <a:latin typeface="仿宋" panose="02010609060101010101" charset="-122"/>
              <a:ea typeface="仿宋" panose="02010609060101010101" charset="-122"/>
              <a:cs typeface="仿宋" panose="02010609060101010101" charset="-122"/>
            </a:endParaRPr>
          </a:p>
          <a:p>
            <a:pPr marL="0" indent="0">
              <a:lnSpc>
                <a:spcPct val="130000"/>
              </a:lnSpc>
            </a:pPr>
            <a:r>
              <a:rPr lang="zh-CN" altLang="en-US" sz="1600" b="0" i="0">
                <a:solidFill>
                  <a:srgbClr val="000000"/>
                </a:solidFill>
                <a:latin typeface="仿宋" panose="02010609060101010101" charset="-122"/>
                <a:ea typeface="仿宋" panose="02010609060101010101" charset="-122"/>
                <a:cs typeface="仿宋" panose="02010609060101010101" charset="-122"/>
              </a:rPr>
              <a:t>（</a:t>
            </a:r>
            <a:r>
              <a:rPr lang="en-US" altLang="zh-CN" sz="1600" b="0" i="0">
                <a:solidFill>
                  <a:srgbClr val="000000"/>
                </a:solidFill>
                <a:latin typeface="仿宋" panose="02010609060101010101" charset="-122"/>
                <a:ea typeface="仿宋" panose="02010609060101010101" charset="-122"/>
                <a:cs typeface="仿宋" panose="02010609060101010101" charset="-122"/>
              </a:rPr>
              <a:t>2</a:t>
            </a:r>
            <a:r>
              <a:rPr lang="zh-CN" altLang="en-US" sz="1600" b="0" i="0">
                <a:solidFill>
                  <a:srgbClr val="000000"/>
                </a:solidFill>
                <a:latin typeface="仿宋" panose="02010609060101010101" charset="-122"/>
                <a:ea typeface="仿宋" panose="02010609060101010101" charset="-122"/>
                <a:cs typeface="仿宋" panose="02010609060101010101" charset="-122"/>
              </a:rPr>
              <a:t>）地面高度连续变化，可视为数学上的连续曲面；</a:t>
            </a:r>
            <a:endParaRPr lang="zh-CN" altLang="en-US" sz="1600" b="0" i="0">
              <a:solidFill>
                <a:srgbClr val="000000"/>
              </a:solidFill>
              <a:latin typeface="仿宋" panose="02010609060101010101" charset="-122"/>
              <a:ea typeface="仿宋" panose="02010609060101010101" charset="-122"/>
              <a:cs typeface="仿宋" panose="02010609060101010101" charset="-122"/>
            </a:endParaRPr>
          </a:p>
          <a:p>
            <a:pPr marL="0" indent="0">
              <a:lnSpc>
                <a:spcPct val="130000"/>
              </a:lnSpc>
            </a:pPr>
            <a:r>
              <a:rPr lang="zh-CN" altLang="en-US" sz="1600" b="0" i="0">
                <a:solidFill>
                  <a:srgbClr val="000000"/>
                </a:solidFill>
                <a:latin typeface="仿宋" panose="02010609060101010101" charset="-122"/>
                <a:ea typeface="仿宋" panose="02010609060101010101" charset="-122"/>
                <a:cs typeface="仿宋" panose="02010609060101010101" charset="-122"/>
              </a:rPr>
              <a:t>（</a:t>
            </a:r>
            <a:r>
              <a:rPr lang="en-US" altLang="zh-CN" sz="1600" b="0" i="0">
                <a:solidFill>
                  <a:srgbClr val="000000"/>
                </a:solidFill>
                <a:latin typeface="仿宋" panose="02010609060101010101" charset="-122"/>
                <a:ea typeface="仿宋" panose="02010609060101010101" charset="-122"/>
                <a:cs typeface="仿宋" panose="02010609060101010101" charset="-122"/>
              </a:rPr>
              <a:t>3</a:t>
            </a:r>
            <a:r>
              <a:rPr lang="zh-CN" altLang="en-US" sz="1600" b="0" i="0">
                <a:solidFill>
                  <a:srgbClr val="000000"/>
                </a:solidFill>
                <a:latin typeface="仿宋" panose="02010609060101010101" charset="-122"/>
                <a:ea typeface="仿宋" panose="02010609060101010101" charset="-122"/>
                <a:cs typeface="仿宋" panose="02010609060101010101" charset="-122"/>
              </a:rPr>
              <a:t>）地面相对平坦，椅子在任意位置至少三只脚着地。）</a:t>
            </a:r>
            <a:endParaRPr lang="zh-CN" altLang="en-US" sz="1600" b="0" i="0">
              <a:solidFill>
                <a:srgbClr val="000000"/>
              </a:solidFill>
              <a:latin typeface="仿宋" panose="02010609060101010101" charset="-122"/>
              <a:ea typeface="仿宋" panose="02010609060101010101" charset="-122"/>
              <a:cs typeface="仿宋" panose="02010609060101010101" charset="-122"/>
            </a:endParaRPr>
          </a:p>
        </p:txBody>
      </p:sp>
      <mc:AlternateContent xmlns:mc="http://schemas.openxmlformats.org/markup-compatibility/2006">
        <mc:Choice xmlns:a14="http://schemas.microsoft.com/office/drawing/2010/main" Requires="a14">
          <p:sp>
            <p:nvSpPr>
              <p:cNvPr id="4" name="文本框 3"/>
              <p:cNvSpPr txBox="1"/>
              <p:nvPr/>
            </p:nvSpPr>
            <p:spPr>
              <a:xfrm>
                <a:off x="1189355" y="3776345"/>
                <a:ext cx="9726295" cy="2543175"/>
              </a:xfrm>
              <a:prstGeom prst="rect">
                <a:avLst/>
              </a:prstGeom>
            </p:spPr>
            <p:txBody>
              <a:bodyPr wrap="square">
                <a:noAutofit/>
              </a:bodyPr>
              <a:p>
                <a:pPr marL="0" indent="0">
                  <a:lnSpc>
                    <a:spcPct val="130000"/>
                  </a:lnSpc>
                </a:pPr>
                <a:r>
                  <a:rPr lang="zh-CN" altLang="en-US" sz="1600" b="0" i="0">
                    <a:solidFill>
                      <a:srgbClr val="000000"/>
                    </a:solidFill>
                    <a:latin typeface="仿宋" panose="02010609060101010101" charset="-122"/>
                    <a:ea typeface="仿宋" panose="02010609060101010101" charset="-122"/>
                    <a:cs typeface="仿宋" panose="02010609060101010101" charset="-122"/>
                  </a:rPr>
                  <a:t>解：如图，假定椅子绕中心点 </a:t>
                </a:r>
                <a:r>
                  <a:rPr lang="en-US" altLang="zh-CN" sz="1600" b="0" i="0">
                    <a:solidFill>
                      <a:srgbClr val="000000"/>
                    </a:solidFill>
                    <a:latin typeface="仿宋" panose="02010609060101010101" charset="-122"/>
                    <a:ea typeface="仿宋" panose="02010609060101010101" charset="-122"/>
                    <a:cs typeface="仿宋" panose="02010609060101010101" charset="-122"/>
                  </a:rPr>
                  <a:t>O </a:t>
                </a:r>
                <a:r>
                  <a:rPr lang="zh-CN" altLang="en-US" sz="1600" b="0" i="0">
                    <a:solidFill>
                      <a:srgbClr val="000000"/>
                    </a:solidFill>
                    <a:latin typeface="仿宋" panose="02010609060101010101" charset="-122"/>
                    <a:ea typeface="仿宋" panose="02010609060101010101" charset="-122"/>
                    <a:cs typeface="仿宋" panose="02010609060101010101" charset="-122"/>
                  </a:rPr>
                  <a:t>旋转，记对角 </a:t>
                </a:r>
                <a:r>
                  <a:rPr lang="en-US" altLang="zh-CN" sz="1600" b="0" i="0">
                    <a:solidFill>
                      <a:srgbClr val="000000"/>
                    </a:solidFill>
                    <a:latin typeface="仿宋" panose="02010609060101010101" charset="-122"/>
                    <a:ea typeface="仿宋" panose="02010609060101010101" charset="-122"/>
                    <a:cs typeface="仿宋" panose="02010609060101010101" charset="-122"/>
                  </a:rPr>
                  <a:t>AC </a:t>
                </a:r>
                <a:r>
                  <a:rPr lang="zh-CN" altLang="en-US" sz="1600" b="0" i="0">
                    <a:solidFill>
                      <a:srgbClr val="000000"/>
                    </a:solidFill>
                    <a:latin typeface="仿宋" panose="02010609060101010101" charset="-122"/>
                    <a:ea typeface="仿宋" panose="02010609060101010101" charset="-122"/>
                    <a:cs typeface="仿宋" panose="02010609060101010101" charset="-122"/>
                  </a:rPr>
                  <a:t>两椅脚与地面之间的距离之和为</a:t>
                </a:r>
                <a14:m>
                  <m:oMath xmlns:m="http://schemas.openxmlformats.org/officeDocument/2006/math">
                    <m:r>
                      <a:rPr lang="en-US" altLang="zh-CN" sz="1600" i="1">
                        <a:solidFill>
                          <a:srgbClr val="000000"/>
                        </a:solidFill>
                        <a:latin typeface="Cambria Math" panose="02040503050406030204" charset="0"/>
                        <a:ea typeface="仿宋" panose="02010609060101010101" charset="-122"/>
                        <a:cs typeface="Cambria Math" panose="02040503050406030204" charset="0"/>
                      </a:rPr>
                      <m:t>  </m:t>
                    </m:r>
                    <m:r>
                      <a:rPr lang="en-US" altLang="zh-CN" sz="1600" i="1">
                        <a:solidFill>
                          <a:srgbClr val="000000"/>
                        </a:solidFill>
                        <a:latin typeface="Cambria Math" panose="02040503050406030204" charset="0"/>
                        <a:ea typeface="仿宋" panose="02010609060101010101" charset="-122"/>
                        <a:cs typeface="Cambria Math" panose="02040503050406030204" charset="0"/>
                      </a:rPr>
                      <m:t>𝑓</m:t>
                    </m:r>
                    <m:d>
                      <m:dPr>
                        <m:ctrlPr>
                          <a:rPr lang="en-US" altLang="zh-CN" sz="1600" i="1">
                            <a:solidFill>
                              <a:srgbClr val="000000"/>
                            </a:solidFill>
                            <a:latin typeface="Cambria Math" panose="02040503050406030204" charset="0"/>
                            <a:ea typeface="仿宋" panose="02010609060101010101" charset="-122"/>
                            <a:cs typeface="Cambria Math" panose="02040503050406030204" charset="0"/>
                          </a:rPr>
                        </m:ctrlPr>
                      </m:d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d>
                    <m:r>
                      <a:rPr lang="en-US" altLang="zh-CN" sz="1600" i="1">
                        <a:solidFill>
                          <a:srgbClr val="000000"/>
                        </a:solidFill>
                        <a:latin typeface="Cambria Math" panose="02040503050406030204" charset="0"/>
                        <a:ea typeface="仿宋" panose="02010609060101010101" charset="-122"/>
                        <a:cs typeface="Cambria Math" panose="02040503050406030204" charset="0"/>
                      </a:rPr>
                      <m:t>  </m:t>
                    </m:r>
                  </m:oMath>
                </a14:m>
                <a:r>
                  <a:rPr lang="zh-CN" altLang="en-US" sz="1600" b="0" i="0">
                    <a:solidFill>
                      <a:srgbClr val="000000"/>
                    </a:solidFill>
                    <a:latin typeface="仿宋" panose="02010609060101010101" charset="-122"/>
                    <a:ea typeface="仿宋" panose="02010609060101010101" charset="-122"/>
                    <a:cs typeface="仿宋" panose="02010609060101010101" charset="-122"/>
                  </a:rPr>
                  <a:t>，</a:t>
                </a:r>
                <a:r>
                  <a:rPr lang="en-US" altLang="zh-CN" sz="1600" b="0" i="0">
                    <a:solidFill>
                      <a:srgbClr val="000000"/>
                    </a:solidFill>
                    <a:latin typeface="仿宋" panose="02010609060101010101" charset="-122"/>
                    <a:ea typeface="仿宋" panose="02010609060101010101" charset="-122"/>
                    <a:cs typeface="仿宋" panose="02010609060101010101" charset="-122"/>
                  </a:rPr>
                  <a:t>BD</a:t>
                </a:r>
                <a:r>
                  <a:rPr lang="zh-CN" altLang="en-US" sz="1600" b="0" i="0">
                    <a:solidFill>
                      <a:srgbClr val="000000"/>
                    </a:solidFill>
                    <a:latin typeface="仿宋" panose="02010609060101010101" charset="-122"/>
                    <a:ea typeface="仿宋" panose="02010609060101010101" charset="-122"/>
                    <a:cs typeface="仿宋" panose="02010609060101010101" charset="-122"/>
                  </a:rPr>
                  <a:t>与地面之间的距离之和为</a:t>
                </a: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  </m:t>
                    </m:r>
                    <m:r>
                      <a:rPr lang="en-US" altLang="zh-CN" sz="1600" b="0" i="1">
                        <a:solidFill>
                          <a:srgbClr val="000000"/>
                        </a:solidFill>
                        <a:latin typeface="Cambria Math" panose="02040503050406030204" charset="0"/>
                        <a:ea typeface="仿宋" panose="02010609060101010101" charset="-122"/>
                        <a:cs typeface="Cambria Math" panose="02040503050406030204" charset="0"/>
                      </a:rPr>
                      <m:t>𝑔</m:t>
                    </m:r>
                    <m:d>
                      <m:d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d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d>
                  </m:oMath>
                </a14:m>
                <a:r>
                  <a:rPr lang="en-US" altLang="zh-CN" sz="1600" b="0" i="0">
                    <a:solidFill>
                      <a:srgbClr val="000000"/>
                    </a:solidFill>
                    <a:latin typeface="仿宋" panose="02010609060101010101" charset="-122"/>
                    <a:ea typeface="仿宋" panose="02010609060101010101" charset="-122"/>
                    <a:cs typeface="仿宋" panose="02010609060101010101" charset="-122"/>
                  </a:rPr>
                  <a:t> </a:t>
                </a:r>
                <a:r>
                  <a:rPr lang="zh-CN" altLang="en-US" sz="1600" b="0" i="0">
                    <a:solidFill>
                      <a:srgbClr val="000000"/>
                    </a:solidFill>
                    <a:latin typeface="仿宋" panose="02010609060101010101" charset="-122"/>
                    <a:ea typeface="仿宋" panose="02010609060101010101" charset="-122"/>
                    <a:cs typeface="仿宋" panose="02010609060101010101" charset="-122"/>
                  </a:rPr>
                  <a:t>（</a:t>
                </a:r>
                <a:r>
                  <a:rPr lang="en-US" altLang="zh-CN" sz="1600" b="0" i="0">
                    <a:solidFill>
                      <a:srgbClr val="000000"/>
                    </a:solidFill>
                    <a:latin typeface="仿宋" panose="02010609060101010101" charset="-122"/>
                    <a:ea typeface="仿宋" panose="02010609060101010101" charset="-122"/>
                    <a:cs typeface="仿宋" panose="02010609060101010101" charset="-122"/>
                  </a:rPr>
                  <a:t>2 </a:t>
                </a:r>
                <a:r>
                  <a:rPr lang="zh-CN" altLang="en-US" sz="1600" b="0" i="0">
                    <a:solidFill>
                      <a:srgbClr val="000000"/>
                    </a:solidFill>
                    <a:latin typeface="仿宋" panose="02010609060101010101" charset="-122"/>
                    <a:ea typeface="仿宋" panose="02010609060101010101" charset="-122"/>
                    <a:cs typeface="仿宋" panose="02010609060101010101" charset="-122"/>
                  </a:rPr>
                  <a:t>分），</a:t>
                </a:r>
                <a:endParaRPr lang="zh-CN" altLang="en-US" sz="1600" b="0" i="0">
                  <a:solidFill>
                    <a:srgbClr val="000000"/>
                  </a:solidFill>
                  <a:latin typeface="仿宋" panose="02010609060101010101" charset="-122"/>
                  <a:ea typeface="仿宋" panose="02010609060101010101" charset="-122"/>
                  <a:cs typeface="仿宋" panose="02010609060101010101" charset="-122"/>
                </a:endParaRPr>
              </a:p>
              <a:p>
                <a:pPr marL="0" indent="0">
                  <a:lnSpc>
                    <a:spcPct val="130000"/>
                  </a:lnSpc>
                </a:pPr>
                <a:r>
                  <a:rPr lang="zh-CN" altLang="en-US" sz="1600" b="0" i="0">
                    <a:solidFill>
                      <a:srgbClr val="000000"/>
                    </a:solidFill>
                    <a:latin typeface="仿宋" panose="02010609060101010101" charset="-122"/>
                    <a:ea typeface="仿宋" panose="02010609060101010101" charset="-122"/>
                    <a:cs typeface="仿宋" panose="02010609060101010101" charset="-122"/>
                  </a:rPr>
                  <a:t>不妨假定</a:t>
                </a: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  </m:t>
                    </m:r>
                    <m:r>
                      <a:rPr lang="en-US" altLang="zh-CN" sz="1600" b="0" i="1">
                        <a:solidFill>
                          <a:srgbClr val="000000"/>
                        </a:solidFill>
                        <a:latin typeface="Cambria Math" panose="02040503050406030204" charset="0"/>
                        <a:ea typeface="仿宋" panose="02010609060101010101" charset="-122"/>
                        <a:cs typeface="Cambria Math" panose="02040503050406030204" charset="0"/>
                      </a:rPr>
                      <m:t>𝑓</m:t>
                    </m:r>
                    <m:d>
                      <m:d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dPr>
                      <m:e>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e>
                    </m:d>
                    <m:r>
                      <a:rPr lang="en-US" altLang="zh-CN" sz="1600" b="0" i="1">
                        <a:solidFill>
                          <a:srgbClr val="000000"/>
                        </a:solidFill>
                        <a:latin typeface="Cambria Math" panose="02040503050406030204" charset="0"/>
                        <a:ea typeface="仿宋" panose="02010609060101010101" charset="-122"/>
                        <a:cs typeface="Cambria Math" panose="02040503050406030204" charset="0"/>
                      </a:rPr>
                      <m:t>&gt;</m:t>
                    </m:r>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r>
                      <a:rPr lang="en-US" altLang="zh-CN" sz="1600" b="0" i="1">
                        <a:solidFill>
                          <a:srgbClr val="000000"/>
                        </a:solidFill>
                        <a:latin typeface="Cambria Math" panose="02040503050406030204" charset="0"/>
                        <a:ea typeface="仿宋" panose="02010609060101010101" charset="-122"/>
                        <a:cs typeface="Cambria Math" panose="02040503050406030204" charset="0"/>
                      </a:rPr>
                      <m:t>,  </m:t>
                    </m:r>
                    <m:r>
                      <a:rPr lang="en-US" altLang="zh-CN" sz="1600" b="0" i="1">
                        <a:solidFill>
                          <a:srgbClr val="000000"/>
                        </a:solidFill>
                        <a:latin typeface="Cambria Math" panose="02040503050406030204" charset="0"/>
                        <a:ea typeface="仿宋" panose="02010609060101010101" charset="-122"/>
                        <a:cs typeface="Cambria Math" panose="02040503050406030204" charset="0"/>
                      </a:rPr>
                      <m:t>𝑔</m:t>
                    </m:r>
                    <m:d>
                      <m:d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dPr>
                      <m:e>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e>
                    </m:d>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r>
                      <a:rPr lang="en-US" altLang="zh-CN" sz="1600" b="0" i="1">
                        <a:solidFill>
                          <a:srgbClr val="000000"/>
                        </a:solidFill>
                        <a:latin typeface="Cambria Math" panose="02040503050406030204" charset="0"/>
                        <a:ea typeface="仿宋" panose="02010609060101010101" charset="-122"/>
                        <a:cs typeface="Cambria Math" panose="02040503050406030204" charset="0"/>
                      </a:rPr>
                      <m:t>  ;  </m:t>
                    </m:r>
                  </m:oMath>
                </a14:m>
                <a:r>
                  <a:rPr lang="zh-CN" altLang="en-US" sz="1600" b="0" i="0">
                    <a:solidFill>
                      <a:srgbClr val="000000"/>
                    </a:solidFill>
                    <a:latin typeface="仿宋" panose="02010609060101010101" charset="-122"/>
                    <a:ea typeface="仿宋" panose="02010609060101010101" charset="-122"/>
                    <a:cs typeface="仿宋" panose="02010609060101010101" charset="-122"/>
                  </a:rPr>
                  <a:t>将椅子绕 </a:t>
                </a:r>
                <a:r>
                  <a:rPr lang="en-US" altLang="zh-CN" sz="1600" b="0" i="0">
                    <a:solidFill>
                      <a:srgbClr val="000000"/>
                    </a:solidFill>
                    <a:latin typeface="仿宋" panose="02010609060101010101" charset="-122"/>
                    <a:ea typeface="仿宋" panose="02010609060101010101" charset="-122"/>
                    <a:cs typeface="仿宋" panose="02010609060101010101" charset="-122"/>
                  </a:rPr>
                  <a:t>O </a:t>
                </a:r>
                <a:r>
                  <a:rPr lang="zh-CN" altLang="en-US" sz="1600" b="0" i="0">
                    <a:solidFill>
                      <a:srgbClr val="000000"/>
                    </a:solidFill>
                    <a:latin typeface="仿宋" panose="02010609060101010101" charset="-122"/>
                    <a:ea typeface="仿宋" panose="02010609060101010101" charset="-122"/>
                    <a:cs typeface="仿宋" panose="02010609060101010101" charset="-122"/>
                  </a:rPr>
                  <a:t>点旋转 </a:t>
                </a:r>
                <a:r>
                  <a:rPr lang="en-US" altLang="zh-CN" sz="1600" b="0" i="0">
                    <a:solidFill>
                      <a:srgbClr val="000000"/>
                    </a:solidFill>
                    <a:latin typeface="仿宋" panose="02010609060101010101" charset="-122"/>
                    <a:ea typeface="仿宋" panose="02010609060101010101" charset="-122"/>
                    <a:cs typeface="仿宋" panose="02010609060101010101" charset="-122"/>
                  </a:rPr>
                  <a:t>90 </a:t>
                </a:r>
                <a:r>
                  <a:rPr lang="zh-CN" altLang="en-US" sz="1600" b="0" i="0">
                    <a:solidFill>
                      <a:srgbClr val="000000"/>
                    </a:solidFill>
                    <a:latin typeface="仿宋" panose="02010609060101010101" charset="-122"/>
                    <a:ea typeface="仿宋" panose="02010609060101010101" charset="-122"/>
                    <a:cs typeface="仿宋" panose="02010609060101010101" charset="-122"/>
                  </a:rPr>
                  <a:t>度，则 </a:t>
                </a: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𝑓</m:t>
                    </m:r>
                    <m:d>
                      <m:d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dPr>
                      <m:e>
                        <m:r>
                          <a:rPr lang="en-US" altLang="zh-CN" sz="1600" i="1">
                            <a:solidFill>
                              <a:srgbClr val="000000"/>
                            </a:solidFill>
                            <a:latin typeface="Cambria Math" panose="02040503050406030204" charset="0"/>
                            <a:ea typeface="仿宋" panose="02010609060101010101" charset="-122"/>
                            <a:cs typeface="Cambria Math" panose="02040503050406030204" charset="0"/>
                          </a:rPr>
                          <m:t>𝜋</m:t>
                        </m:r>
                        <m:r>
                          <a:rPr lang="en-US" altLang="zh-CN" sz="1600" i="1">
                            <a:solidFill>
                              <a:srgbClr val="000000"/>
                            </a:solidFill>
                            <a:latin typeface="Cambria Math" panose="02040503050406030204" charset="0"/>
                            <a:ea typeface="仿宋" panose="02010609060101010101" charset="-122"/>
                            <a:cs typeface="Cambria Math" panose="02040503050406030204" charset="0"/>
                          </a:rPr>
                          <m:t>/</m:t>
                        </m:r>
                        <m:r>
                          <a:rPr lang="en-US" altLang="zh-CN" sz="1600" i="1">
                            <a:solidFill>
                              <a:srgbClr val="000000"/>
                            </a:solidFill>
                            <a:latin typeface="Cambria Math" panose="02040503050406030204" charset="0"/>
                            <a:ea typeface="仿宋" panose="02010609060101010101" charset="-122"/>
                            <a:cs typeface="Cambria Math" panose="02040503050406030204" charset="0"/>
                          </a:rPr>
                          <m:t>2</m:t>
                        </m:r>
                      </m:e>
                    </m:d>
                  </m:oMath>
                </a14:m>
                <a:r>
                  <a:rPr lang="en-US" altLang="zh-CN" sz="1600" b="0" i="0">
                    <a:solidFill>
                      <a:srgbClr val="000000"/>
                    </a:solidFill>
                    <a:latin typeface="仿宋" panose="02010609060101010101" charset="-122"/>
                    <a:ea typeface="仿宋" panose="02010609060101010101" charset="-122"/>
                    <a:cs typeface="仿宋" panose="02010609060101010101" charset="-122"/>
                  </a:rPr>
                  <a:t>=0</a:t>
                </a:r>
                <a:r>
                  <a:rPr lang="zh-CN" altLang="en-US" sz="1600" b="0" i="0">
                    <a:solidFill>
                      <a:srgbClr val="000000"/>
                    </a:solidFill>
                    <a:latin typeface="仿宋" panose="02010609060101010101" charset="-122"/>
                    <a:ea typeface="仿宋" panose="02010609060101010101" charset="-122"/>
                    <a:cs typeface="仿宋" panose="02010609060101010101" charset="-122"/>
                  </a:rPr>
                  <a:t>，</a:t>
                </a: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𝑔</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i="1">
                        <a:solidFill>
                          <a:srgbClr val="000000"/>
                        </a:solidFill>
                        <a:latin typeface="Cambria Math" panose="02040503050406030204" charset="0"/>
                        <a:ea typeface="仿宋" panose="02010609060101010101" charset="-122"/>
                        <a:cs typeface="Cambria Math" panose="02040503050406030204" charset="0"/>
                      </a:rPr>
                      <m:t>𝜋</m:t>
                    </m:r>
                    <m:r>
                      <a:rPr lang="en-US" altLang="zh-CN" sz="1600" i="1">
                        <a:solidFill>
                          <a:srgbClr val="000000"/>
                        </a:solidFill>
                        <a:latin typeface="Cambria Math" panose="02040503050406030204" charset="0"/>
                        <a:ea typeface="仿宋" panose="02010609060101010101" charset="-122"/>
                        <a:cs typeface="Cambria Math" panose="02040503050406030204" charset="0"/>
                      </a:rPr>
                      <m:t>/</m:t>
                    </m:r>
                    <m:r>
                      <a:rPr lang="en-US" altLang="zh-CN" sz="1600" i="1">
                        <a:solidFill>
                          <a:srgbClr val="000000"/>
                        </a:solidFill>
                        <a:latin typeface="Cambria Math" panose="02040503050406030204" charset="0"/>
                        <a:ea typeface="仿宋" panose="02010609060101010101" charset="-122"/>
                        <a:cs typeface="Cambria Math" panose="02040503050406030204" charset="0"/>
                      </a:rPr>
                      <m:t>2</m:t>
                    </m:r>
                    <m:r>
                      <a:rPr lang="en-US" altLang="zh-CN" sz="1600" b="0" i="1">
                        <a:solidFill>
                          <a:srgbClr val="000000"/>
                        </a:solidFill>
                        <a:latin typeface="Cambria Math" panose="02040503050406030204" charset="0"/>
                        <a:ea typeface="仿宋" panose="02010609060101010101" charset="-122"/>
                        <a:cs typeface="Cambria Math" panose="02040503050406030204" charset="0"/>
                      </a:rPr>
                      <m:t>)&gt;</m:t>
                    </m:r>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oMath>
                </a14:m>
                <a:r>
                  <a:rPr lang="en-US" altLang="zh-CN" sz="1600" b="0" i="0">
                    <a:solidFill>
                      <a:srgbClr val="000000"/>
                    </a:solidFill>
                    <a:latin typeface="仿宋" panose="02010609060101010101" charset="-122"/>
                    <a:ea typeface="仿宋" panose="02010609060101010101" charset="-122"/>
                    <a:cs typeface="仿宋" panose="02010609060101010101" charset="-122"/>
                  </a:rPr>
                  <a:t> </a:t>
                </a:r>
                <a:r>
                  <a:rPr lang="zh-CN" altLang="en-US" sz="1600" b="0" i="0">
                    <a:solidFill>
                      <a:srgbClr val="000000"/>
                    </a:solidFill>
                    <a:latin typeface="仿宋" panose="02010609060101010101" charset="-122"/>
                    <a:ea typeface="仿宋" panose="02010609060101010101" charset="-122"/>
                    <a:cs typeface="仿宋" panose="02010609060101010101" charset="-122"/>
                  </a:rPr>
                  <a:t>（</a:t>
                </a:r>
                <a:r>
                  <a:rPr lang="en-US" altLang="zh-CN" sz="1600" b="0" i="0">
                    <a:solidFill>
                      <a:srgbClr val="000000"/>
                    </a:solidFill>
                    <a:latin typeface="仿宋" panose="02010609060101010101" charset="-122"/>
                    <a:ea typeface="仿宋" panose="02010609060101010101" charset="-122"/>
                    <a:cs typeface="仿宋" panose="02010609060101010101" charset="-122"/>
                  </a:rPr>
                  <a:t>2 </a:t>
                </a:r>
                <a:r>
                  <a:rPr lang="zh-CN" altLang="en-US" sz="1600" b="0" i="0">
                    <a:solidFill>
                      <a:srgbClr val="000000"/>
                    </a:solidFill>
                    <a:latin typeface="仿宋" panose="02010609060101010101" charset="-122"/>
                    <a:ea typeface="仿宋" panose="02010609060101010101" charset="-122"/>
                    <a:cs typeface="仿宋" panose="02010609060101010101" charset="-122"/>
                  </a:rPr>
                  <a:t>分）</a:t>
                </a:r>
                <a:endParaRPr lang="zh-CN" altLang="en-US" sz="1600" b="0" i="0">
                  <a:solidFill>
                    <a:srgbClr val="000000"/>
                  </a:solidFill>
                  <a:latin typeface="仿宋" panose="02010609060101010101" charset="-122"/>
                  <a:ea typeface="仿宋" panose="02010609060101010101" charset="-122"/>
                  <a:cs typeface="仿宋" panose="02010609060101010101" charset="-122"/>
                </a:endParaRPr>
              </a:p>
              <a:p>
                <a:pPr marL="0" indent="0">
                  <a:lnSpc>
                    <a:spcPct val="130000"/>
                  </a:lnSpc>
                </a:pPr>
                <a:r>
                  <a:rPr lang="zh-CN" altLang="en-US" sz="1600" b="0" i="0">
                    <a:solidFill>
                      <a:srgbClr val="000000"/>
                    </a:solidFill>
                    <a:latin typeface="仿宋" panose="02010609060101010101" charset="-122"/>
                    <a:ea typeface="仿宋" panose="02010609060101010101" charset="-122"/>
                    <a:cs typeface="仿宋" panose="02010609060101010101" charset="-122"/>
                  </a:rPr>
                  <a:t>做函数 </a:t>
                </a: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ℎ</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b="0" i="1">
                        <a:solidFill>
                          <a:srgbClr val="000000"/>
                        </a:solidFill>
                        <a:latin typeface="Cambria Math" panose="02040503050406030204" charset="0"/>
                        <a:ea typeface="仿宋" panose="02010609060101010101" charset="-122"/>
                        <a:cs typeface="Cambria Math" panose="02040503050406030204" charset="0"/>
                      </a:rPr>
                      <m:t>𝑓</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b="0" i="1">
                        <a:solidFill>
                          <a:srgbClr val="000000"/>
                        </a:solidFill>
                        <a:latin typeface="Cambria Math" panose="02040503050406030204" charset="0"/>
                        <a:ea typeface="仿宋" panose="02010609060101010101" charset="-122"/>
                        <a:cs typeface="Cambria Math" panose="02040503050406030204" charset="0"/>
                      </a:rPr>
                      <m:t>𝑔</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oMath>
                </a14:m>
                <a:r>
                  <a:rPr lang="zh-CN" altLang="en-US" sz="1600" b="0" i="0">
                    <a:solidFill>
                      <a:srgbClr val="000000"/>
                    </a:solidFill>
                    <a:latin typeface="仿宋" panose="02010609060101010101" charset="-122"/>
                    <a:ea typeface="仿宋" panose="02010609060101010101" charset="-122"/>
                    <a:cs typeface="仿宋" panose="02010609060101010101" charset="-122"/>
                  </a:rPr>
                  <a:t>，</a:t>
                </a: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ℎ</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r>
                      <a:rPr lang="en-US" altLang="zh-CN" sz="1600" b="0" i="1">
                        <a:solidFill>
                          <a:srgbClr val="000000"/>
                        </a:solidFill>
                        <a:latin typeface="Cambria Math" panose="02040503050406030204" charset="0"/>
                        <a:ea typeface="仿宋" panose="02010609060101010101" charset="-122"/>
                        <a:cs typeface="Cambria Math" panose="02040503050406030204" charset="0"/>
                      </a:rPr>
                      <m:t>)&gt;</m:t>
                    </m:r>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oMath>
                </a14:m>
                <a:r>
                  <a:rPr lang="zh-CN" altLang="en-US" sz="1600" b="0" i="0">
                    <a:solidFill>
                      <a:srgbClr val="000000"/>
                    </a:solidFill>
                    <a:latin typeface="仿宋" panose="02010609060101010101" charset="-122"/>
                    <a:ea typeface="仿宋" panose="02010609060101010101" charset="-122"/>
                    <a:cs typeface="仿宋" panose="02010609060101010101" charset="-122"/>
                  </a:rPr>
                  <a:t>，</a:t>
                </a: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ℎ</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i="1">
                        <a:solidFill>
                          <a:srgbClr val="000000"/>
                        </a:solidFill>
                        <a:latin typeface="Cambria Math" panose="02040503050406030204" charset="0"/>
                        <a:ea typeface="仿宋" panose="02010609060101010101" charset="-122"/>
                        <a:cs typeface="Cambria Math" panose="02040503050406030204" charset="0"/>
                      </a:rPr>
                      <m:t>𝜋</m:t>
                    </m:r>
                    <m:r>
                      <a:rPr lang="en-US" altLang="zh-CN" sz="1600" i="1">
                        <a:solidFill>
                          <a:srgbClr val="000000"/>
                        </a:solidFill>
                        <a:latin typeface="Cambria Math" panose="02040503050406030204" charset="0"/>
                        <a:ea typeface="仿宋" panose="02010609060101010101" charset="-122"/>
                        <a:cs typeface="Cambria Math" panose="02040503050406030204" charset="0"/>
                      </a:rPr>
                      <m:t>/</m:t>
                    </m:r>
                    <m:r>
                      <a:rPr lang="en-US" altLang="zh-CN" sz="1600" i="1">
                        <a:solidFill>
                          <a:srgbClr val="000000"/>
                        </a:solidFill>
                        <a:latin typeface="Cambria Math" panose="02040503050406030204" charset="0"/>
                        <a:ea typeface="仿宋" panose="02010609060101010101" charset="-122"/>
                        <a:cs typeface="Cambria Math" panose="02040503050406030204" charset="0"/>
                      </a:rPr>
                      <m:t>2</m:t>
                    </m:r>
                    <m:r>
                      <a:rPr lang="en-US" altLang="zh-CN" sz="1600" b="0" i="1">
                        <a:solidFill>
                          <a:srgbClr val="000000"/>
                        </a:solidFill>
                        <a:latin typeface="Cambria Math" panose="02040503050406030204" charset="0"/>
                        <a:ea typeface="仿宋" panose="02010609060101010101" charset="-122"/>
                        <a:cs typeface="Cambria Math" panose="02040503050406030204" charset="0"/>
                      </a:rPr>
                      <m:t>)&lt;</m:t>
                    </m:r>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oMath>
                </a14:m>
                <a:r>
                  <a:rPr lang="en-US" altLang="zh-CN" sz="1600" b="0" i="0">
                    <a:solidFill>
                      <a:srgbClr val="000000"/>
                    </a:solidFill>
                    <a:latin typeface="仿宋" panose="02010609060101010101" charset="-122"/>
                    <a:ea typeface="仿宋" panose="02010609060101010101" charset="-122"/>
                    <a:cs typeface="仿宋" panose="02010609060101010101" charset="-122"/>
                  </a:rPr>
                  <a:t> </a:t>
                </a:r>
                <a:r>
                  <a:rPr lang="zh-CN" altLang="en-US" sz="1600" b="0" i="0">
                    <a:solidFill>
                      <a:srgbClr val="000000"/>
                    </a:solidFill>
                    <a:latin typeface="仿宋" panose="02010609060101010101" charset="-122"/>
                    <a:ea typeface="仿宋" panose="02010609060101010101" charset="-122"/>
                    <a:cs typeface="仿宋" panose="02010609060101010101" charset="-122"/>
                  </a:rPr>
                  <a:t>（</a:t>
                </a:r>
                <a:r>
                  <a:rPr lang="en-US" altLang="zh-CN" sz="1600" b="0" i="0">
                    <a:solidFill>
                      <a:srgbClr val="000000"/>
                    </a:solidFill>
                    <a:latin typeface="仿宋" panose="02010609060101010101" charset="-122"/>
                    <a:ea typeface="仿宋" panose="02010609060101010101" charset="-122"/>
                    <a:cs typeface="仿宋" panose="02010609060101010101" charset="-122"/>
                  </a:rPr>
                  <a:t>2 </a:t>
                </a:r>
                <a:r>
                  <a:rPr lang="zh-CN" altLang="en-US" sz="1600" b="0" i="0">
                    <a:solidFill>
                      <a:srgbClr val="000000"/>
                    </a:solidFill>
                    <a:latin typeface="仿宋" panose="02010609060101010101" charset="-122"/>
                    <a:ea typeface="仿宋" panose="02010609060101010101" charset="-122"/>
                    <a:cs typeface="仿宋" panose="02010609060101010101" charset="-122"/>
                  </a:rPr>
                  <a:t>分）</a:t>
                </a:r>
                <a:endParaRPr lang="zh-CN" altLang="en-US" sz="1600" b="0" i="0">
                  <a:solidFill>
                    <a:srgbClr val="000000"/>
                  </a:solidFill>
                  <a:latin typeface="仿宋" panose="02010609060101010101" charset="-122"/>
                  <a:ea typeface="仿宋" panose="02010609060101010101" charset="-122"/>
                  <a:cs typeface="仿宋" panose="02010609060101010101" charset="-122"/>
                </a:endParaRPr>
              </a:p>
              <a:p>
                <a:pPr marL="0" indent="0">
                  <a:lnSpc>
                    <a:spcPct val="130000"/>
                  </a:lnSpc>
                </a:pP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ℎ</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oMath>
                </a14:m>
                <a:r>
                  <a:rPr lang="zh-CN" altLang="en-US" sz="1600" b="0" i="0">
                    <a:solidFill>
                      <a:srgbClr val="000000"/>
                    </a:solidFill>
                    <a:latin typeface="仿宋" panose="02010609060101010101" charset="-122"/>
                    <a:ea typeface="仿宋" panose="02010609060101010101" charset="-122"/>
                    <a:cs typeface="仿宋" panose="02010609060101010101" charset="-122"/>
                  </a:rPr>
                  <a:t>函数连续，所以存在 </a:t>
                </a:r>
                <a14:m>
                  <m:oMath xmlns:m="http://schemas.openxmlformats.org/officeDocument/2006/math">
                    <m:sSub>
                      <m:sSub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sub>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sub>
                    </m:sSub>
                    <m:d>
                      <m:d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dPr>
                      <m:e>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r>
                          <a:rPr lang="en-US" altLang="zh-CN" sz="1600" b="0" i="1">
                            <a:solidFill>
                              <a:srgbClr val="000000"/>
                            </a:solidFill>
                            <a:latin typeface="Cambria Math" panose="02040503050406030204" charset="0"/>
                            <a:ea typeface="仿宋" panose="02010609060101010101" charset="-122"/>
                            <a:cs typeface="Cambria Math" panose="02040503050406030204" charset="0"/>
                          </a:rPr>
                          <m:t>&lt;</m:t>
                        </m:r>
                        <m:sSub>
                          <m:sSub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sub>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sub>
                        </m:sSub>
                        <m:r>
                          <a:rPr lang="en-US" altLang="zh-CN" sz="1600" b="0" i="1">
                            <a:solidFill>
                              <a:srgbClr val="000000"/>
                            </a:solidFill>
                            <a:latin typeface="Cambria Math" panose="02040503050406030204" charset="0"/>
                            <a:ea typeface="仿宋" panose="02010609060101010101" charset="-122"/>
                            <a:cs typeface="Cambria Math" panose="02040503050406030204" charset="0"/>
                          </a:rPr>
                          <m:t>&lt;</m:t>
                        </m:r>
                        <m:r>
                          <a:rPr lang="en-US" altLang="zh-CN" sz="1600" i="1">
                            <a:solidFill>
                              <a:srgbClr val="000000"/>
                            </a:solidFill>
                            <a:latin typeface="Cambria Math" panose="02040503050406030204" charset="0"/>
                            <a:ea typeface="仿宋" panose="02010609060101010101" charset="-122"/>
                            <a:cs typeface="Cambria Math" panose="02040503050406030204" charset="0"/>
                          </a:rPr>
                          <m:t>𝜋</m:t>
                        </m:r>
                        <m:r>
                          <a:rPr lang="en-US" altLang="zh-CN" sz="1600" i="1">
                            <a:solidFill>
                              <a:srgbClr val="000000"/>
                            </a:solidFill>
                            <a:latin typeface="Cambria Math" panose="02040503050406030204" charset="0"/>
                            <a:ea typeface="仿宋" panose="02010609060101010101" charset="-122"/>
                            <a:cs typeface="Cambria Math" panose="02040503050406030204" charset="0"/>
                          </a:rPr>
                          <m:t>/</m:t>
                        </m:r>
                        <m:r>
                          <a:rPr lang="en-US" altLang="zh-CN" sz="1600" i="1">
                            <a:solidFill>
                              <a:srgbClr val="000000"/>
                            </a:solidFill>
                            <a:latin typeface="Cambria Math" panose="02040503050406030204" charset="0"/>
                            <a:ea typeface="仿宋" panose="02010609060101010101" charset="-122"/>
                            <a:cs typeface="Cambria Math" panose="02040503050406030204" charset="0"/>
                          </a:rPr>
                          <m:t>2</m:t>
                        </m:r>
                      </m:e>
                    </m:d>
                  </m:oMath>
                </a14:m>
                <a:r>
                  <a:rPr lang="zh-CN" altLang="en-US" sz="1600" b="0" i="0">
                    <a:solidFill>
                      <a:srgbClr val="000000"/>
                    </a:solidFill>
                    <a:latin typeface="仿宋" panose="02010609060101010101" charset="-122"/>
                    <a:ea typeface="仿宋" panose="02010609060101010101" charset="-122"/>
                    <a:cs typeface="仿宋" panose="02010609060101010101" charset="-122"/>
                  </a:rPr>
                  <a:t>，使 </a:t>
                </a: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ℎ</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sub>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sub>
                    </m:sSub>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oMath>
                </a14:m>
                <a:r>
                  <a:rPr lang="zh-CN" altLang="en-US" sz="1600" b="0" i="0">
                    <a:solidFill>
                      <a:srgbClr val="000000"/>
                    </a:solidFill>
                    <a:latin typeface="仿宋" panose="02010609060101010101" charset="-122"/>
                    <a:ea typeface="仿宋" panose="02010609060101010101" charset="-122"/>
                    <a:cs typeface="仿宋" panose="02010609060101010101" charset="-122"/>
                  </a:rPr>
                  <a:t>， 即 </a:t>
                </a: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𝑓</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sub>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sub>
                    </m:sSub>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b="0" i="1">
                        <a:solidFill>
                          <a:srgbClr val="000000"/>
                        </a:solidFill>
                        <a:latin typeface="Cambria Math" panose="02040503050406030204" charset="0"/>
                        <a:ea typeface="仿宋" panose="02010609060101010101" charset="-122"/>
                        <a:cs typeface="Cambria Math" panose="02040503050406030204" charset="0"/>
                      </a:rPr>
                      <m:t>𝑔</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sub>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sub>
                    </m:sSub>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oMath>
                </a14:m>
                <a:r>
                  <a:rPr lang="en-US" altLang="zh-CN" sz="1600" b="0" i="0">
                    <a:solidFill>
                      <a:srgbClr val="000000"/>
                    </a:solidFill>
                    <a:latin typeface="仿宋" panose="02010609060101010101" charset="-122"/>
                    <a:ea typeface="仿宋" panose="02010609060101010101" charset="-122"/>
                    <a:cs typeface="仿宋" panose="02010609060101010101" charset="-122"/>
                  </a:rPr>
                  <a:t> </a:t>
                </a:r>
                <a:r>
                  <a:rPr lang="zh-CN" altLang="en-US" sz="1600" b="0" i="0">
                    <a:solidFill>
                      <a:srgbClr val="000000"/>
                    </a:solidFill>
                    <a:latin typeface="仿宋" panose="02010609060101010101" charset="-122"/>
                    <a:ea typeface="仿宋" panose="02010609060101010101" charset="-122"/>
                    <a:cs typeface="仿宋" panose="02010609060101010101" charset="-122"/>
                  </a:rPr>
                  <a:t>（</a:t>
                </a:r>
                <a:r>
                  <a:rPr lang="en-US" altLang="zh-CN" sz="1600" b="0" i="0">
                    <a:solidFill>
                      <a:srgbClr val="000000"/>
                    </a:solidFill>
                    <a:latin typeface="仿宋" panose="02010609060101010101" charset="-122"/>
                    <a:ea typeface="仿宋" panose="02010609060101010101" charset="-122"/>
                    <a:cs typeface="仿宋" panose="02010609060101010101" charset="-122"/>
                  </a:rPr>
                  <a:t>2 </a:t>
                </a:r>
                <a:r>
                  <a:rPr lang="zh-CN" altLang="en-US" sz="1600" b="0" i="0">
                    <a:solidFill>
                      <a:srgbClr val="000000"/>
                    </a:solidFill>
                    <a:latin typeface="仿宋" panose="02010609060101010101" charset="-122"/>
                    <a:ea typeface="仿宋" panose="02010609060101010101" charset="-122"/>
                    <a:cs typeface="仿宋" panose="02010609060101010101" charset="-122"/>
                  </a:rPr>
                  <a:t>分）</a:t>
                </a:r>
                <a:endParaRPr lang="zh-CN" altLang="en-US" sz="1600" b="0" i="0">
                  <a:solidFill>
                    <a:srgbClr val="000000"/>
                  </a:solidFill>
                  <a:latin typeface="仿宋" panose="02010609060101010101" charset="-122"/>
                  <a:ea typeface="仿宋" panose="02010609060101010101" charset="-122"/>
                  <a:cs typeface="仿宋" panose="02010609060101010101" charset="-122"/>
                </a:endParaRPr>
              </a:p>
              <a:p>
                <a:pPr marL="0" indent="0">
                  <a:lnSpc>
                    <a:spcPct val="130000"/>
                  </a:lnSpc>
                </a:pPr>
                <a:r>
                  <a:rPr lang="zh-CN" altLang="en-US" sz="1600" b="0" i="0">
                    <a:solidFill>
                      <a:srgbClr val="000000"/>
                    </a:solidFill>
                    <a:latin typeface="仿宋" panose="02010609060101010101" charset="-122"/>
                    <a:ea typeface="仿宋" panose="02010609060101010101" charset="-122"/>
                    <a:cs typeface="仿宋" panose="02010609060101010101" charset="-122"/>
                  </a:rPr>
                  <a:t>又 </a:t>
                </a: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𝑓</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sub>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sub>
                    </m:sSub>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i="1">
                        <a:solidFill>
                          <a:srgbClr val="000000"/>
                        </a:solidFill>
                        <a:latin typeface="Cambria Math" panose="02040503050406030204" charset="0"/>
                        <a:ea typeface="仿宋" panose="02010609060101010101" charset="-122"/>
                        <a:cs typeface="Cambria Math" panose="02040503050406030204" charset="0"/>
                      </a:rPr>
                      <m:t>∙</m:t>
                    </m:r>
                    <m:r>
                      <a:rPr lang="en-US" altLang="zh-CN" sz="1600" b="0" i="1">
                        <a:solidFill>
                          <a:srgbClr val="000000"/>
                        </a:solidFill>
                        <a:latin typeface="Cambria Math" panose="02040503050406030204" charset="0"/>
                        <a:ea typeface="仿宋" panose="02010609060101010101" charset="-122"/>
                        <a:cs typeface="Cambria Math" panose="02040503050406030204" charset="0"/>
                      </a:rPr>
                      <m:t>𝑔</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sub>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sub>
                    </m:sSub>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oMath>
                </a14:m>
                <a:r>
                  <a:rPr lang="zh-CN" altLang="en-US" sz="1600" b="0" i="0">
                    <a:solidFill>
                      <a:srgbClr val="000000"/>
                    </a:solidFill>
                    <a:latin typeface="仿宋" panose="02010609060101010101" charset="-122"/>
                    <a:ea typeface="仿宋" panose="02010609060101010101" charset="-122"/>
                    <a:cs typeface="仿宋" panose="02010609060101010101" charset="-122"/>
                  </a:rPr>
                  <a:t>，所以 </a:t>
                </a:r>
                <a14:m>
                  <m:oMath xmlns:m="http://schemas.openxmlformats.org/officeDocument/2006/math">
                    <m:r>
                      <a:rPr lang="en-US" altLang="zh-CN" sz="1600" b="0" i="1">
                        <a:solidFill>
                          <a:srgbClr val="000000"/>
                        </a:solidFill>
                        <a:latin typeface="Cambria Math" panose="02040503050406030204" charset="0"/>
                        <a:ea typeface="仿宋" panose="02010609060101010101" charset="-122"/>
                        <a:cs typeface="Cambria Math" panose="02040503050406030204" charset="0"/>
                      </a:rPr>
                      <m:t>𝑓</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sub>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sub>
                    </m:sSub>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r>
                      <a:rPr lang="en-US" altLang="zh-CN" sz="1600" b="0" i="1">
                        <a:solidFill>
                          <a:srgbClr val="000000"/>
                        </a:solidFill>
                        <a:latin typeface="Cambria Math" panose="02040503050406030204" charset="0"/>
                        <a:ea typeface="仿宋" panose="02010609060101010101" charset="-122"/>
                        <a:cs typeface="Cambria Math" panose="02040503050406030204" charset="0"/>
                      </a:rPr>
                      <m:t>𝑔</m:t>
                    </m:r>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sub>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sub>
                    </m:sSub>
                    <m:r>
                      <a:rPr lang="en-US" altLang="zh-CN" sz="1600" b="0" i="1">
                        <a:solidFill>
                          <a:srgbClr val="000000"/>
                        </a:solidFill>
                        <a:latin typeface="Cambria Math" panose="02040503050406030204" charset="0"/>
                        <a:ea typeface="仿宋" panose="02010609060101010101" charset="-122"/>
                        <a:cs typeface="Cambria Math" panose="02040503050406030204" charset="0"/>
                      </a:rPr>
                      <m:t>)</m:t>
                    </m:r>
                  </m:oMath>
                </a14:m>
                <a:r>
                  <a:rPr lang="en-US" altLang="zh-CN" sz="1600" b="0" i="0">
                    <a:solidFill>
                      <a:srgbClr val="000000"/>
                    </a:solidFill>
                    <a:latin typeface="仿宋" panose="02010609060101010101" charset="-122"/>
                    <a:ea typeface="仿宋" panose="02010609060101010101" charset="-122"/>
                    <a:cs typeface="仿宋" panose="02010609060101010101" charset="-122"/>
                  </a:rPr>
                  <a:t>=0</a:t>
                </a:r>
                <a:r>
                  <a:rPr lang="zh-CN" altLang="en-US" sz="1600" b="0" i="0">
                    <a:solidFill>
                      <a:srgbClr val="000000"/>
                    </a:solidFill>
                    <a:latin typeface="仿宋" panose="02010609060101010101" charset="-122"/>
                    <a:ea typeface="仿宋" panose="02010609060101010101" charset="-122"/>
                    <a:cs typeface="仿宋" panose="02010609060101010101" charset="-122"/>
                  </a:rPr>
                  <a:t>，即 </a:t>
                </a:r>
                <a14:m>
                  <m:oMath xmlns:m="http://schemas.openxmlformats.org/officeDocument/2006/math">
                    <m:sSub>
                      <m:sSubPr>
                        <m:ctrlPr>
                          <a:rPr lang="en-US" altLang="zh-CN" sz="1600"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sz="1600" i="1">
                            <a:solidFill>
                              <a:srgbClr val="000000"/>
                            </a:solidFill>
                            <a:latin typeface="Cambria Math" panose="02040503050406030204" charset="0"/>
                            <a:ea typeface="仿宋" panose="02010609060101010101" charset="-122"/>
                            <a:cs typeface="Cambria Math" panose="02040503050406030204" charset="0"/>
                          </a:rPr>
                          <m:t>𝜃</m:t>
                        </m:r>
                      </m:e>
                      <m:sub>
                        <m:r>
                          <a:rPr lang="en-US" altLang="zh-CN" sz="1600" b="0" i="1">
                            <a:solidFill>
                              <a:srgbClr val="000000"/>
                            </a:solidFill>
                            <a:latin typeface="Cambria Math" panose="02040503050406030204" charset="0"/>
                            <a:ea typeface="仿宋" panose="02010609060101010101" charset="-122"/>
                            <a:cs typeface="Cambria Math" panose="02040503050406030204" charset="0"/>
                          </a:rPr>
                          <m:t>0</m:t>
                        </m:r>
                      </m:sub>
                    </m:sSub>
                  </m:oMath>
                </a14:m>
                <a:r>
                  <a:rPr lang="en-US" altLang="zh-CN" sz="1600" b="0" i="0">
                    <a:solidFill>
                      <a:srgbClr val="000000"/>
                    </a:solidFill>
                    <a:latin typeface="仿宋" panose="02010609060101010101" charset="-122"/>
                    <a:ea typeface="仿宋" panose="02010609060101010101" charset="-122"/>
                    <a:cs typeface="仿宋" panose="02010609060101010101" charset="-122"/>
                  </a:rPr>
                  <a:t>​ </a:t>
                </a:r>
                <a:r>
                  <a:rPr lang="zh-CN" altLang="en-US" sz="1600" b="0" i="0">
                    <a:solidFill>
                      <a:srgbClr val="000000"/>
                    </a:solidFill>
                    <a:latin typeface="仿宋" panose="02010609060101010101" charset="-122"/>
                    <a:ea typeface="仿宋" panose="02010609060101010101" charset="-122"/>
                    <a:cs typeface="仿宋" panose="02010609060101010101" charset="-122"/>
                  </a:rPr>
                  <a:t>便是平衡位置 （</a:t>
                </a:r>
                <a:r>
                  <a:rPr lang="en-US" altLang="zh-CN" sz="1600" b="0" i="0">
                    <a:solidFill>
                      <a:srgbClr val="000000"/>
                    </a:solidFill>
                    <a:latin typeface="仿宋" panose="02010609060101010101" charset="-122"/>
                    <a:ea typeface="仿宋" panose="02010609060101010101" charset="-122"/>
                    <a:cs typeface="仿宋" panose="02010609060101010101" charset="-122"/>
                  </a:rPr>
                  <a:t>2 </a:t>
                </a:r>
                <a:r>
                  <a:rPr lang="zh-CN" altLang="en-US" sz="1600" b="0" i="0">
                    <a:solidFill>
                      <a:srgbClr val="000000"/>
                    </a:solidFill>
                    <a:latin typeface="仿宋" panose="02010609060101010101" charset="-122"/>
                    <a:ea typeface="仿宋" panose="02010609060101010101" charset="-122"/>
                    <a:cs typeface="仿宋" panose="02010609060101010101" charset="-122"/>
                  </a:rPr>
                  <a:t>分）</a:t>
                </a:r>
                <a:endParaRPr lang="zh-CN" altLang="en-US" sz="1600" b="0" i="0">
                  <a:solidFill>
                    <a:srgbClr val="000000"/>
                  </a:solidFill>
                  <a:latin typeface="仿宋" panose="02010609060101010101" charset="-122"/>
                  <a:ea typeface="仿宋" panose="02010609060101010101" charset="-122"/>
                  <a:cs typeface="仿宋" panose="02010609060101010101"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1189355" y="3776345"/>
                <a:ext cx="9726295" cy="2543175"/>
              </a:xfrm>
              <a:prstGeom prst="rect">
                <a:avLst/>
              </a:prstGeom>
              <a:blipFill rotWithShape="1">
                <a:blip r:embed="rId1"/>
                <a:stretch>
                  <a:fillRect/>
                </a:stretch>
              </a:blipFill>
            </p:spPr>
            <p:txBody>
              <a:bodyPr/>
              <a:lstStyle/>
              <a:p>
                <a:r>
                  <a:rPr lang="zh-CN" altLang="en-US">
                    <a:noFill/>
                  </a:rPr>
                  <a:t> </a:t>
                </a:r>
              </a:p>
            </p:txBody>
          </p:sp>
        </mc:Fallback>
      </mc:AlternateContent>
      <p:pic>
        <p:nvPicPr>
          <p:cNvPr id="18" name="图片 17"/>
          <p:cNvPicPr>
            <a:picLocks noChangeAspect="1"/>
          </p:cNvPicPr>
          <p:nvPr/>
        </p:nvPicPr>
        <p:blipFill>
          <a:blip r:embed="rId2"/>
          <a:stretch>
            <a:fillRect/>
          </a:stretch>
        </p:blipFill>
        <p:spPr>
          <a:xfrm>
            <a:off x="9288780" y="765810"/>
            <a:ext cx="2718435" cy="2290445"/>
          </a:xfrm>
          <a:prstGeom prst="rect">
            <a:avLst/>
          </a:prstGeom>
        </p:spPr>
      </p:pic>
    </p:spTree>
    <p:custDataLst>
      <p:tags r:id="rId3"/>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62330" y="893445"/>
            <a:ext cx="4064000" cy="460375"/>
          </a:xfrm>
          <a:prstGeom prst="rect">
            <a:avLst/>
          </a:prstGeom>
          <a:noFill/>
        </p:spPr>
        <p:txBody>
          <a:bodyPr wrap="square" rtlCol="0">
            <a:spAutoFit/>
          </a:bodyPr>
          <a:p>
            <a:r>
              <a:rPr lang="zh-CN" altLang="en-US" sz="2400"/>
              <a:t>双层玻璃窗的功效</a:t>
            </a:r>
            <a:endParaRPr lang="zh-CN" altLang="en-US" sz="2400"/>
          </a:p>
        </p:txBody>
      </p:sp>
      <p:sp>
        <p:nvSpPr>
          <p:cNvPr id="3" name="文本框 2"/>
          <p:cNvSpPr txBox="1"/>
          <p:nvPr/>
        </p:nvSpPr>
        <p:spPr>
          <a:xfrm>
            <a:off x="862330" y="1818640"/>
            <a:ext cx="10285730" cy="3803015"/>
          </a:xfrm>
          <a:prstGeom prst="rect">
            <a:avLst/>
          </a:prstGeom>
          <a:noFill/>
        </p:spPr>
        <p:txBody>
          <a:bodyPr wrap="square" rtlCol="0">
            <a:noAutofit/>
          </a:bodyPr>
          <a:p>
            <a:pPr>
              <a:lnSpc>
                <a:spcPct val="170000"/>
              </a:lnSpc>
            </a:pPr>
            <a:r>
              <a:rPr lang="zh-CN" altLang="en-US">
                <a:latin typeface="仿宋" panose="02010609060101010101" charset="-122"/>
                <a:ea typeface="仿宋" panose="02010609060101010101" charset="-122"/>
                <a:cs typeface="仿宋" panose="02010609060101010101" charset="-122"/>
              </a:rPr>
              <a:t>请基于热传导公式（</a:t>
            </a:r>
            <a:r>
              <a:rPr lang="en-US" altLang="zh-CN">
                <a:latin typeface="仿宋" panose="02010609060101010101" charset="-122"/>
                <a:ea typeface="仿宋" panose="02010609060101010101" charset="-122"/>
                <a:cs typeface="仿宋" panose="02010609060101010101" charset="-122"/>
              </a:rPr>
              <a:t>ΔT–</a:t>
            </a:r>
            <a:r>
              <a:rPr lang="zh-CN" altLang="en-US">
                <a:latin typeface="仿宋" panose="02010609060101010101" charset="-122"/>
                <a:ea typeface="仿宋" panose="02010609060101010101" charset="-122"/>
                <a:cs typeface="仿宋" panose="02010609060101010101" charset="-122"/>
              </a:rPr>
              <a:t>温差，</a:t>
            </a:r>
            <a:r>
              <a:rPr lang="en-US" altLang="zh-CN">
                <a:latin typeface="仿宋" panose="02010609060101010101" charset="-122"/>
                <a:ea typeface="仿宋" panose="02010609060101010101" charset="-122"/>
                <a:cs typeface="仿宋" panose="02010609060101010101" charset="-122"/>
              </a:rPr>
              <a:t>d–</a:t>
            </a:r>
            <a:r>
              <a:rPr lang="zh-CN" altLang="en-US">
                <a:latin typeface="仿宋" panose="02010609060101010101" charset="-122"/>
                <a:ea typeface="仿宋" panose="02010609060101010101" charset="-122"/>
                <a:cs typeface="仿宋" panose="02010609060101010101" charset="-122"/>
              </a:rPr>
              <a:t>材料厚度，</a:t>
            </a:r>
            <a:r>
              <a:rPr lang="en-US" altLang="zh-CN">
                <a:latin typeface="仿宋" panose="02010609060101010101" charset="-122"/>
                <a:ea typeface="仿宋" panose="02010609060101010101" charset="-122"/>
                <a:cs typeface="仿宋" panose="02010609060101010101" charset="-122"/>
              </a:rPr>
              <a:t>k–</a:t>
            </a:r>
            <a:r>
              <a:rPr lang="zh-CN" altLang="en-US">
                <a:latin typeface="仿宋" panose="02010609060101010101" charset="-122"/>
                <a:ea typeface="仿宋" panose="02010609060101010101" charset="-122"/>
                <a:cs typeface="仿宋" panose="02010609060101010101" charset="-122"/>
              </a:rPr>
              <a:t>热传导系数），建模计算双层玻璃窗与同样多材料的单层玻璃窗相比减少了多少热量损失，并计算出准确的热量比值。（15 分）（本题中所采用的基本假设：</a:t>
            </a:r>
            <a:endParaRPr lang="zh-CN" altLang="en-US">
              <a:latin typeface="仿宋" panose="02010609060101010101" charset="-122"/>
              <a:ea typeface="仿宋" panose="02010609060101010101" charset="-122"/>
              <a:cs typeface="仿宋" panose="02010609060101010101" charset="-122"/>
            </a:endParaRPr>
          </a:p>
          <a:p>
            <a:pPr>
              <a:lnSpc>
                <a:spcPct val="170000"/>
              </a:lnSpc>
            </a:pPr>
            <a:r>
              <a:rPr lang="zh-CN" altLang="en-US">
                <a:latin typeface="仿宋" panose="02010609060101010101" charset="-122"/>
                <a:ea typeface="仿宋" panose="02010609060101010101" charset="-122"/>
                <a:cs typeface="仿宋" panose="02010609060101010101" charset="-122"/>
              </a:rPr>
              <a:t>（1）热量传播只有传导，没有对流；</a:t>
            </a:r>
            <a:endParaRPr lang="zh-CN" altLang="en-US">
              <a:latin typeface="仿宋" panose="02010609060101010101" charset="-122"/>
              <a:ea typeface="仿宋" panose="02010609060101010101" charset="-122"/>
              <a:cs typeface="仿宋" panose="02010609060101010101" charset="-122"/>
            </a:endParaRPr>
          </a:p>
          <a:p>
            <a:pPr>
              <a:lnSpc>
                <a:spcPct val="170000"/>
              </a:lnSpc>
            </a:pPr>
            <a:r>
              <a:rPr lang="zh-CN" altLang="en-US">
                <a:latin typeface="仿宋" panose="02010609060101010101" charset="-122"/>
                <a:ea typeface="仿宋" panose="02010609060101010101" charset="-122"/>
                <a:cs typeface="仿宋" panose="02010609060101010101" charset="-122"/>
              </a:rPr>
              <a:t>（2）室内外温度 </a:t>
            </a:r>
            <a:r>
              <a:rPr lang="en-US" altLang="zh-CN">
                <a:latin typeface="仿宋" panose="02010609060101010101" charset="-122"/>
                <a:ea typeface="仿宋" panose="02010609060101010101" charset="-122"/>
                <a:cs typeface="仿宋" panose="02010609060101010101" charset="-122"/>
              </a:rPr>
              <a:t>T1​，T2​ </a:t>
            </a:r>
            <a:r>
              <a:rPr lang="zh-CN" altLang="en-US">
                <a:latin typeface="仿宋" panose="02010609060101010101" charset="-122"/>
                <a:ea typeface="仿宋" panose="02010609060101010101" charset="-122"/>
                <a:cs typeface="仿宋" panose="02010609060101010101" charset="-122"/>
              </a:rPr>
              <a:t>不变，热传导过程处于稳态；</a:t>
            </a:r>
            <a:endParaRPr lang="zh-CN" altLang="en-US">
              <a:latin typeface="仿宋" panose="02010609060101010101" charset="-122"/>
              <a:ea typeface="仿宋" panose="02010609060101010101" charset="-122"/>
              <a:cs typeface="仿宋" panose="02010609060101010101" charset="-122"/>
            </a:endParaRPr>
          </a:p>
          <a:p>
            <a:pPr>
              <a:lnSpc>
                <a:spcPct val="170000"/>
              </a:lnSpc>
            </a:pPr>
            <a:r>
              <a:rPr lang="zh-CN" altLang="en-US">
                <a:latin typeface="仿宋" panose="02010609060101010101" charset="-122"/>
                <a:ea typeface="仿宋" panose="02010609060101010101" charset="-122"/>
                <a:cs typeface="仿宋" panose="02010609060101010101" charset="-122"/>
              </a:rPr>
              <a:t>（3）材料均匀，热传导系数为常数；</a:t>
            </a:r>
            <a:endParaRPr lang="zh-CN" altLang="en-US">
              <a:latin typeface="仿宋" panose="02010609060101010101" charset="-122"/>
              <a:ea typeface="仿宋" panose="02010609060101010101" charset="-122"/>
              <a:cs typeface="仿宋" panose="02010609060101010101" charset="-122"/>
            </a:endParaRPr>
          </a:p>
          <a:p>
            <a:pPr>
              <a:lnSpc>
                <a:spcPct val="170000"/>
              </a:lnSpc>
            </a:pPr>
            <a:r>
              <a:rPr lang="zh-CN" altLang="en-US">
                <a:latin typeface="仿宋" panose="02010609060101010101" charset="-122"/>
                <a:ea typeface="仿宋" panose="02010609060101010101" charset="-122"/>
                <a:cs typeface="仿宋" panose="02010609060101010101" charset="-122"/>
              </a:rPr>
              <a:t>（4）玻璃热传导系数 0.0005 (</a:t>
            </a:r>
            <a:r>
              <a:rPr lang="en-US" altLang="zh-CN">
                <a:latin typeface="仿宋" panose="02010609060101010101" charset="-122"/>
                <a:ea typeface="仿宋" panose="02010609060101010101" charset="-122"/>
                <a:cs typeface="仿宋" panose="02010609060101010101" charset="-122"/>
              </a:rPr>
              <a:t>J/cm⋅s⋅k⋅h)，</a:t>
            </a:r>
            <a:r>
              <a:rPr lang="zh-CN" altLang="en-US">
                <a:latin typeface="仿宋" panose="02010609060101010101" charset="-122"/>
                <a:ea typeface="仿宋" panose="02010609060101010101" charset="-122"/>
                <a:cs typeface="仿宋" panose="02010609060101010101" charset="-122"/>
              </a:rPr>
              <a:t>空气热传导系数 0.000025 (</a:t>
            </a:r>
            <a:r>
              <a:rPr lang="en-US" altLang="zh-CN">
                <a:latin typeface="仿宋" panose="02010609060101010101" charset="-122"/>
                <a:ea typeface="仿宋" panose="02010609060101010101" charset="-122"/>
                <a:cs typeface="仿宋" panose="02010609060101010101" charset="-122"/>
              </a:rPr>
              <a:t>J/cm⋅s⋅k⋅h)；）</a:t>
            </a:r>
            <a:endParaRPr lang="zh-CN" altLang="en-US">
              <a:latin typeface="仿宋" panose="02010609060101010101" charset="-122"/>
              <a:ea typeface="仿宋" panose="02010609060101010101" charset="-122"/>
              <a:cs typeface="仿宋" panose="02010609060101010101" charset="-122"/>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4" name="文本框 3"/>
              <p:cNvSpPr txBox="1"/>
              <p:nvPr/>
            </p:nvSpPr>
            <p:spPr>
              <a:xfrm>
                <a:off x="948690" y="1167130"/>
                <a:ext cx="10127615" cy="4911725"/>
              </a:xfrm>
              <a:prstGeom prst="rect">
                <a:avLst/>
              </a:prstGeom>
              <a:noFill/>
            </p:spPr>
            <p:txBody>
              <a:bodyPr wrap="square" rtlCol="0" anchor="t">
                <a:noAutofit/>
              </a:bodyPr>
              <a:p>
                <a:pPr>
                  <a:lnSpc>
                    <a:spcPct val="140000"/>
                  </a:lnSpc>
                </a:pPr>
                <a:r>
                  <a:rPr lang="zh-CN" altLang="en-US">
                    <a:latin typeface="仿宋" panose="02010609060101010101" charset="-122"/>
                    <a:ea typeface="仿宋" panose="02010609060101010101" charset="-122"/>
                    <a:cs typeface="仿宋" panose="02010609060101010101" charset="-122"/>
                  </a:rPr>
                  <a:t>解：热传导定律 </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𝑄</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𝑘</m:t>
                    </m:r>
                    <m:f>
                      <m:fPr>
                        <m:ctrlPr>
                          <a:rPr lang="en-US" altLang="zh-CN" i="1">
                            <a:latin typeface="Cambria Math" panose="02040503050406030204" charset="0"/>
                            <a:ea typeface="仿宋" panose="02010609060101010101" charset="-122"/>
                            <a:cs typeface="Cambria Math" panose="02040503050406030204" charset="0"/>
                          </a:rPr>
                        </m:ctrlPr>
                      </m:fPr>
                      <m:num>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𝑇</m:t>
                        </m:r>
                      </m:num>
                      <m:den>
                        <m:r>
                          <a:rPr lang="en-US" altLang="zh-CN" i="1">
                            <a:latin typeface="Cambria Math" panose="02040503050406030204" charset="0"/>
                            <a:ea typeface="仿宋" panose="02010609060101010101" charset="-122"/>
                            <a:cs typeface="Cambria Math" panose="02040503050406030204" charset="0"/>
                          </a:rPr>
                          <m:t>𝑑</m:t>
                        </m:r>
                      </m:den>
                    </m:f>
                  </m:oMath>
                </a14:m>
                <a:r>
                  <a:rPr lang="en-US" altLang="zh-CN">
                    <a:latin typeface="仿宋" panose="02010609060101010101" charset="-122"/>
                    <a:ea typeface="仿宋" panose="02010609060101010101" charset="-122"/>
                    <a:cs typeface="仿宋" panose="02010609060101010101" charset="-122"/>
                  </a:rPr>
                  <a:t>（2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a:p>
                <a:pPr>
                  <a:lnSpc>
                    <a:spcPct val="140000"/>
                  </a:lnSpc>
                </a:pPr>
                <a:r>
                  <a:rPr lang="zh-CN" altLang="en-US">
                    <a:latin typeface="仿宋" panose="02010609060101010101" charset="-122"/>
                    <a:ea typeface="仿宋" panose="02010609060101010101" charset="-122"/>
                    <a:cs typeface="仿宋" panose="02010609060101010101" charset="-122"/>
                  </a:rPr>
                  <a:t>记双层玻璃窗传导的热量</a:t>
                </a:r>
                <a:r>
                  <a:rPr lang="en-US" altLang="zh-CN">
                    <a:latin typeface="仿宋" panose="02010609060101010101" charset="-122"/>
                    <a:ea typeface="仿宋" panose="02010609060101010101" charset="-122"/>
                    <a:cs typeface="仿宋" panose="02010609060101010101" charset="-122"/>
                  </a:rPr>
                  <a:t> </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𝑄</m:t>
                    </m:r>
                    <m:r>
                      <a:rPr lang="en-US" altLang="zh-CN" i="1">
                        <a:latin typeface="Cambria Math" panose="02040503050406030204" charset="0"/>
                        <a:ea typeface="MS Mincho" charset="0"/>
                        <a:cs typeface="Cambria Math" panose="02040503050406030204" charset="0"/>
                      </a:rPr>
                      <m:t>1</m:t>
                    </m:r>
                  </m:oMath>
                </a14:m>
                <a:r>
                  <a:rPr lang="en-US" altLang="zh-CN">
                    <a:latin typeface="仿宋" panose="02010609060101010101" charset="-122"/>
                    <a:ea typeface="仿宋" panose="02010609060101010101" charset="-122"/>
                    <a:cs typeface="仿宋" panose="02010609060101010101" charset="-122"/>
                  </a:rPr>
                  <a:t>​；</a:t>
                </a:r>
                <a:endParaRPr lang="en-US" altLang="zh-CN">
                  <a:latin typeface="仿宋" panose="02010609060101010101" charset="-122"/>
                  <a:ea typeface="仿宋" panose="02010609060101010101" charset="-122"/>
                  <a:cs typeface="仿宋" panose="02010609060101010101" charset="-122"/>
                </a:endParaRPr>
              </a:p>
              <a:p>
                <a:pPr>
                  <a:lnSpc>
                    <a:spcPct val="140000"/>
                  </a:lnSpc>
                </a:pPr>
                <a:r>
                  <a:rPr lang="en-US" altLang="zh-CN">
                    <a:latin typeface="仿宋" panose="02010609060101010101" charset="-122"/>
                    <a:ea typeface="仿宋" panose="02010609060101010101" charset="-122"/>
                    <a:cs typeface="仿宋" panose="02010609060101010101" charset="-122"/>
                  </a:rPr>
                  <a:t>Ta​~ </a:t>
                </a:r>
                <a:r>
                  <a:rPr lang="zh-CN" altLang="en-US">
                    <a:latin typeface="仿宋" panose="02010609060101010101" charset="-122"/>
                    <a:ea typeface="仿宋" panose="02010609060101010101" charset="-122"/>
                    <a:cs typeface="仿宋" panose="02010609060101010101" charset="-122"/>
                  </a:rPr>
                  <a:t>内层玻璃的外侧温度；</a:t>
                </a:r>
                <a:r>
                  <a:rPr lang="en-US" altLang="zh-CN">
                    <a:latin typeface="仿宋" panose="02010609060101010101" charset="-122"/>
                    <a:ea typeface="仿宋" panose="02010609060101010101" charset="-122"/>
                    <a:cs typeface="仿宋" panose="02010609060101010101" charset="-122"/>
                  </a:rPr>
                  <a:t>Tb​~ </a:t>
                </a:r>
                <a:r>
                  <a:rPr lang="zh-CN" altLang="en-US">
                    <a:latin typeface="仿宋" panose="02010609060101010101" charset="-122"/>
                    <a:ea typeface="仿宋" panose="02010609060101010101" charset="-122"/>
                    <a:cs typeface="仿宋" panose="02010609060101010101" charset="-122"/>
                  </a:rPr>
                  <a:t>外层玻璃的内侧温度</a:t>
                </a:r>
                <a:endParaRPr lang="zh-CN" altLang="en-US">
                  <a:latin typeface="仿宋" panose="02010609060101010101" charset="-122"/>
                  <a:ea typeface="仿宋" panose="02010609060101010101" charset="-122"/>
                  <a:cs typeface="仿宋" panose="02010609060101010101" charset="-122"/>
                </a:endParaRPr>
              </a:p>
              <a:p>
                <a:pPr>
                  <a:lnSpc>
                    <a:spcPct val="140000"/>
                  </a:lnSpc>
                </a:pPr>
                <a:r>
                  <a:rPr lang="en-US" altLang="zh-CN">
                    <a:latin typeface="仿宋" panose="02010609060101010101" charset="-122"/>
                    <a:ea typeface="仿宋" panose="02010609060101010101" charset="-122"/>
                    <a:cs typeface="仿宋" panose="02010609060101010101" charset="-122"/>
                  </a:rPr>
                  <a:t>k1​~ </a:t>
                </a:r>
                <a:r>
                  <a:rPr lang="zh-CN" altLang="en-US">
                    <a:latin typeface="仿宋" panose="02010609060101010101" charset="-122"/>
                    <a:ea typeface="仿宋" panose="02010609060101010101" charset="-122"/>
                    <a:cs typeface="仿宋" panose="02010609060101010101" charset="-122"/>
                  </a:rPr>
                  <a:t>玻璃的热传导系数；</a:t>
                </a:r>
                <a:r>
                  <a:rPr lang="en-US" altLang="zh-CN">
                    <a:latin typeface="仿宋" panose="02010609060101010101" charset="-122"/>
                    <a:ea typeface="仿宋" panose="02010609060101010101" charset="-122"/>
                    <a:cs typeface="仿宋" panose="02010609060101010101" charset="-122"/>
                  </a:rPr>
                  <a:t>k2​~ </a:t>
                </a:r>
                <a:r>
                  <a:rPr lang="zh-CN" altLang="en-US">
                    <a:latin typeface="仿宋" panose="02010609060101010101" charset="-122"/>
                    <a:ea typeface="仿宋" panose="02010609060101010101" charset="-122"/>
                    <a:cs typeface="仿宋" panose="02010609060101010101" charset="-122"/>
                  </a:rPr>
                  <a:t>空气的热传导系数（2 分）</a:t>
                </a:r>
                <a:endParaRPr lang="zh-CN" altLang="en-US">
                  <a:latin typeface="仿宋" panose="02010609060101010101" charset="-122"/>
                  <a:ea typeface="仿宋" panose="02010609060101010101" charset="-122"/>
                  <a:cs typeface="仿宋" panose="02010609060101010101" charset="-122"/>
                </a:endParaRPr>
              </a:p>
              <a:p>
                <a:pPr>
                  <a:lnSpc>
                    <a:spcPct val="140000"/>
                  </a:lnSpc>
                </a:pPr>
                <a:r>
                  <a:rPr lang="zh-CN" altLang="en-US">
                    <a:latin typeface="仿宋" panose="02010609060101010101" charset="-122"/>
                    <a:ea typeface="仿宋" panose="02010609060101010101" charset="-122"/>
                    <a:cs typeface="仿宋" panose="02010609060101010101" charset="-122"/>
                  </a:rPr>
                  <a:t>依据热传导定律可得 </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𝑄</m:t>
                        </m:r>
                      </m:e>
                      <m:sub>
                        <m:r>
                          <a:rPr lang="en-US" altLang="zh-CN" i="1">
                            <a:latin typeface="Cambria Math" panose="02040503050406030204" charset="0"/>
                            <a:ea typeface="MS Mincho" charset="0"/>
                            <a:cs typeface="Cambria Math" panose="02040503050406030204" charset="0"/>
                          </a:rPr>
                          <m:t>1</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𝑘</m:t>
                        </m:r>
                      </m:e>
                      <m:sub>
                        <m:r>
                          <a:rPr lang="en-US" altLang="zh-CN" i="1">
                            <a:latin typeface="Cambria Math" panose="02040503050406030204" charset="0"/>
                            <a:ea typeface="MS Mincho" charset="0"/>
                            <a:cs typeface="Cambria Math" panose="02040503050406030204" charset="0"/>
                          </a:rPr>
                          <m:t>1</m:t>
                        </m:r>
                      </m:sub>
                    </m:sSub>
                    <m:f>
                      <m:fPr>
                        <m:ctrlPr>
                          <a:rPr lang="en-US" altLang="zh-CN" i="1">
                            <a:latin typeface="Cambria Math" panose="02040503050406030204" charset="0"/>
                            <a:ea typeface="仿宋" panose="02010609060101010101" charset="-122"/>
                            <a:cs typeface="Cambria Math" panose="02040503050406030204" charset="0"/>
                          </a:rPr>
                        </m:ctrlPr>
                      </m:fPr>
                      <m:num>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𝑇</m:t>
                            </m:r>
                          </m:e>
                          <m:sub>
                            <m:r>
                              <a:rPr lang="en-US" altLang="zh-CN" i="1">
                                <a:latin typeface="Cambria Math" panose="02040503050406030204" charset="0"/>
                                <a:ea typeface="MS Mincho" charset="0"/>
                                <a:cs typeface="Cambria Math" panose="02040503050406030204" charset="0"/>
                              </a:rPr>
                              <m:t>1</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𝑇</m:t>
                            </m:r>
                          </m:e>
                          <m:sub>
                            <m:r>
                              <a:rPr lang="en-US" altLang="zh-CN" i="1">
                                <a:latin typeface="Cambria Math" panose="02040503050406030204" charset="0"/>
                                <a:ea typeface="仿宋" panose="02010609060101010101" charset="-122"/>
                                <a:cs typeface="Cambria Math" panose="02040503050406030204" charset="0"/>
                              </a:rPr>
                              <m:t>𝑎</m:t>
                            </m:r>
                          </m:sub>
                        </m:sSub>
                      </m:num>
                      <m:den>
                        <m:r>
                          <a:rPr lang="en-US" altLang="zh-CN" i="1">
                            <a:latin typeface="Cambria Math" panose="02040503050406030204" charset="0"/>
                            <a:ea typeface="仿宋" panose="02010609060101010101" charset="-122"/>
                            <a:cs typeface="Cambria Math" panose="02040503050406030204" charset="0"/>
                          </a:rPr>
                          <m:t>𝑑</m:t>
                        </m:r>
                      </m:den>
                    </m:f>
                    <m:r>
                      <a:rPr lang="en-US" altLang="zh-CN" i="1">
                        <a:latin typeface="Cambria Math" panose="02040503050406030204" charset="0"/>
                        <a:ea typeface="MS Mincho" charset="0"/>
                        <a:cs typeface="Cambria Math" panose="02040503050406030204" charset="0"/>
                      </a:rPr>
                      <m:t> = </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𝑘</m:t>
                        </m:r>
                      </m:e>
                      <m:sub>
                        <m:r>
                          <a:rPr lang="en-US" altLang="zh-CN" i="1">
                            <a:latin typeface="Cambria Math" panose="02040503050406030204" charset="0"/>
                            <a:ea typeface="MS Mincho" charset="0"/>
                            <a:cs typeface="Cambria Math" panose="02040503050406030204" charset="0"/>
                          </a:rPr>
                          <m:t>2</m:t>
                        </m:r>
                      </m:sub>
                    </m:sSub>
                    <m:f>
                      <m:fPr>
                        <m:ctrlPr>
                          <a:rPr lang="en-US" altLang="zh-CN" i="1">
                            <a:latin typeface="Cambria Math" panose="02040503050406030204" charset="0"/>
                            <a:ea typeface="仿宋" panose="02010609060101010101" charset="-122"/>
                            <a:cs typeface="Cambria Math" panose="02040503050406030204" charset="0"/>
                          </a:rPr>
                        </m:ctrlPr>
                      </m:fPr>
                      <m:num>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𝑇</m:t>
                            </m:r>
                          </m:e>
                          <m:sub>
                            <m:r>
                              <a:rPr lang="en-US" altLang="zh-CN" i="1">
                                <a:latin typeface="Cambria Math" panose="02040503050406030204" charset="0"/>
                                <a:ea typeface="仿宋" panose="02010609060101010101" charset="-122"/>
                                <a:cs typeface="Cambria Math" panose="02040503050406030204" charset="0"/>
                              </a:rPr>
                              <m:t>𝑎</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𝑇</m:t>
                            </m:r>
                          </m:e>
                          <m:sub>
                            <m:r>
                              <a:rPr lang="en-US" altLang="zh-CN" i="1">
                                <a:latin typeface="Cambria Math" panose="02040503050406030204" charset="0"/>
                                <a:ea typeface="仿宋" panose="02010609060101010101" charset="-122"/>
                                <a:cs typeface="Cambria Math" panose="02040503050406030204" charset="0"/>
                              </a:rPr>
                              <m:t>𝑏</m:t>
                            </m:r>
                          </m:sub>
                        </m:sSub>
                      </m:num>
                      <m:den>
                        <m:r>
                          <a:rPr lang="en-US" altLang="zh-CN" i="1">
                            <a:latin typeface="Cambria Math" panose="02040503050406030204" charset="0"/>
                            <a:ea typeface="仿宋" panose="02010609060101010101" charset="-122"/>
                            <a:cs typeface="Cambria Math" panose="02040503050406030204" charset="0"/>
                          </a:rPr>
                          <m:t>𝑙</m:t>
                        </m:r>
                      </m:den>
                    </m:f>
                    <m:r>
                      <a:rPr lang="en-US" altLang="zh-CN" i="1">
                        <a:latin typeface="Cambria Math" panose="02040503050406030204" charset="0"/>
                        <a:ea typeface="MS Mincho" charset="0"/>
                        <a:cs typeface="Cambria Math" panose="02040503050406030204" charset="0"/>
                      </a:rPr>
                      <m:t> = </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𝑘</m:t>
                        </m:r>
                      </m:e>
                      <m:sub>
                        <m:r>
                          <a:rPr lang="en-US" altLang="zh-CN" i="1">
                            <a:latin typeface="Cambria Math" panose="02040503050406030204" charset="0"/>
                            <a:ea typeface="MS Mincho" charset="0"/>
                            <a:cs typeface="Cambria Math" panose="02040503050406030204" charset="0"/>
                          </a:rPr>
                          <m:t>1</m:t>
                        </m:r>
                      </m:sub>
                    </m:sSub>
                    <m:f>
                      <m:fPr>
                        <m:ctrlPr>
                          <a:rPr lang="en-US" altLang="zh-CN" i="1">
                            <a:latin typeface="Cambria Math" panose="02040503050406030204" charset="0"/>
                            <a:ea typeface="仿宋" panose="02010609060101010101" charset="-122"/>
                            <a:cs typeface="Cambria Math" panose="02040503050406030204" charset="0"/>
                          </a:rPr>
                        </m:ctrlPr>
                      </m:fPr>
                      <m:num>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𝑇</m:t>
                            </m:r>
                          </m:e>
                          <m:sub>
                            <m:r>
                              <a:rPr lang="en-US" altLang="zh-CN" i="1">
                                <a:latin typeface="Cambria Math" panose="02040503050406030204" charset="0"/>
                                <a:ea typeface="仿宋" panose="02010609060101010101" charset="-122"/>
                                <a:cs typeface="Cambria Math" panose="02040503050406030204" charset="0"/>
                              </a:rPr>
                              <m:t>𝑏</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𝑇</m:t>
                            </m:r>
                          </m:e>
                          <m:sub>
                            <m:r>
                              <a:rPr lang="en-US" altLang="zh-CN" i="1">
                                <a:latin typeface="Cambria Math" panose="02040503050406030204" charset="0"/>
                                <a:ea typeface="MS Mincho" charset="0"/>
                                <a:cs typeface="Cambria Math" panose="02040503050406030204" charset="0"/>
                              </a:rPr>
                              <m:t>2</m:t>
                            </m:r>
                          </m:sub>
                        </m:sSub>
                      </m:num>
                      <m:den>
                        <m:r>
                          <a:rPr lang="en-US" altLang="zh-CN" i="1">
                            <a:latin typeface="Cambria Math" panose="02040503050406030204" charset="0"/>
                            <a:ea typeface="仿宋" panose="02010609060101010101" charset="-122"/>
                            <a:cs typeface="Cambria Math" panose="02040503050406030204" charset="0"/>
                          </a:rPr>
                          <m:t>𝑑</m:t>
                        </m:r>
                      </m:den>
                    </m:f>
                  </m:oMath>
                </a14:m>
                <a:r>
                  <a:rPr lang="en-US" altLang="zh-CN">
                    <a:latin typeface="仿宋" panose="02010609060101010101" charset="-122"/>
                    <a:ea typeface="仿宋" panose="02010609060101010101" charset="-122"/>
                    <a:cs typeface="仿宋" panose="02010609060101010101" charset="-122"/>
                  </a:rPr>
                  <a:t>​​，（3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a:p>
                <a:pPr>
                  <a:lnSpc>
                    <a:spcPct val="140000"/>
                  </a:lnSpc>
                </a:pPr>
                <a:r>
                  <a:rPr lang="zh-CN" altLang="en-US">
                    <a:latin typeface="仿宋" panose="02010609060101010101" charset="-122"/>
                    <a:ea typeface="仿宋" panose="02010609060101010101" charset="-122"/>
                    <a:cs typeface="仿宋" panose="02010609060101010101" charset="-122"/>
                  </a:rPr>
                  <a:t>求解得到 </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𝑄</m:t>
                        </m:r>
                      </m:e>
                      <m:sub>
                        <m:r>
                          <a:rPr lang="en-US" altLang="zh-CN" i="1">
                            <a:latin typeface="Cambria Math" panose="02040503050406030204" charset="0"/>
                            <a:ea typeface="MS Mincho" charset="0"/>
                            <a:cs typeface="Cambria Math" panose="02040503050406030204" charset="0"/>
                          </a:rPr>
                          <m:t>1</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𝑘</m:t>
                        </m:r>
                      </m:e>
                      <m:sub>
                        <m:r>
                          <a:rPr lang="en-US" altLang="zh-CN" i="1">
                            <a:latin typeface="Cambria Math" panose="02040503050406030204" charset="0"/>
                            <a:ea typeface="MS Mincho" charset="0"/>
                            <a:cs typeface="Cambria Math" panose="02040503050406030204" charset="0"/>
                          </a:rPr>
                          <m:t>1</m:t>
                        </m:r>
                      </m:sub>
                    </m:sSub>
                    <m:f>
                      <m:fPr>
                        <m:ctrlPr>
                          <a:rPr lang="en-US" altLang="zh-CN" i="1">
                            <a:latin typeface="Cambria Math" panose="02040503050406030204" charset="0"/>
                            <a:ea typeface="仿宋" panose="02010609060101010101" charset="-122"/>
                            <a:cs typeface="Cambria Math" panose="02040503050406030204" charset="0"/>
                          </a:rPr>
                        </m:ctrlPr>
                      </m:fPr>
                      <m:num>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𝑇</m:t>
                            </m:r>
                          </m:e>
                          <m:sub>
                            <m:r>
                              <a:rPr lang="en-US" altLang="zh-CN" i="1">
                                <a:latin typeface="Cambria Math" panose="02040503050406030204" charset="0"/>
                                <a:ea typeface="MS Mincho" charset="0"/>
                                <a:cs typeface="Cambria Math" panose="02040503050406030204" charset="0"/>
                              </a:rPr>
                              <m:t>1</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𝑇</m:t>
                            </m:r>
                          </m:e>
                          <m:sub>
                            <m:r>
                              <a:rPr lang="en-US" altLang="zh-CN" i="1">
                                <a:latin typeface="Cambria Math" panose="02040503050406030204" charset="0"/>
                                <a:ea typeface="MS Mincho" charset="0"/>
                                <a:cs typeface="Cambria Math" panose="02040503050406030204" charset="0"/>
                              </a:rPr>
                              <m:t>2</m:t>
                            </m:r>
                          </m:sub>
                        </m:sSub>
                      </m:num>
                      <m:den>
                        <m:r>
                          <a:rPr lang="en-US" altLang="zh-CN" i="1">
                            <a:latin typeface="Cambria Math" panose="02040503050406030204" charset="0"/>
                            <a:ea typeface="仿宋" panose="02010609060101010101" charset="-122"/>
                            <a:cs typeface="Cambria Math" panose="02040503050406030204" charset="0"/>
                          </a:rPr>
                          <m:t>𝑑</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𝑠</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2</m:t>
                        </m:r>
                        <m:r>
                          <a:rPr lang="en-US" altLang="zh-CN" i="1">
                            <a:latin typeface="Cambria Math" panose="02040503050406030204" charset="0"/>
                            <a:ea typeface="MS Mincho" charset="0"/>
                            <a:cs typeface="Cambria Math" panose="02040503050406030204" charset="0"/>
                          </a:rPr>
                          <m:t>)</m:t>
                        </m:r>
                      </m:den>
                    </m:f>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其中 </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𝑠</m:t>
                    </m:r>
                    <m:r>
                      <a:rPr lang="en-US" altLang="zh-CN" i="1">
                        <a:latin typeface="Cambria Math" panose="02040503050406030204" charset="0"/>
                        <a:ea typeface="MS Mincho" charset="0"/>
                        <a:cs typeface="Cambria Math" panose="02040503050406030204" charset="0"/>
                      </a:rPr>
                      <m:t>=</m:t>
                    </m:r>
                    <m:f>
                      <m:fPr>
                        <m:ctrlPr>
                          <a:rPr lang="en-US" altLang="zh-CN" i="1">
                            <a:latin typeface="Cambria Math" panose="02040503050406030204" charset="0"/>
                            <a:ea typeface="仿宋" panose="02010609060101010101" charset="-122"/>
                            <a:cs typeface="Cambria Math" panose="02040503050406030204" charset="0"/>
                          </a:rPr>
                        </m:ctrlPr>
                      </m:fPr>
                      <m:num>
                        <m:r>
                          <a:rPr lang="en-US" altLang="zh-CN" i="1">
                            <a:latin typeface="Cambria Math" panose="02040503050406030204" charset="0"/>
                            <a:ea typeface="仿宋" panose="02010609060101010101" charset="-122"/>
                            <a:cs typeface="Cambria Math" panose="02040503050406030204" charset="0"/>
                          </a:rPr>
                          <m:t>𝑙</m:t>
                        </m:r>
                      </m:num>
                      <m:den>
                        <m:r>
                          <a:rPr lang="en-US" altLang="zh-CN" i="1">
                            <a:latin typeface="Cambria Math" panose="02040503050406030204" charset="0"/>
                            <a:ea typeface="仿宋" panose="02010609060101010101" charset="-122"/>
                            <a:cs typeface="Cambria Math" panose="02040503050406030204" charset="0"/>
                          </a:rPr>
                          <m:t>𝑑</m:t>
                        </m:r>
                      </m:den>
                    </m:f>
                    <m:f>
                      <m:fPr>
                        <m:ctrlPr>
                          <a:rPr lang="en-US" altLang="zh-CN" i="1">
                            <a:latin typeface="Cambria Math" panose="02040503050406030204" charset="0"/>
                            <a:ea typeface="仿宋" panose="02010609060101010101" charset="-122"/>
                            <a:cs typeface="Cambria Math" panose="02040503050406030204" charset="0"/>
                          </a:rPr>
                        </m:ctrlPr>
                      </m:fPr>
                      <m:num>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𝑘</m:t>
                            </m:r>
                          </m:e>
                          <m:sub>
                            <m:r>
                              <a:rPr lang="en-US" altLang="zh-CN" i="1">
                                <a:latin typeface="Cambria Math" panose="02040503050406030204" charset="0"/>
                                <a:ea typeface="MS Mincho" charset="0"/>
                                <a:cs typeface="Cambria Math" panose="02040503050406030204" charset="0"/>
                              </a:rPr>
                              <m:t>1</m:t>
                            </m:r>
                          </m:sub>
                        </m:sSub>
                      </m:num>
                      <m:den>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𝑘</m:t>
                            </m:r>
                          </m:e>
                          <m:sub>
                            <m:r>
                              <a:rPr lang="en-US" altLang="zh-CN" i="1">
                                <a:latin typeface="Cambria Math" panose="02040503050406030204" charset="0"/>
                                <a:ea typeface="MS Mincho" charset="0"/>
                                <a:cs typeface="Cambria Math" panose="02040503050406030204" charset="0"/>
                              </a:rPr>
                              <m:t>2</m:t>
                            </m:r>
                          </m:sub>
                        </m:sSub>
                      </m:den>
                    </m:f>
                  </m:oMath>
                </a14:m>
                <a:r>
                  <a:rPr lang="en-US" altLang="zh-CN">
                    <a:latin typeface="仿宋" panose="02010609060101010101" charset="-122"/>
                    <a:ea typeface="仿宋" panose="02010609060101010101" charset="-122"/>
                    <a:cs typeface="仿宋" panose="02010609060101010101" charset="-122"/>
                  </a:rPr>
                  <a:t>​​；（2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a:p>
                <a:pPr>
                  <a:lnSpc>
                    <a:spcPct val="140000"/>
                  </a:lnSpc>
                </a:pPr>
                <a:r>
                  <a:rPr lang="zh-CN" altLang="en-US">
                    <a:latin typeface="仿宋" panose="02010609060101010101" charset="-122"/>
                    <a:ea typeface="仿宋" panose="02010609060101010101" charset="-122"/>
                    <a:cs typeface="仿宋" panose="02010609060101010101" charset="-122"/>
                  </a:rPr>
                  <a:t>记单层玻璃窗传导的热量</a:t>
                </a:r>
                <a:r>
                  <a:rPr lang="en-US" altLang="zh-CN">
                    <a:latin typeface="仿宋" panose="02010609060101010101" charset="-122"/>
                    <a:ea typeface="仿宋" panose="02010609060101010101" charset="-122"/>
                    <a:cs typeface="仿宋" panose="02010609060101010101" charset="-122"/>
                  </a:rPr>
                  <a:t>Q2​；</a:t>
                </a:r>
                <a:endParaRPr lang="en-US" altLang="zh-CN">
                  <a:latin typeface="仿宋" panose="02010609060101010101" charset="-122"/>
                  <a:ea typeface="仿宋" panose="02010609060101010101" charset="-122"/>
                  <a:cs typeface="仿宋" panose="02010609060101010101" charset="-122"/>
                </a:endParaRPr>
              </a:p>
              <a:p>
                <a:pPr>
                  <a:lnSpc>
                    <a:spcPct val="140000"/>
                  </a:lnSpc>
                </a:pP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𝑄</m:t>
                        </m:r>
                      </m:e>
                      <m:sub>
                        <m:r>
                          <a:rPr lang="en-US" altLang="zh-CN" i="1">
                            <a:latin typeface="Cambria Math" panose="02040503050406030204" charset="0"/>
                            <a:ea typeface="MS Mincho" charset="0"/>
                            <a:cs typeface="Cambria Math" panose="02040503050406030204" charset="0"/>
                          </a:rPr>
                          <m:t>2</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𝑘</m:t>
                        </m:r>
                      </m:e>
                      <m:sub>
                        <m:r>
                          <a:rPr lang="en-US" altLang="zh-CN" i="1">
                            <a:latin typeface="Cambria Math" panose="02040503050406030204" charset="0"/>
                            <a:ea typeface="MS Mincho" charset="0"/>
                            <a:cs typeface="Cambria Math" panose="02040503050406030204" charset="0"/>
                          </a:rPr>
                          <m:t>1</m:t>
                        </m:r>
                      </m:sub>
                    </m:sSub>
                    <m:f>
                      <m:fPr>
                        <m:ctrlPr>
                          <a:rPr lang="en-US" altLang="zh-CN" i="1">
                            <a:latin typeface="Cambria Math" panose="02040503050406030204" charset="0"/>
                            <a:ea typeface="仿宋" panose="02010609060101010101" charset="-122"/>
                            <a:cs typeface="Cambria Math" panose="02040503050406030204" charset="0"/>
                          </a:rPr>
                        </m:ctrlPr>
                      </m:fPr>
                      <m:num>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𝑇</m:t>
                            </m:r>
                          </m:e>
                          <m:sub>
                            <m:r>
                              <a:rPr lang="en-US" altLang="zh-CN" i="1">
                                <a:latin typeface="Cambria Math" panose="02040503050406030204" charset="0"/>
                                <a:ea typeface="MS Mincho" charset="0"/>
                                <a:cs typeface="Cambria Math" panose="02040503050406030204" charset="0"/>
                              </a:rPr>
                              <m:t>1</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𝑇</m:t>
                            </m:r>
                          </m:e>
                          <m:sub>
                            <m:r>
                              <a:rPr lang="en-US" altLang="zh-CN" i="1">
                                <a:latin typeface="Cambria Math" panose="02040503050406030204" charset="0"/>
                                <a:ea typeface="MS Mincho" charset="0"/>
                                <a:cs typeface="Cambria Math" panose="02040503050406030204" charset="0"/>
                              </a:rPr>
                              <m:t>2</m:t>
                            </m:r>
                          </m:sub>
                        </m:sSub>
                      </m:num>
                      <m:den>
                        <m:r>
                          <a:rPr lang="en-US" altLang="zh-CN" i="1">
                            <a:latin typeface="Cambria Math" panose="02040503050406030204" charset="0"/>
                            <a:ea typeface="MS Mincho" charset="0"/>
                            <a:cs typeface="Cambria Math" panose="02040503050406030204" charset="0"/>
                          </a:rPr>
                          <m:t>2</m:t>
                        </m:r>
                        <m:r>
                          <a:rPr lang="en-US" altLang="zh-CN" i="1">
                            <a:latin typeface="Cambria Math" panose="02040503050406030204" charset="0"/>
                            <a:ea typeface="仿宋" panose="02010609060101010101" charset="-122"/>
                            <a:cs typeface="Cambria Math" panose="02040503050406030204" charset="0"/>
                          </a:rPr>
                          <m:t>𝑑</m:t>
                        </m:r>
                      </m:den>
                    </m:f>
                  </m:oMath>
                </a14:m>
                <a:r>
                  <a:rPr lang="en-US" altLang="zh-CN">
                    <a:latin typeface="仿宋" panose="02010609060101010101" charset="-122"/>
                    <a:ea typeface="仿宋" panose="02010609060101010101" charset="-122"/>
                    <a:cs typeface="仿宋" panose="02010609060101010101" charset="-122"/>
                  </a:rPr>
                  <a:t>​​（3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a:p>
                <a:pPr>
                  <a:lnSpc>
                    <a:spcPct val="140000"/>
                  </a:lnSpc>
                </a:pPr>
                <a:r>
                  <a:rPr lang="zh-CN" altLang="en-US">
                    <a:latin typeface="仿宋" panose="02010609060101010101" charset="-122"/>
                    <a:ea typeface="仿宋" panose="02010609060101010101" charset="-122"/>
                    <a:cs typeface="仿宋" panose="02010609060101010101" charset="-122"/>
                  </a:rPr>
                  <a:t>将上述参数代入</a:t>
                </a:r>
                <a:r>
                  <a:rPr lang="en-US" altLang="zh-CN">
                    <a:latin typeface="仿宋" panose="02010609060101010101" charset="-122"/>
                    <a:ea typeface="仿宋" panose="02010609060101010101" charset="-122"/>
                    <a:cs typeface="仿宋" panose="02010609060101010101" charset="-122"/>
                  </a:rPr>
                  <a:t>Q1​</a:t>
                </a:r>
                <a:r>
                  <a:rPr lang="zh-CN" altLang="en-US">
                    <a:latin typeface="仿宋" panose="02010609060101010101" charset="-122"/>
                    <a:ea typeface="仿宋" panose="02010609060101010101" charset="-122"/>
                    <a:cs typeface="仿宋" panose="02010609060101010101" charset="-122"/>
                  </a:rPr>
                  <a:t>和</a:t>
                </a:r>
                <a:r>
                  <a:rPr lang="en-US" altLang="zh-CN">
                    <a:latin typeface="仿宋" panose="02010609060101010101" charset="-122"/>
                    <a:ea typeface="仿宋" panose="02010609060101010101" charset="-122"/>
                    <a:cs typeface="仿宋" panose="02010609060101010101" charset="-122"/>
                  </a:rPr>
                  <a:t>Q2​</a:t>
                </a:r>
                <a:r>
                  <a:rPr lang="zh-CN" altLang="en-US">
                    <a:latin typeface="仿宋" panose="02010609060101010101" charset="-122"/>
                    <a:ea typeface="仿宋" panose="02010609060101010101" charset="-122"/>
                    <a:cs typeface="仿宋" panose="02010609060101010101" charset="-122"/>
                  </a:rPr>
                  <a:t>并计算其比值</a:t>
                </a:r>
                <a:r>
                  <a:rPr lang="en-US" altLang="zh-CN">
                    <a:latin typeface="仿宋" panose="02010609060101010101" charset="-122"/>
                    <a:ea typeface="仿宋" panose="02010609060101010101" charset="-122"/>
                    <a:cs typeface="仿宋" panose="02010609060101010101" charset="-122"/>
                  </a:rPr>
                  <a:t>Q1​/Q2​</a:t>
                </a:r>
                <a:r>
                  <a:rPr lang="zh-CN" altLang="en-US">
                    <a:latin typeface="仿宋" panose="02010609060101010101" charset="-122"/>
                    <a:ea typeface="仿宋" panose="02010609060101010101" charset="-122"/>
                    <a:cs typeface="仿宋" panose="02010609060101010101" charset="-122"/>
                  </a:rPr>
                  <a:t>即可得散发热量比值为2/(</a:t>
                </a:r>
                <a:r>
                  <a:rPr lang="en-US" altLang="zh-CN">
                    <a:latin typeface="仿宋" panose="02010609060101010101" charset="-122"/>
                    <a:ea typeface="仿宋" panose="02010609060101010101" charset="-122"/>
                    <a:cs typeface="仿宋" panose="02010609060101010101" charset="-122"/>
                  </a:rPr>
                  <a:t>s+2)=1/41。（3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948690" y="1167130"/>
                <a:ext cx="10127615" cy="4911725"/>
              </a:xfrm>
              <a:prstGeom prst="rect">
                <a:avLst/>
              </a:prstGeom>
              <a:blipFill rotWithShape="1">
                <a:blip r:embed="rId1"/>
                <a:stretch>
                  <a:fillRect/>
                </a:stretch>
              </a:blipFill>
            </p:spPr>
            <p:txBody>
              <a:bodyPr/>
              <a:lstStyle/>
              <a:p>
                <a:r>
                  <a:rPr lang="zh-CN" altLang="en-US">
                    <a:noFill/>
                  </a:rPr>
                  <a:t> </a:t>
                </a:r>
              </a:p>
            </p:txBody>
          </p:sp>
        </mc:Fallback>
      </mc:AlternateContent>
      <p:pic>
        <p:nvPicPr>
          <p:cNvPr id="3" name="图片 2"/>
          <p:cNvPicPr>
            <a:picLocks noChangeAspect="1"/>
          </p:cNvPicPr>
          <p:nvPr/>
        </p:nvPicPr>
        <p:blipFill>
          <a:blip r:embed="rId2"/>
          <a:stretch>
            <a:fillRect/>
          </a:stretch>
        </p:blipFill>
        <p:spPr>
          <a:xfrm>
            <a:off x="8418195" y="1167130"/>
            <a:ext cx="2658110" cy="2691765"/>
          </a:xfrm>
          <a:prstGeom prst="rect">
            <a:avLst/>
          </a:prstGeom>
        </p:spPr>
      </p:pic>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91920" y="1047115"/>
            <a:ext cx="4064000" cy="460375"/>
          </a:xfrm>
          <a:prstGeom prst="rect">
            <a:avLst/>
          </a:prstGeom>
          <a:noFill/>
        </p:spPr>
        <p:txBody>
          <a:bodyPr wrap="square" rtlCol="0">
            <a:spAutoFit/>
          </a:bodyPr>
          <a:p>
            <a:r>
              <a:rPr lang="zh-CN" altLang="en-US" sz="2400"/>
              <a:t>实物交换</a:t>
            </a:r>
            <a:endParaRPr lang="zh-CN" altLang="en-US" sz="2400"/>
          </a:p>
        </p:txBody>
      </p:sp>
      <p:sp>
        <p:nvSpPr>
          <p:cNvPr id="3" name="文本框 2"/>
          <p:cNvSpPr txBox="1"/>
          <p:nvPr/>
        </p:nvSpPr>
        <p:spPr>
          <a:xfrm>
            <a:off x="1391920" y="2602230"/>
            <a:ext cx="4064000" cy="368300"/>
          </a:xfrm>
          <a:prstGeom prst="rect">
            <a:avLst/>
          </a:prstGeom>
          <a:noFill/>
        </p:spPr>
        <p:txBody>
          <a:bodyPr wrap="square" rtlCol="0">
            <a:spAutoFit/>
          </a:bodyPr>
          <a:p>
            <a:r>
              <a:rPr lang="zh-CN" altLang="en-US"/>
              <a:t>教材</a:t>
            </a:r>
            <a:r>
              <a:rPr lang="en-US" altLang="zh-CN"/>
              <a:t>p23</a:t>
            </a:r>
            <a:r>
              <a:rPr lang="zh-CN" altLang="en-US"/>
              <a:t>、</a:t>
            </a:r>
            <a:r>
              <a:rPr lang="en-US" altLang="zh-CN"/>
              <a:t>24</a:t>
            </a:r>
            <a:endParaRPr lang="en-US" altLang="zh-CN"/>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12165" y="2021205"/>
            <a:ext cx="10731500" cy="3870325"/>
          </a:xfrm>
          <a:prstGeom prst="rect">
            <a:avLst/>
          </a:prstGeom>
          <a:noFill/>
        </p:spPr>
        <p:txBody>
          <a:bodyPr wrap="square" rtlCol="0">
            <a:noAutofit/>
          </a:bodyPr>
          <a:p>
            <a:pPr>
              <a:lnSpc>
                <a:spcPct val="200000"/>
              </a:lnSpc>
            </a:pPr>
            <a:r>
              <a:rPr lang="zh-CN" altLang="en-US">
                <a:latin typeface="仿宋" panose="02010609060101010101" charset="-122"/>
                <a:ea typeface="仿宋" panose="02010609060101010101" charset="-122"/>
                <a:cs typeface="仿宋" panose="02010609060101010101" charset="-122"/>
              </a:rPr>
              <a:t>1、甲乙双方处于一个理智的核威慑平衡，如果甲方将固定核导弹基地改进为可移动发射架，那么甲方的残存率______（选项：变大 / 变小 / 不变），此时甲方的威慑值______（选项：变大 / 变小 / 不变），这最终将会导致双方的核导弹数量______（选项：变大 / 变小 / 不变）。</a:t>
            </a:r>
            <a:endParaRPr lang="zh-CN" altLang="en-US">
              <a:latin typeface="仿宋" panose="02010609060101010101" charset="-122"/>
              <a:ea typeface="仿宋" panose="02010609060101010101" charset="-122"/>
              <a:cs typeface="仿宋" panose="02010609060101010101" charset="-122"/>
            </a:endParaRPr>
          </a:p>
          <a:p>
            <a:pPr>
              <a:lnSpc>
                <a:spcPct val="200000"/>
              </a:lnSpc>
            </a:pPr>
            <a:endParaRPr lang="zh-CN" altLang="en-US">
              <a:latin typeface="仿宋" panose="02010609060101010101" charset="-122"/>
              <a:ea typeface="仿宋" panose="02010609060101010101" charset="-122"/>
              <a:cs typeface="仿宋" panose="02010609060101010101" charset="-122"/>
            </a:endParaRPr>
          </a:p>
          <a:p>
            <a:pPr>
              <a:lnSpc>
                <a:spcPct val="200000"/>
              </a:lnSpc>
            </a:pPr>
            <a:r>
              <a:rPr lang="zh-CN" altLang="en-US">
                <a:latin typeface="仿宋" panose="02010609060101010101" charset="-122"/>
                <a:ea typeface="仿宋" panose="02010609060101010101" charset="-122"/>
                <a:cs typeface="仿宋" panose="02010609060101010101" charset="-122"/>
              </a:rPr>
              <a:t>2、在核威慑模型中，若甲方增加经费保护及疏散工业、交通中心等目标，则乙方的策略是______（填增加或减少）自身核武器数量，最终使双方军备竞赛______（填升级或缓和）。</a:t>
            </a:r>
            <a:endParaRPr lang="zh-CN" altLang="en-US">
              <a:latin typeface="仿宋" panose="02010609060101010101" charset="-122"/>
              <a:ea typeface="仿宋" panose="02010609060101010101" charset="-122"/>
              <a:cs typeface="仿宋" panose="02010609060101010101" charset="-122"/>
            </a:endParaRPr>
          </a:p>
        </p:txBody>
      </p:sp>
      <p:sp>
        <p:nvSpPr>
          <p:cNvPr id="3" name="文本框 2"/>
          <p:cNvSpPr txBox="1"/>
          <p:nvPr/>
        </p:nvSpPr>
        <p:spPr>
          <a:xfrm>
            <a:off x="1003300" y="969645"/>
            <a:ext cx="2604770" cy="460375"/>
          </a:xfrm>
          <a:prstGeom prst="rect">
            <a:avLst/>
          </a:prstGeom>
          <a:noFill/>
        </p:spPr>
        <p:txBody>
          <a:bodyPr wrap="square" rtlCol="0">
            <a:spAutoFit/>
          </a:bodyPr>
          <a:p>
            <a:r>
              <a:rPr lang="zh-CN" altLang="en-US" sz="2400"/>
              <a:t>核军备竞赛</a:t>
            </a:r>
            <a:endParaRPr lang="zh-CN" altLang="en-US" sz="240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49045" y="1386840"/>
            <a:ext cx="7743190" cy="1198880"/>
          </a:xfrm>
          <a:prstGeom prst="rect">
            <a:avLst/>
          </a:prstGeom>
          <a:noFill/>
        </p:spPr>
        <p:txBody>
          <a:bodyPr wrap="square" rtlCol="0">
            <a:spAutoFit/>
          </a:bodyPr>
          <a:p>
            <a:pPr>
              <a:lnSpc>
                <a:spcPct val="200000"/>
              </a:lnSpc>
            </a:pPr>
            <a:r>
              <a:rPr lang="en-US" altLang="zh-CN">
                <a:latin typeface="仿宋" panose="02010609060101010101" charset="-122"/>
                <a:ea typeface="仿宋" panose="02010609060101010101" charset="-122"/>
                <a:cs typeface="仿宋" panose="02010609060101010101" charset="-122"/>
              </a:rPr>
              <a:t>1</a:t>
            </a:r>
            <a:r>
              <a:rPr lang="zh-CN" altLang="en-US">
                <a:latin typeface="仿宋" panose="02010609060101010101" charset="-122"/>
                <a:ea typeface="仿宋" panose="02010609060101010101" charset="-122"/>
                <a:cs typeface="仿宋" panose="02010609060101010101" charset="-122"/>
              </a:rPr>
              <a:t>、变大</a:t>
            </a:r>
            <a:r>
              <a:rPr lang="en-US" altLang="zh-CN">
                <a:latin typeface="仿宋" panose="02010609060101010101" charset="-122"/>
                <a:ea typeface="仿宋" panose="02010609060101010101" charset="-122"/>
                <a:cs typeface="仿宋" panose="02010609060101010101" charset="-122"/>
              </a:rPr>
              <a:t>  </a:t>
            </a:r>
            <a:r>
              <a:rPr lang="zh-CN" altLang="en-US">
                <a:latin typeface="仿宋" panose="02010609060101010101" charset="-122"/>
                <a:ea typeface="仿宋" panose="02010609060101010101" charset="-122"/>
                <a:cs typeface="仿宋" panose="02010609060101010101" charset="-122"/>
              </a:rPr>
              <a:t>不变</a:t>
            </a:r>
            <a:r>
              <a:rPr lang="en-US" altLang="zh-CN">
                <a:latin typeface="仿宋" panose="02010609060101010101" charset="-122"/>
                <a:ea typeface="仿宋" panose="02010609060101010101" charset="-122"/>
                <a:cs typeface="仿宋" panose="02010609060101010101" charset="-122"/>
              </a:rPr>
              <a:t>  </a:t>
            </a:r>
            <a:r>
              <a:rPr lang="zh-CN" altLang="en-US">
                <a:latin typeface="仿宋" panose="02010609060101010101" charset="-122"/>
                <a:ea typeface="仿宋" panose="02010609060101010101" charset="-122"/>
                <a:cs typeface="仿宋" panose="02010609060101010101" charset="-122"/>
              </a:rPr>
              <a:t>变小</a:t>
            </a:r>
            <a:endParaRPr lang="zh-CN" altLang="en-US">
              <a:latin typeface="仿宋" panose="02010609060101010101" charset="-122"/>
              <a:ea typeface="仿宋" panose="02010609060101010101" charset="-122"/>
              <a:cs typeface="仿宋" panose="02010609060101010101" charset="-122"/>
            </a:endParaRPr>
          </a:p>
          <a:p>
            <a:pPr>
              <a:lnSpc>
                <a:spcPct val="200000"/>
              </a:lnSpc>
            </a:pPr>
            <a:r>
              <a:rPr lang="en-US" altLang="zh-CN">
                <a:latin typeface="仿宋" panose="02010609060101010101" charset="-122"/>
                <a:ea typeface="仿宋" panose="02010609060101010101" charset="-122"/>
                <a:cs typeface="仿宋" panose="02010609060101010101" charset="-122"/>
              </a:rPr>
              <a:t>2</a:t>
            </a:r>
            <a:r>
              <a:rPr lang="zh-CN" altLang="en-US">
                <a:latin typeface="仿宋" panose="02010609060101010101" charset="-122"/>
                <a:ea typeface="仿宋" panose="02010609060101010101" charset="-122"/>
                <a:cs typeface="仿宋" panose="02010609060101010101" charset="-122"/>
              </a:rPr>
              <a:t>、增加</a:t>
            </a:r>
            <a:r>
              <a:rPr lang="en-US" altLang="zh-CN">
                <a:latin typeface="仿宋" panose="02010609060101010101" charset="-122"/>
                <a:ea typeface="仿宋" panose="02010609060101010101" charset="-122"/>
                <a:cs typeface="仿宋" panose="02010609060101010101" charset="-122"/>
              </a:rPr>
              <a:t>  </a:t>
            </a:r>
            <a:r>
              <a:rPr lang="zh-CN" altLang="en-US">
                <a:latin typeface="仿宋" panose="02010609060101010101" charset="-122"/>
                <a:ea typeface="仿宋" panose="02010609060101010101" charset="-122"/>
                <a:cs typeface="仿宋" panose="02010609060101010101" charset="-122"/>
              </a:rPr>
              <a:t>升级</a:t>
            </a:r>
            <a:endParaRPr lang="zh-CN" altLang="en-US">
              <a:latin typeface="仿宋" panose="02010609060101010101" charset="-122"/>
              <a:ea typeface="仿宋" panose="02010609060101010101" charset="-122"/>
              <a:cs typeface="仿宋" panose="02010609060101010101" charset="-122"/>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11250" y="795655"/>
            <a:ext cx="4965700" cy="460375"/>
          </a:xfrm>
          <a:prstGeom prst="rect">
            <a:avLst/>
          </a:prstGeom>
          <a:noFill/>
        </p:spPr>
        <p:txBody>
          <a:bodyPr wrap="square" rtlCol="0">
            <a:spAutoFit/>
          </a:bodyPr>
          <a:p>
            <a:r>
              <a:rPr lang="zh-CN" altLang="en-US" sz="2400"/>
              <a:t>不允许缺货的存储模型</a:t>
            </a:r>
            <a:endParaRPr lang="zh-CN" altLang="en-US" sz="2400"/>
          </a:p>
        </p:txBody>
      </p:sp>
      <p:sp>
        <p:nvSpPr>
          <p:cNvPr id="3" name="文本框 2"/>
          <p:cNvSpPr txBox="1"/>
          <p:nvPr/>
        </p:nvSpPr>
        <p:spPr>
          <a:xfrm>
            <a:off x="1016000" y="1504950"/>
            <a:ext cx="10195560" cy="4829810"/>
          </a:xfrm>
          <a:prstGeom prst="rect">
            <a:avLst/>
          </a:prstGeom>
          <a:noFill/>
        </p:spPr>
        <p:txBody>
          <a:bodyPr wrap="square" rtlCol="0">
            <a:noAutofit/>
          </a:bodyPr>
          <a:p>
            <a:pPr>
              <a:lnSpc>
                <a:spcPct val="120000"/>
              </a:lnSpc>
            </a:pPr>
            <a:r>
              <a:rPr lang="zh-CN" altLang="en-US">
                <a:latin typeface="仿宋" panose="02010609060101010101" charset="-122"/>
                <a:ea typeface="仿宋" panose="02010609060101010101" charset="-122"/>
                <a:cs typeface="仿宋" panose="02010609060101010101" charset="-122"/>
              </a:rPr>
              <a:t>配件厂为装配线生产若干种部件，轮换生产不同的部件时因更换设备要付的生产准备金（与生产数量无关），同一部件的产量大于需求时因积压资金、占用仓库要支付贮存费。为了建立模型的方便，这里假设变量是连续的，即生产周期 </a:t>
            </a:r>
            <a:r>
              <a:rPr lang="en-US" altLang="zh-CN">
                <a:latin typeface="仿宋" panose="02010609060101010101" charset="-122"/>
                <a:ea typeface="仿宋" panose="02010609060101010101" charset="-122"/>
                <a:cs typeface="仿宋" panose="02010609060101010101" charset="-122"/>
              </a:rPr>
              <a:t>T </a:t>
            </a:r>
            <a:r>
              <a:rPr lang="zh-CN" altLang="en-US">
                <a:latin typeface="仿宋" panose="02010609060101010101" charset="-122"/>
                <a:ea typeface="仿宋" panose="02010609060101010101" charset="-122"/>
                <a:cs typeface="仿宋" panose="02010609060101010101" charset="-122"/>
              </a:rPr>
              <a:t>和产量 </a:t>
            </a:r>
            <a:r>
              <a:rPr lang="en-US" altLang="zh-CN">
                <a:latin typeface="仿宋" panose="02010609060101010101" charset="-122"/>
                <a:ea typeface="仿宋" panose="02010609060101010101" charset="-122"/>
                <a:cs typeface="仿宋" panose="02010609060101010101" charset="-122"/>
              </a:rPr>
              <a:t>Q </a:t>
            </a:r>
            <a:r>
              <a:rPr lang="zh-CN" altLang="en-US">
                <a:latin typeface="仿宋" panose="02010609060101010101" charset="-122"/>
                <a:ea typeface="仿宋" panose="02010609060101010101" charset="-122"/>
                <a:cs typeface="仿宋" panose="02010609060101010101" charset="-122"/>
              </a:rPr>
              <a:t>均为连续量，根据问题性质可以做如下假设：</a:t>
            </a:r>
            <a:endParaRPr lang="zh-CN" altLang="en-US">
              <a:latin typeface="仿宋" panose="02010609060101010101" charset="-122"/>
              <a:ea typeface="仿宋" panose="02010609060101010101" charset="-122"/>
              <a:cs typeface="仿宋" panose="02010609060101010101" charset="-122"/>
            </a:endParaRPr>
          </a:p>
          <a:p>
            <a:pPr>
              <a:lnSpc>
                <a:spcPct val="120000"/>
              </a:lnSpc>
            </a:pPr>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产品每天的需求量为常数 </a:t>
            </a:r>
            <a:r>
              <a:rPr lang="en-US" altLang="zh-CN">
                <a:latin typeface="仿宋" panose="02010609060101010101" charset="-122"/>
                <a:ea typeface="仿宋" panose="02010609060101010101" charset="-122"/>
                <a:cs typeface="仿宋" panose="02010609060101010101" charset="-122"/>
              </a:rPr>
              <a:t>r；</a:t>
            </a:r>
            <a:endParaRPr lang="en-US" altLang="zh-CN">
              <a:latin typeface="仿宋" panose="02010609060101010101" charset="-122"/>
              <a:ea typeface="仿宋" panose="02010609060101010101" charset="-122"/>
              <a:cs typeface="仿宋" panose="02010609060101010101" charset="-122"/>
            </a:endParaRPr>
          </a:p>
          <a:p>
            <a:pPr>
              <a:lnSpc>
                <a:spcPct val="120000"/>
              </a:lnSpc>
            </a:pPr>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每次生产准备金为 </a:t>
            </a:r>
            <a:r>
              <a:rPr lang="en-US" altLang="zh-CN">
                <a:latin typeface="仿宋" panose="02010609060101010101" charset="-122"/>
                <a:ea typeface="仿宋" panose="02010609060101010101" charset="-122"/>
                <a:cs typeface="仿宋" panose="02010609060101010101" charset="-122"/>
              </a:rPr>
              <a:t>c1，</a:t>
            </a:r>
            <a:r>
              <a:rPr lang="zh-CN" altLang="en-US">
                <a:latin typeface="仿宋" panose="02010609060101010101" charset="-122"/>
                <a:ea typeface="仿宋" panose="02010609060101010101" charset="-122"/>
                <a:cs typeface="仿宋" panose="02010609060101010101" charset="-122"/>
              </a:rPr>
              <a:t>每天每件产品的贮存费为 </a:t>
            </a:r>
            <a:r>
              <a:rPr lang="en-US" altLang="zh-CN">
                <a:latin typeface="仿宋" panose="02010609060101010101" charset="-122"/>
                <a:ea typeface="仿宋" panose="02010609060101010101" charset="-122"/>
                <a:cs typeface="仿宋" panose="02010609060101010101" charset="-122"/>
              </a:rPr>
              <a:t>c2；</a:t>
            </a:r>
            <a:endParaRPr lang="en-US" altLang="zh-CN">
              <a:latin typeface="仿宋" panose="02010609060101010101" charset="-122"/>
              <a:ea typeface="仿宋" panose="02010609060101010101" charset="-122"/>
              <a:cs typeface="仿宋" panose="02010609060101010101" charset="-122"/>
            </a:endParaRPr>
          </a:p>
          <a:p>
            <a:pPr>
              <a:lnSpc>
                <a:spcPct val="120000"/>
              </a:lnSpc>
            </a:pPr>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生产能力无限大（相对需求量），当贮存量降到零时，</a:t>
            </a:r>
            <a:r>
              <a:rPr lang="en-US" altLang="zh-CN">
                <a:latin typeface="仿宋" panose="02010609060101010101" charset="-122"/>
                <a:ea typeface="仿宋" panose="02010609060101010101" charset="-122"/>
                <a:cs typeface="仿宋" panose="02010609060101010101" charset="-122"/>
              </a:rPr>
              <a:t>Q </a:t>
            </a:r>
            <a:r>
              <a:rPr lang="zh-CN" altLang="en-US">
                <a:latin typeface="仿宋" panose="02010609060101010101" charset="-122"/>
                <a:ea typeface="仿宋" panose="02010609060101010101" charset="-122"/>
                <a:cs typeface="仿宋" panose="02010609060101010101" charset="-122"/>
              </a:rPr>
              <a:t>件产品可以立即生产出来，即不允许缺货。</a:t>
            </a:r>
            <a:endParaRPr lang="zh-CN" altLang="en-US">
              <a:latin typeface="仿宋" panose="02010609060101010101" charset="-122"/>
              <a:ea typeface="仿宋" panose="02010609060101010101" charset="-122"/>
              <a:cs typeface="仿宋" panose="02010609060101010101" charset="-122"/>
            </a:endParaRPr>
          </a:p>
          <a:p>
            <a:pPr>
              <a:lnSpc>
                <a:spcPct val="120000"/>
              </a:lnSpc>
            </a:pPr>
            <a:endParaRPr lang="zh-CN" altLang="en-US">
              <a:latin typeface="仿宋" panose="02010609060101010101" charset="-122"/>
              <a:ea typeface="仿宋" panose="02010609060101010101" charset="-122"/>
              <a:cs typeface="仿宋" panose="02010609060101010101" charset="-122"/>
            </a:endParaRPr>
          </a:p>
          <a:p>
            <a:pPr>
              <a:lnSpc>
                <a:spcPct val="120000"/>
              </a:lnSpc>
            </a:pPr>
            <a:r>
              <a:rPr lang="zh-CN" altLang="en-US">
                <a:latin typeface="仿宋" panose="02010609060101010101" charset="-122"/>
                <a:ea typeface="仿宋" panose="02010609060101010101" charset="-122"/>
                <a:cs typeface="仿宋" panose="02010609060101010101" charset="-122"/>
              </a:rPr>
              <a:t>（1）试建立不允许缺货情形下在一个周期内平均费用的目标函数 </a:t>
            </a:r>
            <a:r>
              <a:rPr lang="en-US" altLang="zh-CN">
                <a:latin typeface="仿宋" panose="02010609060101010101" charset="-122"/>
                <a:ea typeface="仿宋" panose="02010609060101010101" charset="-122"/>
                <a:cs typeface="仿宋" panose="02010609060101010101" charset="-122"/>
              </a:rPr>
              <a:t>C (T)，</a:t>
            </a:r>
            <a:r>
              <a:rPr lang="zh-CN" altLang="en-US">
                <a:latin typeface="仿宋" panose="02010609060101010101" charset="-122"/>
                <a:ea typeface="仿宋" panose="02010609060101010101" charset="-122"/>
                <a:cs typeface="仿宋" panose="02010609060101010101" charset="-122"/>
              </a:rPr>
              <a:t>并通过最小化该目标函数求解 </a:t>
            </a:r>
            <a:r>
              <a:rPr lang="en-US" altLang="zh-CN">
                <a:latin typeface="仿宋" panose="02010609060101010101" charset="-122"/>
                <a:ea typeface="仿宋" panose="02010609060101010101" charset="-122"/>
                <a:cs typeface="仿宋" panose="02010609060101010101" charset="-122"/>
              </a:rPr>
              <a:t>T </a:t>
            </a:r>
            <a:r>
              <a:rPr lang="zh-CN" altLang="en-US">
                <a:latin typeface="仿宋" panose="02010609060101010101" charset="-122"/>
                <a:ea typeface="仿宋" panose="02010609060101010101" charset="-122"/>
                <a:cs typeface="仿宋" panose="02010609060101010101" charset="-122"/>
              </a:rPr>
              <a:t>得到经济订货批量公式（</a:t>
            </a:r>
            <a:r>
              <a:rPr lang="en-US" altLang="zh-CN">
                <a:latin typeface="仿宋" panose="02010609060101010101" charset="-122"/>
                <a:ea typeface="仿宋" panose="02010609060101010101" charset="-122"/>
                <a:cs typeface="仿宋" panose="02010609060101010101" charset="-122"/>
              </a:rPr>
              <a:t>EOQ </a:t>
            </a:r>
            <a:r>
              <a:rPr lang="zh-CN" altLang="en-US">
                <a:latin typeface="仿宋" panose="02010609060101010101" charset="-122"/>
                <a:ea typeface="仿宋" panose="02010609060101010101" charset="-122"/>
                <a:cs typeface="仿宋" panose="02010609060101010101" charset="-122"/>
              </a:rPr>
              <a:t>公式）；（10 分）</a:t>
            </a:r>
            <a:endParaRPr lang="zh-CN" altLang="en-US">
              <a:latin typeface="仿宋" panose="02010609060101010101" charset="-122"/>
              <a:ea typeface="仿宋" panose="02010609060101010101" charset="-122"/>
              <a:cs typeface="仿宋" panose="02010609060101010101" charset="-122"/>
            </a:endParaRPr>
          </a:p>
          <a:p>
            <a:pPr>
              <a:lnSpc>
                <a:spcPct val="120000"/>
              </a:lnSpc>
            </a:pPr>
            <a:endParaRPr lang="zh-CN" altLang="en-US">
              <a:latin typeface="仿宋" panose="02010609060101010101" charset="-122"/>
              <a:ea typeface="仿宋" panose="02010609060101010101" charset="-122"/>
              <a:cs typeface="仿宋" panose="02010609060101010101" charset="-122"/>
            </a:endParaRPr>
          </a:p>
          <a:p>
            <a:pPr>
              <a:lnSpc>
                <a:spcPct val="120000"/>
              </a:lnSpc>
            </a:pPr>
            <a:r>
              <a:rPr lang="zh-CN" altLang="en-US">
                <a:latin typeface="仿宋" panose="02010609060101010101" charset="-122"/>
                <a:ea typeface="仿宋" panose="02010609060101010101" charset="-122"/>
                <a:cs typeface="仿宋" panose="02010609060101010101" charset="-122"/>
              </a:rPr>
              <a:t>（2）计算出连续模型假设下日均费用的值的表达式。（5 分）</a:t>
            </a:r>
            <a:endParaRPr lang="zh-CN" altLang="en-US">
              <a:latin typeface="仿宋" panose="02010609060101010101" charset="-122"/>
              <a:ea typeface="仿宋" panose="02010609060101010101" charset="-122"/>
              <a:cs typeface="仿宋" panose="02010609060101010101" charset="-122"/>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57860" y="920115"/>
            <a:ext cx="11262995" cy="4946650"/>
          </a:xfrm>
          <a:prstGeom prst="rect">
            <a:avLst/>
          </a:prstGeom>
          <a:noFill/>
        </p:spPr>
        <p:txBody>
          <a:bodyPr wrap="square" rtlCol="0">
            <a:noAutofit/>
          </a:bodyPr>
          <a:p>
            <a:pPr>
              <a:lnSpc>
                <a:spcPct val="200000"/>
              </a:lnSpc>
            </a:pPr>
            <a:r>
              <a:rPr lang="zh-CN" altLang="en-US">
                <a:latin typeface="仿宋" panose="02010609060101010101" charset="-122"/>
                <a:ea typeface="仿宋" panose="02010609060101010101" charset="-122"/>
                <a:cs typeface="仿宋" panose="02010609060101010101" charset="-122"/>
              </a:rPr>
              <a:t>解答：</a:t>
            </a:r>
            <a:endParaRPr lang="zh-CN" altLang="en-US">
              <a:latin typeface="仿宋" panose="02010609060101010101" charset="-122"/>
              <a:ea typeface="仿宋" panose="02010609060101010101" charset="-122"/>
              <a:cs typeface="仿宋" panose="02010609060101010101" charset="-122"/>
            </a:endParaRPr>
          </a:p>
          <a:p>
            <a:pPr>
              <a:lnSpc>
                <a:spcPct val="200000"/>
              </a:lnSpc>
            </a:pPr>
            <a:r>
              <a:rPr lang="zh-CN" altLang="en-US">
                <a:latin typeface="仿宋" panose="02010609060101010101" charset="-122"/>
                <a:ea typeface="仿宋" panose="02010609060101010101" charset="-122"/>
                <a:cs typeface="仿宋" panose="02010609060101010101" charset="-122"/>
              </a:rPr>
              <a:t>（1）设 </a:t>
            </a:r>
            <a:r>
              <a:rPr lang="en-US" altLang="zh-CN">
                <a:latin typeface="仿宋" panose="02010609060101010101" charset="-122"/>
                <a:ea typeface="仿宋" panose="02010609060101010101" charset="-122"/>
                <a:cs typeface="仿宋" panose="02010609060101010101" charset="-122"/>
              </a:rPr>
              <a:t>t </a:t>
            </a:r>
            <a:r>
              <a:rPr lang="zh-CN" altLang="en-US">
                <a:latin typeface="仿宋" panose="02010609060101010101" charset="-122"/>
                <a:ea typeface="仿宋" panose="02010609060101010101" charset="-122"/>
                <a:cs typeface="仿宋" panose="02010609060101010101" charset="-122"/>
              </a:rPr>
              <a:t>时刻贮存量为 </a:t>
            </a:r>
            <a:r>
              <a:rPr lang="en-US" altLang="zh-CN">
                <a:latin typeface="仿宋" panose="02010609060101010101" charset="-122"/>
                <a:ea typeface="仿宋" panose="02010609060101010101" charset="-122"/>
                <a:cs typeface="仿宋" panose="02010609060101010101" charset="-122"/>
              </a:rPr>
              <a:t>q (t)，</a:t>
            </a:r>
            <a:r>
              <a:rPr lang="zh-CN" altLang="en-US">
                <a:latin typeface="仿宋" panose="02010609060101010101" charset="-122"/>
                <a:ea typeface="仿宋" panose="02010609060101010101" charset="-122"/>
                <a:cs typeface="仿宋" panose="02010609060101010101" charset="-122"/>
              </a:rPr>
              <a:t>则 </a:t>
            </a:r>
            <a:r>
              <a:rPr lang="en-US" altLang="zh-CN">
                <a:latin typeface="仿宋" panose="02010609060101010101" charset="-122"/>
                <a:ea typeface="仿宋" panose="02010609060101010101" charset="-122"/>
                <a:cs typeface="仿宋" panose="02010609060101010101" charset="-122"/>
              </a:rPr>
              <a:t>q (0)=Q，q (T)=0，</a:t>
            </a:r>
            <a:r>
              <a:rPr lang="zh-CN" altLang="en-US">
                <a:latin typeface="仿宋" panose="02010609060101010101" charset="-122"/>
                <a:ea typeface="仿宋" panose="02010609060101010101" charset="-122"/>
                <a:cs typeface="仿宋" panose="02010609060101010101" charset="-122"/>
              </a:rPr>
              <a:t>所以 </a:t>
            </a:r>
            <a:r>
              <a:rPr lang="en-US" altLang="zh-CN">
                <a:latin typeface="仿宋" panose="02010609060101010101" charset="-122"/>
                <a:ea typeface="仿宋" panose="02010609060101010101" charset="-122"/>
                <a:cs typeface="仿宋" panose="02010609060101010101" charset="-122"/>
              </a:rPr>
              <a:t>Q=rT  ......（2 </a:t>
            </a:r>
            <a:r>
              <a:rPr lang="zh-CN" altLang="en-US">
                <a:latin typeface="仿宋" panose="02010609060101010101" charset="-122"/>
                <a:ea typeface="仿宋" panose="02010609060101010101" charset="-122"/>
                <a:cs typeface="仿宋" panose="02010609060101010101" charset="-122"/>
              </a:rPr>
              <a:t>分）</a:t>
            </a:r>
            <a:r>
              <a:rPr lang="en-US" altLang="zh-CN">
                <a:latin typeface="仿宋" panose="02010609060101010101" charset="-122"/>
                <a:ea typeface="仿宋" panose="02010609060101010101" charset="-122"/>
                <a:cs typeface="仿宋" panose="02010609060101010101" charset="-122"/>
              </a:rPr>
              <a:t>  </a:t>
            </a:r>
            <a:endParaRPr lang="en-US" altLang="zh-CN">
              <a:latin typeface="仿宋" panose="02010609060101010101" charset="-122"/>
              <a:ea typeface="仿宋" panose="02010609060101010101" charset="-122"/>
              <a:cs typeface="仿宋" panose="02010609060101010101" charset="-122"/>
            </a:endParaRPr>
          </a:p>
          <a:p>
            <a:pPr>
              <a:lnSpc>
                <a:spcPct val="200000"/>
              </a:lnSpc>
            </a:pPr>
            <a:r>
              <a:rPr lang="zh-CN" altLang="en-US">
                <a:latin typeface="仿宋" panose="02010609060101010101" charset="-122"/>
                <a:ea typeface="仿宋" panose="02010609060101010101" charset="-122"/>
                <a:cs typeface="仿宋" panose="02010609060101010101" charset="-122"/>
              </a:rPr>
              <a:t>一个周期内的贮存费为：</a:t>
            </a:r>
            <a:r>
              <a:rPr lang="en-US" altLang="zh-CN">
                <a:latin typeface="仿宋" panose="02010609060101010101" charset="-122"/>
                <a:ea typeface="仿宋" panose="02010609060101010101" charset="-122"/>
                <a:cs typeface="仿宋" panose="02010609060101010101" charset="-122"/>
              </a:rPr>
              <a:t>                                        ......（3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a:p>
            <a:pPr>
              <a:lnSpc>
                <a:spcPct val="200000"/>
              </a:lnSpc>
            </a:pPr>
            <a:r>
              <a:rPr lang="zh-CN" altLang="en-US">
                <a:latin typeface="仿宋" panose="02010609060101010101" charset="-122"/>
                <a:ea typeface="仿宋" panose="02010609060101010101" charset="-122"/>
                <a:cs typeface="仿宋" panose="02010609060101010101" charset="-122"/>
              </a:rPr>
              <a:t>一个周期内的总费用为：</a:t>
            </a:r>
            <a:r>
              <a:rPr lang="en-US" altLang="zh-CN">
                <a:latin typeface="仿宋" panose="02010609060101010101" charset="-122"/>
                <a:ea typeface="仿宋" panose="02010609060101010101" charset="-122"/>
                <a:cs typeface="仿宋" panose="02010609060101010101" charset="-122"/>
              </a:rPr>
              <a:t>                                        ......（2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a:p>
            <a:pPr>
              <a:lnSpc>
                <a:spcPct val="200000"/>
              </a:lnSpc>
            </a:pPr>
            <a:r>
              <a:rPr lang="zh-CN" altLang="en-US">
                <a:latin typeface="仿宋" panose="02010609060101010101" charset="-122"/>
                <a:ea typeface="仿宋" panose="02010609060101010101" charset="-122"/>
                <a:cs typeface="仿宋" panose="02010609060101010101" charset="-122"/>
              </a:rPr>
              <a:t>一个周期内的平均费用为：</a:t>
            </a:r>
            <a:r>
              <a:rPr lang="en-US" altLang="zh-CN">
                <a:latin typeface="仿宋" panose="02010609060101010101" charset="-122"/>
                <a:ea typeface="仿宋" panose="02010609060101010101" charset="-122"/>
                <a:cs typeface="仿宋" panose="02010609060101010101" charset="-122"/>
              </a:rPr>
              <a:t>				      ......（2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a:p>
            <a:pPr>
              <a:lnSpc>
                <a:spcPct val="200000"/>
              </a:lnSpc>
            </a:pPr>
            <a:r>
              <a:rPr lang="zh-CN" altLang="en-US">
                <a:latin typeface="仿宋" panose="02010609060101010101" charset="-122"/>
                <a:ea typeface="仿宋" panose="02010609060101010101" charset="-122"/>
                <a:cs typeface="仿宋" panose="02010609060101010101" charset="-122"/>
              </a:rPr>
              <a:t>求 </a:t>
            </a:r>
            <a:r>
              <a:rPr lang="en-US" altLang="zh-CN">
                <a:latin typeface="仿宋" panose="02010609060101010101" charset="-122"/>
                <a:ea typeface="仿宋" panose="02010609060101010101" charset="-122"/>
                <a:cs typeface="仿宋" panose="02010609060101010101" charset="-122"/>
              </a:rPr>
              <a:t>T </a:t>
            </a:r>
            <a:r>
              <a:rPr lang="zh-CN" altLang="en-US">
                <a:latin typeface="仿宋" panose="02010609060101010101" charset="-122"/>
                <a:ea typeface="仿宋" panose="02010609060101010101" charset="-122"/>
                <a:cs typeface="仿宋" panose="02010609060101010101" charset="-122"/>
              </a:rPr>
              <a:t>使得上式最小，令</a:t>
            </a:r>
            <a:r>
              <a:rPr lang="en-US" altLang="zh-CN">
                <a:latin typeface="仿宋" panose="02010609060101010101" charset="-122"/>
                <a:ea typeface="仿宋" panose="02010609060101010101" charset="-122"/>
                <a:cs typeface="仿宋" panose="02010609060101010101" charset="-122"/>
              </a:rPr>
              <a:t>			   ，</a:t>
            </a:r>
            <a:r>
              <a:rPr lang="zh-CN" altLang="en-US">
                <a:latin typeface="仿宋" panose="02010609060101010101" charset="-122"/>
                <a:ea typeface="仿宋" panose="02010609060101010101" charset="-122"/>
                <a:cs typeface="仿宋" panose="02010609060101010101" charset="-122"/>
              </a:rPr>
              <a:t>可得：</a:t>
            </a:r>
            <a:r>
              <a:rPr lang="en-US" altLang="zh-CN">
                <a:latin typeface="仿宋" panose="02010609060101010101" charset="-122"/>
                <a:ea typeface="仿宋" panose="02010609060101010101" charset="-122"/>
                <a:cs typeface="仿宋" panose="02010609060101010101" charset="-122"/>
              </a:rPr>
              <a:t>           ......（3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a:p>
            <a:pPr>
              <a:lnSpc>
                <a:spcPct val="120000"/>
              </a:lnSpc>
            </a:pPr>
            <a:endParaRPr lang="zh-CN" altLang="en-US">
              <a:latin typeface="仿宋" panose="02010609060101010101" charset="-122"/>
              <a:ea typeface="仿宋" panose="02010609060101010101" charset="-122"/>
              <a:cs typeface="仿宋" panose="02010609060101010101" charset="-122"/>
            </a:endParaRPr>
          </a:p>
          <a:p>
            <a:pPr>
              <a:lnSpc>
                <a:spcPct val="120000"/>
              </a:lnSpc>
            </a:pPr>
            <a:endParaRPr lang="zh-CN" altLang="en-US">
              <a:latin typeface="仿宋" panose="02010609060101010101" charset="-122"/>
              <a:ea typeface="仿宋" panose="02010609060101010101" charset="-122"/>
              <a:cs typeface="仿宋" panose="02010609060101010101" charset="-122"/>
            </a:endParaRPr>
          </a:p>
          <a:p>
            <a:pPr>
              <a:lnSpc>
                <a:spcPct val="120000"/>
              </a:lnSpc>
            </a:pPr>
            <a:endParaRPr lang="zh-CN" altLang="en-US">
              <a:latin typeface="仿宋" panose="02010609060101010101" charset="-122"/>
              <a:ea typeface="仿宋" panose="02010609060101010101" charset="-122"/>
              <a:cs typeface="仿宋" panose="02010609060101010101" charset="-122"/>
            </a:endParaRPr>
          </a:p>
          <a:p>
            <a:pPr>
              <a:lnSpc>
                <a:spcPct val="120000"/>
              </a:lnSpc>
            </a:pPr>
            <a:r>
              <a:rPr lang="zh-CN" altLang="en-US">
                <a:latin typeface="仿宋" panose="02010609060101010101" charset="-122"/>
                <a:ea typeface="仿宋" panose="02010609060101010101" charset="-122"/>
                <a:cs typeface="仿宋" panose="02010609060101010101" charset="-122"/>
              </a:rPr>
              <a:t>（2）计算得到最小日均费用为：</a:t>
            </a:r>
            <a:r>
              <a:rPr lang="en-US" altLang="zh-CN">
                <a:latin typeface="仿宋" panose="02010609060101010101" charset="-122"/>
                <a:ea typeface="仿宋" panose="02010609060101010101" charset="-122"/>
                <a:cs typeface="仿宋" panose="02010609060101010101" charset="-122"/>
              </a:rPr>
              <a:t>                                 ......（3 </a:t>
            </a:r>
            <a:r>
              <a:rPr lang="zh-CN" altLang="en-US">
                <a:latin typeface="仿宋" panose="02010609060101010101" charset="-122"/>
                <a:ea typeface="仿宋" panose="02010609060101010101" charset="-122"/>
                <a:cs typeface="仿宋" panose="02010609060101010101" charset="-122"/>
              </a:rPr>
              <a:t>分）</a:t>
            </a:r>
            <a:endParaRPr lang="zh-CN" altLang="en-US">
              <a:latin typeface="仿宋" panose="02010609060101010101" charset="-122"/>
              <a:ea typeface="仿宋" panose="02010609060101010101" charset="-122"/>
              <a:cs typeface="仿宋" panose="02010609060101010101" charset="-122"/>
            </a:endParaRPr>
          </a:p>
        </p:txBody>
      </p:sp>
      <p:graphicFrame>
        <p:nvGraphicFramePr>
          <p:cNvPr id="4" name="对象 3">
            <a:hlinkClick r:id="" action="ppaction://ole?verb="/>
          </p:cNvPr>
          <p:cNvGraphicFramePr>
            <a:graphicFrameLocks noChangeAspect="1"/>
          </p:cNvGraphicFramePr>
          <p:nvPr/>
        </p:nvGraphicFramePr>
        <p:xfrm>
          <a:off x="3388360" y="2193290"/>
          <a:ext cx="2707640" cy="482600"/>
        </p:xfrm>
        <a:graphic>
          <a:graphicData uri="http://schemas.openxmlformats.org/presentationml/2006/ole">
            <mc:AlternateContent xmlns:mc="http://schemas.openxmlformats.org/markup-compatibility/2006">
              <mc:Choice xmlns:v="urn:schemas-microsoft-com:vml" Requires="v">
                <p:oleObj spid="_x0000_s1025" name="" r:id="rId1" imgW="1727200" imgH="482600" progId="Equation.KSEE3">
                  <p:embed/>
                </p:oleObj>
              </mc:Choice>
              <mc:Fallback>
                <p:oleObj name="" r:id="rId1" imgW="1727200" imgH="482600" progId="Equation.KSEE3">
                  <p:embed/>
                  <p:pic>
                    <p:nvPicPr>
                      <p:cNvPr id="0" name="图片 1024"/>
                      <p:cNvPicPr/>
                      <p:nvPr/>
                    </p:nvPicPr>
                    <p:blipFill>
                      <a:blip r:embed="rId2"/>
                      <a:stretch>
                        <a:fillRect/>
                      </a:stretch>
                    </p:blipFill>
                    <p:spPr>
                      <a:xfrm>
                        <a:off x="3388360" y="2193290"/>
                        <a:ext cx="2707640" cy="482600"/>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3388360" y="2700655"/>
          <a:ext cx="1400175" cy="538480"/>
        </p:xfrm>
        <a:graphic>
          <a:graphicData uri="http://schemas.openxmlformats.org/presentationml/2006/ole">
            <mc:AlternateContent xmlns:mc="http://schemas.openxmlformats.org/markup-compatibility/2006">
              <mc:Choice xmlns:v="urn:schemas-microsoft-com:vml" Requires="v">
                <p:oleObj spid="_x0000_s1027" name="" r:id="rId3" imgW="952500" imgH="419100" progId="Equation.KSEE3">
                  <p:embed/>
                </p:oleObj>
              </mc:Choice>
              <mc:Fallback>
                <p:oleObj name="" r:id="rId3" imgW="952500" imgH="419100" progId="Equation.KSEE3">
                  <p:embed/>
                  <p:pic>
                    <p:nvPicPr>
                      <p:cNvPr id="0" name="图片 1026"/>
                      <p:cNvPicPr/>
                      <p:nvPr/>
                    </p:nvPicPr>
                    <p:blipFill>
                      <a:blip r:embed="rId4"/>
                      <a:stretch>
                        <a:fillRect/>
                      </a:stretch>
                    </p:blipFill>
                    <p:spPr>
                      <a:xfrm>
                        <a:off x="3388360" y="2700655"/>
                        <a:ext cx="1400175" cy="53848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3630613" y="3264535"/>
          <a:ext cx="2054860" cy="538480"/>
        </p:xfrm>
        <a:graphic>
          <a:graphicData uri="http://schemas.openxmlformats.org/presentationml/2006/ole">
            <mc:AlternateContent xmlns:mc="http://schemas.openxmlformats.org/markup-compatibility/2006">
              <mc:Choice xmlns:v="urn:schemas-microsoft-com:vml" Requires="v">
                <p:oleObj spid="_x0000_s3" name="" r:id="rId5" imgW="1397000" imgH="419100" progId="Equation.KSEE3">
                  <p:embed/>
                </p:oleObj>
              </mc:Choice>
              <mc:Fallback>
                <p:oleObj name="" r:id="rId5" imgW="1397000" imgH="419100" progId="Equation.KSEE3">
                  <p:embed/>
                  <p:pic>
                    <p:nvPicPr>
                      <p:cNvPr id="0" name="图片 1026"/>
                      <p:cNvPicPr/>
                      <p:nvPr/>
                    </p:nvPicPr>
                    <p:blipFill>
                      <a:blip r:embed="rId6"/>
                      <a:stretch>
                        <a:fillRect/>
                      </a:stretch>
                    </p:blipFill>
                    <p:spPr>
                      <a:xfrm>
                        <a:off x="3630613" y="3264535"/>
                        <a:ext cx="2054860" cy="53848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3388043" y="3854133"/>
          <a:ext cx="2129790" cy="506095"/>
        </p:xfrm>
        <a:graphic>
          <a:graphicData uri="http://schemas.openxmlformats.org/presentationml/2006/ole">
            <mc:AlternateContent xmlns:mc="http://schemas.openxmlformats.org/markup-compatibility/2006">
              <mc:Choice xmlns:v="urn:schemas-microsoft-com:vml" Requires="v">
                <p:oleObj spid="_x0000_s9" name="" r:id="rId7" imgW="1447800" imgH="393700" progId="Equation.KSEE3">
                  <p:embed/>
                </p:oleObj>
              </mc:Choice>
              <mc:Fallback>
                <p:oleObj name="" r:id="rId7" imgW="1447800" imgH="393700" progId="Equation.KSEE3">
                  <p:embed/>
                  <p:pic>
                    <p:nvPicPr>
                      <p:cNvPr id="0" name="图片 1026"/>
                      <p:cNvPicPr/>
                      <p:nvPr/>
                    </p:nvPicPr>
                    <p:blipFill>
                      <a:blip r:embed="rId8"/>
                      <a:stretch>
                        <a:fillRect/>
                      </a:stretch>
                    </p:blipFill>
                    <p:spPr>
                      <a:xfrm>
                        <a:off x="3388043" y="3854133"/>
                        <a:ext cx="2129790" cy="506095"/>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6574790" y="3803015"/>
          <a:ext cx="892810" cy="567690"/>
        </p:xfrm>
        <a:graphic>
          <a:graphicData uri="http://schemas.openxmlformats.org/presentationml/2006/ole">
            <mc:AlternateContent xmlns:mc="http://schemas.openxmlformats.org/markup-compatibility/2006">
              <mc:Choice xmlns:v="urn:schemas-microsoft-com:vml" Requires="v">
                <p:oleObj spid="_x0000_s1028" name="" r:id="rId9" imgW="622300" imgH="482600" progId="Equation.KSEE3">
                  <p:embed/>
                </p:oleObj>
              </mc:Choice>
              <mc:Fallback>
                <p:oleObj name="" r:id="rId9" imgW="622300" imgH="482600" progId="Equation.KSEE3">
                  <p:embed/>
                  <p:pic>
                    <p:nvPicPr>
                      <p:cNvPr id="0" name="图片 1027"/>
                      <p:cNvPicPr/>
                      <p:nvPr/>
                    </p:nvPicPr>
                    <p:blipFill>
                      <a:blip r:embed="rId10"/>
                      <a:stretch>
                        <a:fillRect/>
                      </a:stretch>
                    </p:blipFill>
                    <p:spPr>
                      <a:xfrm>
                        <a:off x="6574790" y="3803015"/>
                        <a:ext cx="892810" cy="56769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4166235" y="5281930"/>
          <a:ext cx="1151255" cy="371475"/>
        </p:xfrm>
        <a:graphic>
          <a:graphicData uri="http://schemas.openxmlformats.org/presentationml/2006/ole">
            <mc:AlternateContent xmlns:mc="http://schemas.openxmlformats.org/markup-compatibility/2006">
              <mc:Choice xmlns:v="urn:schemas-microsoft-com:vml" Requires="v">
                <p:oleObj spid="_x0000_s1029" name="" r:id="rId11" imgW="787400" imgH="254000" progId="Equation.KSEE3">
                  <p:embed/>
                </p:oleObj>
              </mc:Choice>
              <mc:Fallback>
                <p:oleObj name="" r:id="rId11" imgW="787400" imgH="254000" progId="Equation.KSEE3">
                  <p:embed/>
                  <p:pic>
                    <p:nvPicPr>
                      <p:cNvPr id="0" name="图片 1028"/>
                      <p:cNvPicPr/>
                      <p:nvPr/>
                    </p:nvPicPr>
                    <p:blipFill>
                      <a:blip r:embed="rId12"/>
                      <a:stretch>
                        <a:fillRect/>
                      </a:stretch>
                    </p:blipFill>
                    <p:spPr>
                      <a:xfrm>
                        <a:off x="4166235" y="5281930"/>
                        <a:ext cx="1151255" cy="371475"/>
                      </a:xfrm>
                      <a:prstGeom prst="rect">
                        <a:avLst/>
                      </a:prstGeom>
                    </p:spPr>
                  </p:pic>
                </p:oleObj>
              </mc:Fallback>
            </mc:AlternateContent>
          </a:graphicData>
        </a:graphic>
      </p:graphicFrame>
    </p:spTree>
    <p:custDataLst>
      <p:tags r:id="rId1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86510" y="693420"/>
            <a:ext cx="3554730" cy="557530"/>
          </a:xfrm>
          <a:prstGeom prst="rect">
            <a:avLst/>
          </a:prstGeom>
          <a:noFill/>
        </p:spPr>
        <p:txBody>
          <a:bodyPr wrap="square" rtlCol="0">
            <a:noAutofit/>
          </a:bodyPr>
          <a:p>
            <a:r>
              <a:rPr lang="zh-CN" altLang="en-US" sz="2400"/>
              <a:t>不买贵的只买</a:t>
            </a:r>
            <a:r>
              <a:rPr lang="zh-CN" altLang="en-US" sz="2400"/>
              <a:t>对的</a:t>
            </a:r>
            <a:endParaRPr lang="zh-CN" altLang="en-US" sz="2400"/>
          </a:p>
        </p:txBody>
      </p:sp>
      <p:sp>
        <p:nvSpPr>
          <p:cNvPr id="3" name="文本框 2"/>
          <p:cNvSpPr txBox="1"/>
          <p:nvPr/>
        </p:nvSpPr>
        <p:spPr>
          <a:xfrm>
            <a:off x="1737995" y="2505075"/>
            <a:ext cx="4064000" cy="368300"/>
          </a:xfrm>
          <a:prstGeom prst="rect">
            <a:avLst/>
          </a:prstGeom>
          <a:noFill/>
        </p:spPr>
        <p:txBody>
          <a:bodyPr wrap="square" rtlCol="0">
            <a:spAutoFit/>
          </a:bodyPr>
          <a:p>
            <a:r>
              <a:rPr lang="zh-CN" altLang="en-US"/>
              <a:t>略</a:t>
            </a:r>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29970" y="766445"/>
            <a:ext cx="3356610" cy="507365"/>
          </a:xfrm>
          <a:prstGeom prst="rect">
            <a:avLst/>
          </a:prstGeom>
          <a:noFill/>
        </p:spPr>
        <p:txBody>
          <a:bodyPr wrap="square" rtlCol="0">
            <a:noAutofit/>
          </a:bodyPr>
          <a:p>
            <a:r>
              <a:rPr lang="zh-CN" altLang="en-US" sz="2400"/>
              <a:t>奶制品的生产与销售</a:t>
            </a:r>
            <a:endParaRPr lang="zh-CN" altLang="en-US" sz="2400"/>
          </a:p>
        </p:txBody>
      </p:sp>
      <p:sp>
        <p:nvSpPr>
          <p:cNvPr id="3" name="文本框 2"/>
          <p:cNvSpPr txBox="1"/>
          <p:nvPr/>
        </p:nvSpPr>
        <p:spPr>
          <a:xfrm>
            <a:off x="1052195" y="1680845"/>
            <a:ext cx="10415270" cy="4258945"/>
          </a:xfrm>
          <a:prstGeom prst="rect">
            <a:avLst/>
          </a:prstGeom>
          <a:noFill/>
        </p:spPr>
        <p:txBody>
          <a:bodyPr wrap="square" rtlCol="0">
            <a:noAutofit/>
          </a:bodyPr>
          <a:p>
            <a:pPr>
              <a:lnSpc>
                <a:spcPct val="120000"/>
              </a:lnSpc>
            </a:pPr>
            <a:r>
              <a:rPr lang="zh-CN" altLang="en-US">
                <a:latin typeface="仿宋" panose="02010609060101010101" charset="-122"/>
                <a:ea typeface="仿宋" panose="02010609060101010101" charset="-122"/>
                <a:cs typeface="仿宋" panose="02010609060101010101" charset="-122"/>
              </a:rPr>
              <a:t>一奶制品加工厂用牛奶生产 </a:t>
            </a:r>
            <a:r>
              <a:rPr lang="en-US" altLang="zh-CN">
                <a:latin typeface="仿宋" panose="02010609060101010101" charset="-122"/>
                <a:ea typeface="仿宋" panose="02010609060101010101" charset="-122"/>
                <a:cs typeface="仿宋" panose="02010609060101010101" charset="-122"/>
              </a:rPr>
              <a:t>A1 </a:t>
            </a:r>
            <a:r>
              <a:rPr lang="zh-CN" altLang="en-US">
                <a:latin typeface="仿宋" panose="02010609060101010101" charset="-122"/>
                <a:ea typeface="仿宋" panose="02010609060101010101" charset="-122"/>
                <a:cs typeface="仿宋" panose="02010609060101010101" charset="-122"/>
              </a:rPr>
              <a:t>和 </a:t>
            </a:r>
            <a:r>
              <a:rPr lang="en-US" altLang="zh-CN">
                <a:latin typeface="仿宋" panose="02010609060101010101" charset="-122"/>
                <a:ea typeface="仿宋" panose="02010609060101010101" charset="-122"/>
                <a:cs typeface="仿宋" panose="02010609060101010101" charset="-122"/>
              </a:rPr>
              <a:t>A2 </a:t>
            </a:r>
            <a:r>
              <a:rPr lang="zh-CN" altLang="en-US">
                <a:latin typeface="仿宋" panose="02010609060101010101" charset="-122"/>
                <a:ea typeface="仿宋" panose="02010609060101010101" charset="-122"/>
                <a:cs typeface="仿宋" panose="02010609060101010101" charset="-122"/>
              </a:rPr>
              <a:t>两种奶制品，1 桶牛奶可以在甲类设备上用 12</a:t>
            </a:r>
            <a:r>
              <a:rPr lang="en-US" altLang="zh-CN">
                <a:latin typeface="仿宋" panose="02010609060101010101" charset="-122"/>
                <a:ea typeface="仿宋" panose="02010609060101010101" charset="-122"/>
                <a:cs typeface="仿宋" panose="02010609060101010101" charset="-122"/>
              </a:rPr>
              <a:t>h </a:t>
            </a:r>
            <a:r>
              <a:rPr lang="zh-CN" altLang="en-US">
                <a:latin typeface="仿宋" panose="02010609060101010101" charset="-122"/>
                <a:ea typeface="仿宋" panose="02010609060101010101" charset="-122"/>
                <a:cs typeface="仿宋" panose="02010609060101010101" charset="-122"/>
              </a:rPr>
              <a:t>加工成 3</a:t>
            </a:r>
            <a:r>
              <a:rPr lang="en-US" altLang="zh-CN">
                <a:latin typeface="仿宋" panose="02010609060101010101" charset="-122"/>
                <a:ea typeface="仿宋" panose="02010609060101010101" charset="-122"/>
                <a:cs typeface="仿宋" panose="02010609060101010101" charset="-122"/>
              </a:rPr>
              <a:t>kg A1，</a:t>
            </a:r>
            <a:r>
              <a:rPr lang="zh-CN" altLang="en-US">
                <a:latin typeface="仿宋" panose="02010609060101010101" charset="-122"/>
                <a:ea typeface="仿宋" panose="02010609060101010101" charset="-122"/>
                <a:cs typeface="仿宋" panose="02010609060101010101" charset="-122"/>
              </a:rPr>
              <a:t>或者在乙类设备上用 8</a:t>
            </a:r>
            <a:r>
              <a:rPr lang="en-US" altLang="zh-CN">
                <a:latin typeface="仿宋" panose="02010609060101010101" charset="-122"/>
                <a:ea typeface="仿宋" panose="02010609060101010101" charset="-122"/>
                <a:cs typeface="仿宋" panose="02010609060101010101" charset="-122"/>
              </a:rPr>
              <a:t>h </a:t>
            </a:r>
            <a:r>
              <a:rPr lang="zh-CN" altLang="en-US">
                <a:latin typeface="仿宋" panose="02010609060101010101" charset="-122"/>
                <a:ea typeface="仿宋" panose="02010609060101010101" charset="-122"/>
                <a:cs typeface="仿宋" panose="02010609060101010101" charset="-122"/>
              </a:rPr>
              <a:t>加工成 4</a:t>
            </a:r>
            <a:r>
              <a:rPr lang="en-US" altLang="zh-CN">
                <a:latin typeface="仿宋" panose="02010609060101010101" charset="-122"/>
                <a:ea typeface="仿宋" panose="02010609060101010101" charset="-122"/>
                <a:cs typeface="仿宋" panose="02010609060101010101" charset="-122"/>
              </a:rPr>
              <a:t>kg </a:t>
            </a:r>
            <a:r>
              <a:rPr lang="zh-CN" altLang="en-US">
                <a:latin typeface="仿宋" panose="02010609060101010101" charset="-122"/>
                <a:ea typeface="仿宋" panose="02010609060101010101" charset="-122"/>
                <a:cs typeface="仿宋" panose="02010609060101010101" charset="-122"/>
              </a:rPr>
              <a:t>的 </a:t>
            </a:r>
            <a:r>
              <a:rPr lang="en-US" altLang="zh-CN">
                <a:latin typeface="仿宋" panose="02010609060101010101" charset="-122"/>
                <a:ea typeface="仿宋" panose="02010609060101010101" charset="-122"/>
                <a:cs typeface="仿宋" panose="02010609060101010101" charset="-122"/>
              </a:rPr>
              <a:t>A2。</a:t>
            </a:r>
            <a:r>
              <a:rPr lang="zh-CN" altLang="en-US">
                <a:latin typeface="仿宋" panose="02010609060101010101" charset="-122"/>
                <a:ea typeface="仿宋" panose="02010609060101010101" charset="-122"/>
                <a:cs typeface="仿宋" panose="02010609060101010101" charset="-122"/>
              </a:rPr>
              <a:t>根据市场需求，生产的 </a:t>
            </a:r>
            <a:r>
              <a:rPr lang="en-US" altLang="zh-CN">
                <a:latin typeface="仿宋" panose="02010609060101010101" charset="-122"/>
                <a:ea typeface="仿宋" panose="02010609060101010101" charset="-122"/>
                <a:cs typeface="仿宋" panose="02010609060101010101" charset="-122"/>
              </a:rPr>
              <a:t>A1，A2 </a:t>
            </a:r>
            <a:r>
              <a:rPr lang="zh-CN" altLang="en-US">
                <a:latin typeface="仿宋" panose="02010609060101010101" charset="-122"/>
                <a:ea typeface="仿宋" panose="02010609060101010101" charset="-122"/>
                <a:cs typeface="仿宋" panose="02010609060101010101" charset="-122"/>
              </a:rPr>
              <a:t>全部能售出，且每千克 </a:t>
            </a:r>
            <a:r>
              <a:rPr lang="en-US" altLang="zh-CN">
                <a:latin typeface="仿宋" panose="02010609060101010101" charset="-122"/>
                <a:ea typeface="仿宋" panose="02010609060101010101" charset="-122"/>
                <a:cs typeface="仿宋" panose="02010609060101010101" charset="-122"/>
              </a:rPr>
              <a:t>A1 </a:t>
            </a:r>
            <a:r>
              <a:rPr lang="zh-CN" altLang="en-US">
                <a:latin typeface="仿宋" panose="02010609060101010101" charset="-122"/>
                <a:ea typeface="仿宋" panose="02010609060101010101" charset="-122"/>
                <a:cs typeface="仿宋" panose="02010609060101010101" charset="-122"/>
              </a:rPr>
              <a:t>获利 24 元，每千克 </a:t>
            </a:r>
            <a:r>
              <a:rPr lang="en-US" altLang="zh-CN">
                <a:latin typeface="仿宋" panose="02010609060101010101" charset="-122"/>
                <a:ea typeface="仿宋" panose="02010609060101010101" charset="-122"/>
                <a:cs typeface="仿宋" panose="02010609060101010101" charset="-122"/>
              </a:rPr>
              <a:t>A2 </a:t>
            </a:r>
            <a:r>
              <a:rPr lang="zh-CN" altLang="en-US">
                <a:latin typeface="仿宋" panose="02010609060101010101" charset="-122"/>
                <a:ea typeface="仿宋" panose="02010609060101010101" charset="-122"/>
                <a:cs typeface="仿宋" panose="02010609060101010101" charset="-122"/>
              </a:rPr>
              <a:t>获利 16 元。现在加工厂每天能得到 50 桶牛奶的供应，每天正式工人总的劳动时间是 480</a:t>
            </a:r>
            <a:r>
              <a:rPr lang="en-US" altLang="zh-CN">
                <a:latin typeface="仿宋" panose="02010609060101010101" charset="-122"/>
                <a:ea typeface="仿宋" panose="02010609060101010101" charset="-122"/>
                <a:cs typeface="仿宋" panose="02010609060101010101" charset="-122"/>
              </a:rPr>
              <a:t>h，</a:t>
            </a:r>
            <a:r>
              <a:rPr lang="zh-CN" altLang="en-US">
                <a:latin typeface="仿宋" panose="02010609060101010101" charset="-122"/>
                <a:ea typeface="仿宋" panose="02010609060101010101" charset="-122"/>
                <a:cs typeface="仿宋" panose="02010609060101010101" charset="-122"/>
              </a:rPr>
              <a:t>并且甲类设备每天至多能加工 100</a:t>
            </a:r>
            <a:r>
              <a:rPr lang="en-US" altLang="zh-CN">
                <a:latin typeface="仿宋" panose="02010609060101010101" charset="-122"/>
                <a:ea typeface="仿宋" panose="02010609060101010101" charset="-122"/>
                <a:cs typeface="仿宋" panose="02010609060101010101" charset="-122"/>
              </a:rPr>
              <a:t>kg A1。</a:t>
            </a:r>
            <a:endParaRPr lang="en-US" altLang="zh-CN">
              <a:latin typeface="仿宋" panose="02010609060101010101" charset="-122"/>
              <a:ea typeface="仿宋" panose="02010609060101010101" charset="-122"/>
              <a:cs typeface="仿宋" panose="02010609060101010101" charset="-122"/>
            </a:endParaRPr>
          </a:p>
          <a:p>
            <a:pPr>
              <a:lnSpc>
                <a:spcPct val="120000"/>
              </a:lnSpc>
            </a:pPr>
            <a:endParaRPr lang="en-US" altLang="zh-CN">
              <a:latin typeface="仿宋" panose="02010609060101010101" charset="-122"/>
              <a:ea typeface="仿宋" panose="02010609060101010101" charset="-122"/>
              <a:cs typeface="仿宋" panose="02010609060101010101" charset="-122"/>
            </a:endParaRPr>
          </a:p>
          <a:p>
            <a:pPr>
              <a:lnSpc>
                <a:spcPct val="120000"/>
              </a:lnSpc>
            </a:pPr>
            <a:r>
              <a:rPr lang="en-US" altLang="zh-CN">
                <a:latin typeface="仿宋" panose="02010609060101010101" charset="-122"/>
                <a:ea typeface="仿宋" panose="02010609060101010101" charset="-122"/>
                <a:cs typeface="仿宋" panose="02010609060101010101" charset="-122"/>
              </a:rPr>
              <a:t>(1)</a:t>
            </a:r>
            <a:r>
              <a:rPr lang="zh-CN" altLang="en-US">
                <a:latin typeface="仿宋" panose="02010609060101010101" charset="-122"/>
                <a:ea typeface="仿宋" panose="02010609060101010101" charset="-122"/>
                <a:cs typeface="仿宋" panose="02010609060101010101" charset="-122"/>
              </a:rPr>
              <a:t> 试为该厂制定一个生产计划，使每天的获利最大。(写出模型与求解的 </a:t>
            </a:r>
            <a:r>
              <a:rPr lang="en-US" altLang="zh-CN">
                <a:latin typeface="仿宋" panose="02010609060101010101" charset="-122"/>
                <a:ea typeface="仿宋" panose="02010609060101010101" charset="-122"/>
                <a:cs typeface="仿宋" panose="02010609060101010101" charset="-122"/>
              </a:rPr>
              <a:t>Lingo </a:t>
            </a:r>
            <a:r>
              <a:rPr lang="zh-CN" altLang="en-US">
                <a:latin typeface="仿宋" panose="02010609060101010101" charset="-122"/>
                <a:ea typeface="仿宋" panose="02010609060101010101" charset="-122"/>
                <a:cs typeface="仿宋" panose="02010609060101010101" charset="-122"/>
              </a:rPr>
              <a:t>或 </a:t>
            </a:r>
            <a:r>
              <a:rPr lang="en-US" altLang="zh-CN">
                <a:latin typeface="仿宋" panose="02010609060101010101" charset="-122"/>
                <a:ea typeface="仿宋" panose="02010609060101010101" charset="-122"/>
                <a:cs typeface="仿宋" panose="02010609060101010101" charset="-122"/>
              </a:rPr>
              <a:t>Matlab </a:t>
            </a:r>
            <a:r>
              <a:rPr lang="zh-CN" altLang="en-US">
                <a:latin typeface="仿宋" panose="02010609060101010101" charset="-122"/>
                <a:ea typeface="仿宋" panose="02010609060101010101" charset="-122"/>
                <a:cs typeface="仿宋" panose="02010609060101010101" charset="-122"/>
              </a:rPr>
              <a:t>程序，不要求计算答案)。（10 分）</a:t>
            </a:r>
            <a:endParaRPr lang="zh-CN" altLang="en-US">
              <a:latin typeface="仿宋" panose="02010609060101010101" charset="-122"/>
              <a:ea typeface="仿宋" panose="02010609060101010101" charset="-122"/>
              <a:cs typeface="仿宋" panose="02010609060101010101" charset="-122"/>
            </a:endParaRPr>
          </a:p>
          <a:p>
            <a:pPr>
              <a:lnSpc>
                <a:spcPct val="120000"/>
              </a:lnSpc>
            </a:pPr>
            <a:endParaRPr lang="zh-CN" altLang="en-US">
              <a:latin typeface="仿宋" panose="02010609060101010101" charset="-122"/>
              <a:ea typeface="仿宋" panose="02010609060101010101" charset="-122"/>
              <a:cs typeface="仿宋" panose="02010609060101010101" charset="-122"/>
            </a:endParaRPr>
          </a:p>
          <a:p>
            <a:pPr>
              <a:lnSpc>
                <a:spcPct val="120000"/>
              </a:lnSpc>
            </a:pPr>
            <a:r>
              <a:rPr lang="en-US" altLang="zh-CN">
                <a:latin typeface="仿宋" panose="02010609060101010101" charset="-122"/>
                <a:ea typeface="仿宋" panose="02010609060101010101" charset="-122"/>
                <a:cs typeface="仿宋" panose="02010609060101010101" charset="-122"/>
              </a:rPr>
              <a:t>(2)</a:t>
            </a:r>
            <a:r>
              <a:rPr lang="zh-CN" altLang="en-US">
                <a:latin typeface="仿宋" panose="02010609060101010101" charset="-122"/>
                <a:ea typeface="仿宋" panose="02010609060101010101" charset="-122"/>
                <a:cs typeface="仿宋" panose="02010609060101010101" charset="-122"/>
              </a:rPr>
              <a:t> 某同学根据题意写出正确模型，并在 </a:t>
            </a:r>
            <a:r>
              <a:rPr lang="en-US" altLang="zh-CN">
                <a:latin typeface="仿宋" panose="02010609060101010101" charset="-122"/>
                <a:ea typeface="仿宋" panose="02010609060101010101" charset="-122"/>
                <a:cs typeface="仿宋" panose="02010609060101010101" charset="-122"/>
              </a:rPr>
              <a:t>lingo </a:t>
            </a:r>
            <a:r>
              <a:rPr lang="zh-CN" altLang="en-US">
                <a:latin typeface="仿宋" panose="02010609060101010101" charset="-122"/>
                <a:ea typeface="仿宋" panose="02010609060101010101" charset="-122"/>
                <a:cs typeface="仿宋" panose="02010609060101010101" charset="-122"/>
              </a:rPr>
              <a:t>软件中正确实现，得到如下两个结果截图，根据结果，请问如果 1 桶牛奶的价格是 40 元，从投资的角度，是否应该增加购买？若买，最多能增加获利多少？若不买（不划算），请说明理由。（5 分）</a:t>
            </a:r>
            <a:endParaRPr lang="zh-CN" altLang="en-US">
              <a:latin typeface="仿宋" panose="02010609060101010101" charset="-122"/>
              <a:ea typeface="仿宋" panose="02010609060101010101" charset="-122"/>
              <a:cs typeface="仿宋" panose="02010609060101010101" charset="-122"/>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Text Box 5"/>
          <p:cNvSpPr txBox="1">
            <a:spLocks noChangeArrowheads="1"/>
          </p:cNvSpPr>
          <p:nvPr/>
        </p:nvSpPr>
        <p:spPr bwMode="auto">
          <a:xfrm>
            <a:off x="1346642" y="3486304"/>
            <a:ext cx="2971800" cy="2676525"/>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it-IT" altLang="zh-CN" b="1"/>
              <a:t>model:</a:t>
            </a:r>
            <a:endParaRPr lang="it-IT" altLang="zh-CN" b="1"/>
          </a:p>
          <a:p>
            <a:pPr eaLnBrk="1" hangingPunct="1"/>
            <a:r>
              <a:rPr lang="it-IT" altLang="zh-CN" b="1"/>
              <a:t>max = 72*x1+64*x2;</a:t>
            </a:r>
            <a:endParaRPr lang="it-IT" altLang="zh-CN" b="1"/>
          </a:p>
          <a:p>
            <a:pPr eaLnBrk="1" hangingPunct="1"/>
            <a:r>
              <a:rPr lang="it-IT" altLang="zh-CN" b="1"/>
              <a:t>[milk]   x1 + x2&lt;50;</a:t>
            </a:r>
            <a:endParaRPr lang="en-US" altLang="zh-CN" b="1"/>
          </a:p>
          <a:p>
            <a:pPr eaLnBrk="1" hangingPunct="1"/>
            <a:r>
              <a:rPr lang="en-US" altLang="zh-CN" b="1"/>
              <a:t>[time] 12*x1+8*x2&lt;480;</a:t>
            </a:r>
            <a:endParaRPr lang="en-US" altLang="zh-CN" b="1"/>
          </a:p>
          <a:p>
            <a:pPr eaLnBrk="1" hangingPunct="1"/>
            <a:r>
              <a:rPr lang="en-US" altLang="zh-CN" b="1"/>
              <a:t>[cpct]   3*x1&lt;100;</a:t>
            </a:r>
            <a:endParaRPr lang="en-US" altLang="zh-CN" b="1"/>
          </a:p>
          <a:p>
            <a:pPr eaLnBrk="1" hangingPunct="1"/>
            <a:r>
              <a:rPr lang="en-US" altLang="zh-CN" b="1"/>
              <a:t>end</a:t>
            </a:r>
            <a:r>
              <a:rPr lang="en-US" altLang="zh-CN"/>
              <a:t> </a:t>
            </a:r>
            <a:endParaRPr lang="en-US" altLang="zh-CN"/>
          </a:p>
        </p:txBody>
      </p:sp>
      <p:sp>
        <p:nvSpPr>
          <p:cNvPr id="2" name="文本框 1"/>
          <p:cNvSpPr txBox="1"/>
          <p:nvPr/>
        </p:nvSpPr>
        <p:spPr>
          <a:xfrm>
            <a:off x="5761355" y="711200"/>
            <a:ext cx="1491615" cy="368300"/>
          </a:xfrm>
          <a:prstGeom prst="rect">
            <a:avLst/>
          </a:prstGeom>
          <a:noFill/>
        </p:spPr>
        <p:txBody>
          <a:bodyPr wrap="square" rtlCol="0">
            <a:spAutoFit/>
          </a:bodyPr>
          <a:p>
            <a:r>
              <a:rPr lang="zh-CN" altLang="en-US" b="1"/>
              <a:t>进行假设</a:t>
            </a:r>
            <a:endParaRPr lang="zh-CN" altLang="en-US" b="1"/>
          </a:p>
        </p:txBody>
      </p:sp>
      <mc:AlternateContent xmlns:mc="http://schemas.openxmlformats.org/markup-compatibility/2006">
        <mc:Choice xmlns:a14="http://schemas.microsoft.com/office/drawing/2010/main" Requires="a14">
          <p:sp>
            <p:nvSpPr>
              <p:cNvPr id="3" name="文本框 2"/>
              <p:cNvSpPr txBox="1"/>
              <p:nvPr/>
            </p:nvSpPr>
            <p:spPr>
              <a:xfrm>
                <a:off x="1346835" y="718185"/>
                <a:ext cx="3719830" cy="36131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1</m:t>
                          </m:r>
                        </m:sub>
                      </m:sSub>
                      <m:r>
                        <a:rPr lang="zh-CN" altLang="en-US" i="1">
                          <a:latin typeface="Cambria Math" panose="02040503050406030204" charset="0"/>
                          <a:cs typeface="Cambria Math" panose="02040503050406030204" charset="0"/>
                        </a:rPr>
                        <m:t>桶牛奶生产</m:t>
                      </m:r>
                      <m:sSub>
                        <m:sSubPr>
                          <m:ctrlPr>
                            <a:rPr lang="zh-CN" altLang="en-US"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𝐴</m:t>
                          </m:r>
                        </m:e>
                        <m:sub>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2</m:t>
                          </m:r>
                        </m:sub>
                      </m:sSub>
                      <m:r>
                        <a:rPr lang="zh-CN" altLang="en-US" i="1">
                          <a:latin typeface="Cambria Math" panose="02040503050406030204" charset="0"/>
                          <a:cs typeface="Cambria Math" panose="02040503050406030204" charset="0"/>
                        </a:rPr>
                        <m:t>通牛奶生产</m:t>
                      </m:r>
                      <m:sSub>
                        <m:sSubPr>
                          <m:ctrlPr>
                            <a:rPr lang="zh-CN" altLang="en-US"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𝐴</m:t>
                          </m:r>
                        </m:e>
                        <m:sub>
                          <m:r>
                            <a:rPr lang="en-US" altLang="zh-CN" i="1">
                              <a:latin typeface="Cambria Math" panose="02040503050406030204" charset="0"/>
                              <a:cs typeface="Cambria Math" panose="02040503050406030204" charset="0"/>
                            </a:rPr>
                            <m:t>2</m:t>
                          </m:r>
                        </m:sub>
                      </m:sSub>
                    </m:oMath>
                  </m:oMathPara>
                </a14:m>
                <a:endParaRPr lang="zh-CN" altLang="en-US" i="1">
                  <a:latin typeface="Cambria Math" panose="02040503050406030204" charset="0"/>
                  <a:cs typeface="Cambria Math" panose="02040503050406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1346835" y="718185"/>
                <a:ext cx="3719830" cy="36131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421130" y="1246505"/>
                <a:ext cx="4193540" cy="1918335"/>
              </a:xfrm>
              <a:prstGeom prst="rect">
                <a:avLst/>
              </a:prstGeom>
              <a:noFill/>
            </p:spPr>
            <p:txBody>
              <a:bodyPr wrap="square" rtlCol="0">
                <a:spAutoFit/>
              </a:bodyPr>
              <a:p>
                <a:pPr>
                  <a:lnSpc>
                    <a:spcPct val="110000"/>
                  </a:lnSpc>
                </a:pPr>
                <a:r>
                  <a:rPr lang="en-US" altLang="zh-CN">
                    <a:latin typeface="仿宋" panose="02010609060101010101" charset="-122"/>
                    <a:ea typeface="仿宋" panose="02010609060101010101" charset="-122"/>
                    <a:cs typeface="仿宋" panose="02010609060101010101" charset="-122"/>
                  </a:rPr>
                  <a:t>max z =72</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MS Mincho" charset="0"/>
                            <a:cs typeface="Cambria Math" panose="02040503050406030204" charset="0"/>
                          </a:rPr>
                          <m:t>1</m:t>
                        </m:r>
                      </m:sub>
                    </m:sSub>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64</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MS Mincho" charset="0"/>
                            <a:cs typeface="Cambria Math" panose="02040503050406030204" charset="0"/>
                          </a:rPr>
                          <m:t>2</m:t>
                        </m:r>
                      </m:sub>
                    </m:sSub>
                  </m:oMath>
                </a14:m>
                <a:endParaRPr lang="en-US" altLang="zh-CN" i="1">
                  <a:latin typeface="Cambria Math" panose="02040503050406030204" charset="0"/>
                  <a:ea typeface="仿宋" panose="02010609060101010101" charset="-122"/>
                  <a:cs typeface="Cambria Math" panose="02040503050406030204" charset="0"/>
                </a:endParaRPr>
              </a:p>
              <a:p>
                <a:pPr>
                  <a:lnSpc>
                    <a:spcPct val="110000"/>
                  </a:lnSpc>
                </a:pPr>
                <a:endParaRPr lang="en-US" altLang="zh-CN" i="1">
                  <a:latin typeface="仿宋" panose="02010609060101010101" charset="-122"/>
                  <a:ea typeface="仿宋" panose="02010609060101010101" charset="-122"/>
                  <a:cs typeface="仿宋" panose="02010609060101010101" charset="-122"/>
                </a:endParaRPr>
              </a:p>
              <a:p>
                <a:pPr indent="457200">
                  <a:lnSpc>
                    <a:spcPct val="110000"/>
                  </a:lnSpc>
                </a:pPr>
                <a14:m>
                  <m:oMathPara xmlns:m="http://schemas.openxmlformats.org/officeDocument/2006/math">
                    <m:oMathParaPr>
                      <m:jc m:val="left"/>
                    </m:oMathParaPr>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MS Mincho" charset="0"/>
                              <a:cs typeface="Cambria Math" panose="02040503050406030204" charset="0"/>
                            </a:rPr>
                            <m:t>1</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MS Mincho" charset="0"/>
                              <a:cs typeface="Cambria Math" panose="02040503050406030204" charset="0"/>
                            </a:rPr>
                            <m:t>2</m:t>
                          </m:r>
                        </m:sub>
                      </m:sSub>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50</m:t>
                      </m:r>
                    </m:oMath>
                  </m:oMathPara>
                </a14:m>
                <a:endParaRPr lang="en-US" altLang="zh-CN" i="1">
                  <a:latin typeface="仿宋" panose="02010609060101010101" charset="-122"/>
                  <a:ea typeface="仿宋" panose="02010609060101010101" charset="-122"/>
                  <a:cs typeface="仿宋" panose="02010609060101010101" charset="-122"/>
                </a:endParaRPr>
              </a:p>
              <a:p>
                <a:pPr indent="457200">
                  <a:lnSpc>
                    <a:spcPct val="110000"/>
                  </a:lnSpc>
                </a:pPr>
                <a14:m>
                  <m:oMathPara xmlns:m="http://schemas.openxmlformats.org/officeDocument/2006/math">
                    <m:oMathParaPr>
                      <m:jc m:val="left"/>
                    </m:oMathParaPr>
                    <m:oMath xmlns:m="http://schemas.openxmlformats.org/officeDocument/2006/math">
                      <m:r>
                        <a:rPr lang="en-US" altLang="zh-CN" i="1">
                          <a:latin typeface="Cambria Math" panose="02040503050406030204" charset="0"/>
                          <a:ea typeface="MS Mincho" charset="0"/>
                          <a:cs typeface="Cambria Math" panose="02040503050406030204" charset="0"/>
                        </a:rPr>
                        <m:t>12</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MS Mincho" charset="0"/>
                              <a:cs typeface="Cambria Math" panose="02040503050406030204" charset="0"/>
                            </a:rPr>
                            <m:t>1</m:t>
                          </m:r>
                        </m:sub>
                      </m:sSub>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8</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MS Mincho" charset="0"/>
                              <a:cs typeface="Cambria Math" panose="02040503050406030204" charset="0"/>
                            </a:rPr>
                            <m:t>2</m:t>
                          </m:r>
                        </m:sub>
                      </m:sSub>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480</m:t>
                      </m:r>
                    </m:oMath>
                  </m:oMathPara>
                </a14:m>
                <a:endParaRPr lang="en-US" altLang="zh-CN" i="1">
                  <a:latin typeface="仿宋" panose="02010609060101010101" charset="-122"/>
                  <a:ea typeface="仿宋" panose="02010609060101010101" charset="-122"/>
                  <a:cs typeface="仿宋" panose="02010609060101010101" charset="-122"/>
                </a:endParaRPr>
              </a:p>
              <a:p>
                <a:pPr indent="457200">
                  <a:lnSpc>
                    <a:spcPct val="110000"/>
                  </a:lnSpc>
                </a:pPr>
                <a14:m>
                  <m:oMathPara xmlns:m="http://schemas.openxmlformats.org/officeDocument/2006/math">
                    <m:oMathParaPr>
                      <m:jc m:val="left"/>
                    </m:oMathParaPr>
                    <m:oMath xmlns:m="http://schemas.openxmlformats.org/officeDocument/2006/math">
                      <m:r>
                        <a:rPr lang="en-US" altLang="zh-CN" i="1">
                          <a:latin typeface="Cambria Math" panose="02040503050406030204" charset="0"/>
                          <a:ea typeface="MS Mincho" charset="0"/>
                          <a:cs typeface="Cambria Math" panose="02040503050406030204" charset="0"/>
                        </a:rPr>
                        <m:t>3</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MS Mincho" charset="0"/>
                              <a:cs typeface="Cambria Math" panose="02040503050406030204" charset="0"/>
                            </a:rPr>
                            <m:t>1</m:t>
                          </m:r>
                        </m:sub>
                      </m:sSub>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100</m:t>
                      </m:r>
                    </m:oMath>
                  </m:oMathPara>
                </a14:m>
                <a:endParaRPr lang="en-US" altLang="zh-CN" i="1">
                  <a:latin typeface="仿宋" panose="02010609060101010101" charset="-122"/>
                  <a:ea typeface="仿宋" panose="02010609060101010101" charset="-122"/>
                  <a:cs typeface="仿宋" panose="02010609060101010101" charset="-122"/>
                </a:endParaRPr>
              </a:p>
              <a:p>
                <a:pPr indent="457200">
                  <a:lnSpc>
                    <a:spcPct val="110000"/>
                  </a:lnSpc>
                </a:pPr>
                <a14:m>
                  <m:oMathPara xmlns:m="http://schemas.openxmlformats.org/officeDocument/2006/math">
                    <m:oMathParaPr>
                      <m:jc m:val="left"/>
                    </m:oMathParaPr>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MS Mincho" charset="0"/>
                              <a:cs typeface="Cambria Math" panose="02040503050406030204" charset="0"/>
                            </a:rPr>
                            <m:t>1</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MS Mincho" charset="0"/>
                              <a:cs typeface="Cambria Math" panose="02040503050406030204" charset="0"/>
                            </a:rPr>
                            <m:t>2</m:t>
                          </m:r>
                        </m:sub>
                      </m:sSub>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0</m:t>
                      </m:r>
                    </m:oMath>
                  </m:oMathPara>
                </a14:m>
                <a:endParaRPr lang="en-US" altLang="zh-CN">
                  <a:latin typeface="仿宋" panose="02010609060101010101" charset="-122"/>
                  <a:ea typeface="仿宋" panose="02010609060101010101" charset="-122"/>
                  <a:cs typeface="仿宋" panose="02010609060101010101"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1421130" y="1246505"/>
                <a:ext cx="4193540" cy="1918335"/>
              </a:xfrm>
              <a:prstGeom prst="rect">
                <a:avLst/>
              </a:prstGeom>
              <a:blipFill rotWithShape="1">
                <a:blip r:embed="rId2"/>
                <a:stretch>
                  <a:fillRect/>
                </a:stretch>
              </a:blipFill>
            </p:spPr>
            <p:txBody>
              <a:bodyPr/>
              <a:lstStyle/>
              <a:p>
                <a:r>
                  <a:rPr lang="zh-CN" altLang="en-US">
                    <a:noFill/>
                  </a:rPr>
                  <a:t> </a:t>
                </a:r>
              </a:p>
            </p:txBody>
          </p:sp>
        </mc:Fallback>
      </mc:AlternateContent>
      <p:sp>
        <p:nvSpPr>
          <p:cNvPr id="5" name="文本框 4"/>
          <p:cNvSpPr txBox="1"/>
          <p:nvPr/>
        </p:nvSpPr>
        <p:spPr>
          <a:xfrm>
            <a:off x="5761355" y="1316355"/>
            <a:ext cx="1755140" cy="368300"/>
          </a:xfrm>
          <a:prstGeom prst="rect">
            <a:avLst/>
          </a:prstGeom>
          <a:noFill/>
        </p:spPr>
        <p:txBody>
          <a:bodyPr wrap="square" rtlCol="0">
            <a:spAutoFit/>
          </a:bodyPr>
          <a:p>
            <a:r>
              <a:rPr lang="zh-CN" altLang="en-US" b="1">
                <a:latin typeface="微软雅黑" panose="020B0503020204020204" charset="-122"/>
                <a:ea typeface="微软雅黑" panose="020B0503020204020204" charset="-122"/>
              </a:rPr>
              <a:t>目标函数</a:t>
            </a:r>
            <a:endParaRPr lang="zh-CN" altLang="en-US" b="1">
              <a:latin typeface="微软雅黑" panose="020B0503020204020204" charset="-122"/>
              <a:ea typeface="微软雅黑" panose="020B0503020204020204" charset="-122"/>
            </a:endParaRPr>
          </a:p>
        </p:txBody>
      </p:sp>
      <p:sp>
        <p:nvSpPr>
          <p:cNvPr id="7" name="文本框 6"/>
          <p:cNvSpPr txBox="1"/>
          <p:nvPr/>
        </p:nvSpPr>
        <p:spPr>
          <a:xfrm>
            <a:off x="5766435" y="2279650"/>
            <a:ext cx="1755140" cy="368300"/>
          </a:xfrm>
          <a:prstGeom prst="rect">
            <a:avLst/>
          </a:prstGeom>
          <a:noFill/>
        </p:spPr>
        <p:txBody>
          <a:bodyPr wrap="square" rtlCol="0">
            <a:spAutoFit/>
          </a:bodyPr>
          <a:p>
            <a:r>
              <a:rPr lang="zh-CN" altLang="en-US" b="1">
                <a:latin typeface="微软雅黑" panose="020B0503020204020204" charset="-122"/>
                <a:ea typeface="微软雅黑" panose="020B0503020204020204" charset="-122"/>
              </a:rPr>
              <a:t>约束条件</a:t>
            </a:r>
            <a:endParaRPr lang="zh-CN" altLang="en-US" b="1">
              <a:latin typeface="微软雅黑" panose="020B0503020204020204" charset="-122"/>
              <a:ea typeface="微软雅黑" panose="020B0503020204020204" charset="-122"/>
            </a:endParaRPr>
          </a:p>
        </p:txBody>
      </p:sp>
      <p:sp>
        <p:nvSpPr>
          <p:cNvPr id="8" name="文本框 7"/>
          <p:cNvSpPr txBox="1"/>
          <p:nvPr/>
        </p:nvSpPr>
        <p:spPr>
          <a:xfrm>
            <a:off x="5761355" y="4344035"/>
            <a:ext cx="1755140" cy="36830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LINGO</a:t>
            </a:r>
            <a:r>
              <a:rPr lang="zh-CN" altLang="en-US" b="1">
                <a:latin typeface="微软雅黑" panose="020B0503020204020204" charset="-122"/>
                <a:ea typeface="微软雅黑" panose="020B0503020204020204" charset="-122"/>
              </a:rPr>
              <a:t>代码</a:t>
            </a:r>
            <a:endParaRPr lang="zh-CN" altLang="en-US" b="1">
              <a:latin typeface="微软雅黑" panose="020B0503020204020204" charset="-122"/>
              <a:ea typeface="微软雅黑" panose="020B0503020204020204" charset="-122"/>
            </a:endParaRPr>
          </a:p>
        </p:txBody>
      </p:sp>
      <p:sp>
        <p:nvSpPr>
          <p:cNvPr id="9" name="文本框 8"/>
          <p:cNvSpPr txBox="1"/>
          <p:nvPr/>
        </p:nvSpPr>
        <p:spPr>
          <a:xfrm>
            <a:off x="5761355" y="5191760"/>
            <a:ext cx="5908675" cy="583565"/>
          </a:xfrm>
          <a:prstGeom prst="rect">
            <a:avLst/>
          </a:prstGeom>
          <a:noFill/>
        </p:spPr>
        <p:txBody>
          <a:bodyPr wrap="square" rtlCol="0">
            <a:spAutoFit/>
          </a:bodyPr>
          <a:p>
            <a:r>
              <a:rPr lang="zh-CN" altLang="en-US" sz="1600">
                <a:latin typeface="仿宋" panose="02010609060101010101" charset="-122"/>
                <a:ea typeface="仿宋" panose="02010609060101010101" charset="-122"/>
                <a:cs typeface="仿宋" panose="02010609060101010101" charset="-122"/>
              </a:rPr>
              <a:t>答题模板：写出假设，目标函数，约束条件，</a:t>
            </a:r>
            <a:r>
              <a:rPr lang="en-US" altLang="zh-CN" sz="1600">
                <a:latin typeface="仿宋" panose="02010609060101010101" charset="-122"/>
                <a:ea typeface="仿宋" panose="02010609060101010101" charset="-122"/>
                <a:cs typeface="仿宋" panose="02010609060101010101" charset="-122"/>
              </a:rPr>
              <a:t>LINGO</a:t>
            </a:r>
            <a:r>
              <a:rPr lang="zh-CN" altLang="en-US" sz="1600">
                <a:latin typeface="仿宋" panose="02010609060101010101" charset="-122"/>
                <a:ea typeface="仿宋" panose="02010609060101010101" charset="-122"/>
                <a:cs typeface="仿宋" panose="02010609060101010101" charset="-122"/>
              </a:rPr>
              <a:t>代码，下一页为</a:t>
            </a:r>
            <a:r>
              <a:rPr lang="en-US" altLang="zh-CN" sz="1600">
                <a:latin typeface="仿宋" panose="02010609060101010101" charset="-122"/>
                <a:ea typeface="仿宋" panose="02010609060101010101" charset="-122"/>
                <a:cs typeface="仿宋" panose="02010609060101010101" charset="-122"/>
              </a:rPr>
              <a:t>LINGGO</a:t>
            </a:r>
            <a:r>
              <a:rPr lang="zh-CN" altLang="en-US" sz="1600">
                <a:latin typeface="仿宋" panose="02010609060101010101" charset="-122"/>
                <a:ea typeface="仿宋" panose="02010609060101010101" charset="-122"/>
                <a:cs typeface="仿宋" panose="02010609060101010101" charset="-122"/>
              </a:rPr>
              <a:t>代码输出，题目会</a:t>
            </a:r>
            <a:r>
              <a:rPr lang="zh-CN" altLang="en-US" sz="1600">
                <a:latin typeface="仿宋" panose="02010609060101010101" charset="-122"/>
                <a:ea typeface="仿宋" panose="02010609060101010101" charset="-122"/>
                <a:cs typeface="仿宋" panose="02010609060101010101" charset="-122"/>
              </a:rPr>
              <a:t>给出，要求看懂并根据输出作答</a:t>
            </a:r>
            <a:endParaRPr lang="zh-CN" altLang="en-US" sz="1600">
              <a:latin typeface="仿宋" panose="02010609060101010101" charset="-122"/>
              <a:ea typeface="仿宋" panose="02010609060101010101" charset="-122"/>
              <a:cs typeface="仿宋" panose="02010609060101010101" charset="-122"/>
            </a:endParaRPr>
          </a:p>
        </p:txBody>
      </p:sp>
      <p:pic>
        <p:nvPicPr>
          <p:cNvPr id="10" name="图片 9"/>
          <p:cNvPicPr>
            <a:picLocks noChangeAspect="1"/>
          </p:cNvPicPr>
          <p:nvPr/>
        </p:nvPicPr>
        <p:blipFill>
          <a:blip r:embed="rId3"/>
          <a:stretch>
            <a:fillRect/>
          </a:stretch>
        </p:blipFill>
        <p:spPr>
          <a:xfrm>
            <a:off x="7663180" y="998855"/>
            <a:ext cx="4225925" cy="2413635"/>
          </a:xfrm>
          <a:prstGeom prst="rect">
            <a:avLst/>
          </a:prstGeom>
        </p:spPr>
      </p:pic>
      <p:sp>
        <p:nvSpPr>
          <p:cNvPr id="11" name="文本框 10"/>
          <p:cNvSpPr txBox="1"/>
          <p:nvPr/>
        </p:nvSpPr>
        <p:spPr>
          <a:xfrm>
            <a:off x="8415655" y="3573145"/>
            <a:ext cx="2741295" cy="368300"/>
          </a:xfrm>
          <a:prstGeom prst="rect">
            <a:avLst/>
          </a:prstGeom>
          <a:noFill/>
        </p:spPr>
        <p:txBody>
          <a:bodyPr wrap="square" rtlCol="0">
            <a:spAutoFit/>
          </a:bodyPr>
          <a:p>
            <a:r>
              <a:rPr lang="zh-CN" altLang="en-US"/>
              <a:t>（实机演示，不</a:t>
            </a:r>
            <a:r>
              <a:rPr lang="zh-CN" altLang="en-US"/>
              <a:t>作要求）</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blinds(horizontal)">
                                      <p:cBhvr>
                                        <p:cTn id="7" dur="1000"/>
                                        <p:tgtEl>
                                          <p:spTgt spid="8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7885112" y="724768"/>
            <a:ext cx="2514600" cy="58356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latin typeface="楷体_GB2312" pitchFamily="49" charset="-122"/>
                <a:ea typeface="楷体_GB2312" pitchFamily="49" charset="-122"/>
              </a:rPr>
              <a:t>结果解释</a:t>
            </a:r>
            <a:r>
              <a:rPr lang="zh-CN" altLang="en-US" sz="3200">
                <a:latin typeface="楷体_GB2312" pitchFamily="49" charset="-122"/>
                <a:ea typeface="楷体_GB2312" pitchFamily="49" charset="-122"/>
              </a:rPr>
              <a:t> </a:t>
            </a:r>
            <a:endParaRPr lang="zh-CN" altLang="en-US" sz="3200">
              <a:latin typeface="楷体_GB2312" pitchFamily="49" charset="-122"/>
              <a:ea typeface="楷体_GB2312" pitchFamily="49" charset="-122"/>
            </a:endParaRPr>
          </a:p>
        </p:txBody>
      </p:sp>
      <p:sp>
        <p:nvSpPr>
          <p:cNvPr id="10244" name="Text Box 4"/>
          <p:cNvSpPr txBox="1">
            <a:spLocks noChangeArrowheads="1"/>
          </p:cNvSpPr>
          <p:nvPr/>
        </p:nvSpPr>
        <p:spPr bwMode="auto">
          <a:xfrm>
            <a:off x="1701800" y="667618"/>
            <a:ext cx="5618336" cy="415417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Global optimal solution found.</a:t>
            </a:r>
            <a:endParaRPr lang="en-US" altLang="zh-CN" b="1" dirty="0"/>
          </a:p>
          <a:p>
            <a:pPr eaLnBrk="1" hangingPunct="1"/>
            <a:r>
              <a:rPr lang="en-US" altLang="zh-CN" b="1" dirty="0"/>
              <a:t>  Objective value:                      </a:t>
            </a:r>
            <a:r>
              <a:rPr lang="en-US" altLang="zh-CN" b="1" dirty="0" smtClean="0"/>
              <a:t>3360.000</a:t>
            </a:r>
            <a:endParaRPr lang="en-US" altLang="zh-CN" b="1" dirty="0"/>
          </a:p>
          <a:p>
            <a:pPr eaLnBrk="1" hangingPunct="1"/>
            <a:r>
              <a:rPr lang="en-US" altLang="zh-CN" b="1" dirty="0"/>
              <a:t>  Total solver iterations:                  </a:t>
            </a:r>
            <a:r>
              <a:rPr lang="en-US" altLang="zh-CN" b="1" dirty="0" smtClean="0"/>
              <a:t>2</a:t>
            </a:r>
            <a:endParaRPr lang="en-US" altLang="zh-CN" b="1" dirty="0"/>
          </a:p>
          <a:p>
            <a:pPr eaLnBrk="1" hangingPunct="1"/>
            <a:r>
              <a:rPr lang="en-US" altLang="zh-CN" b="1" dirty="0"/>
              <a:t>      Variable     Value           Reduced Cost</a:t>
            </a:r>
            <a:endParaRPr lang="en-US" altLang="zh-CN" b="1" dirty="0"/>
          </a:p>
          <a:p>
            <a:pPr eaLnBrk="1" hangingPunct="1"/>
            <a:r>
              <a:rPr lang="en-US" altLang="zh-CN" b="1" dirty="0"/>
              <a:t>          X1        20.00000            0.000000</a:t>
            </a:r>
            <a:endParaRPr lang="en-US" altLang="zh-CN" b="1" dirty="0"/>
          </a:p>
          <a:p>
            <a:pPr eaLnBrk="1" hangingPunct="1"/>
            <a:r>
              <a:rPr lang="en-US" altLang="zh-CN" b="1" dirty="0"/>
              <a:t>          X2        30.00000            0.000000</a:t>
            </a:r>
            <a:endParaRPr lang="en-US" altLang="zh-CN" b="1" dirty="0"/>
          </a:p>
          <a:p>
            <a:pPr eaLnBrk="1" hangingPunct="1"/>
            <a:r>
              <a:rPr lang="en-US" altLang="zh-CN" b="1" dirty="0"/>
              <a:t>     Row   Slack or Surplus   </a:t>
            </a:r>
            <a:r>
              <a:rPr lang="en-US" altLang="zh-CN" b="1" dirty="0">
                <a:solidFill>
                  <a:srgbClr val="FF0000"/>
                </a:solidFill>
              </a:rPr>
              <a:t>Dual Price</a:t>
            </a:r>
            <a:endParaRPr lang="en-US" altLang="zh-CN" b="1" dirty="0">
              <a:solidFill>
                <a:srgbClr val="FF0000"/>
              </a:solidFill>
            </a:endParaRPr>
          </a:p>
          <a:p>
            <a:pPr eaLnBrk="1" hangingPunct="1"/>
            <a:r>
              <a:rPr lang="en-US" altLang="zh-CN" b="1" dirty="0"/>
              <a:t>            1        3360.000         1.000000</a:t>
            </a:r>
            <a:endParaRPr lang="en-US" altLang="zh-CN" b="1" dirty="0"/>
          </a:p>
          <a:p>
            <a:pPr eaLnBrk="1" hangingPunct="1"/>
            <a:r>
              <a:rPr lang="en-US" altLang="zh-CN" b="1" dirty="0"/>
              <a:t>  MILK        0.000000          </a:t>
            </a:r>
            <a:r>
              <a:rPr lang="en-US" altLang="zh-CN" b="1" dirty="0">
                <a:solidFill>
                  <a:srgbClr val="FF0000"/>
                </a:solidFill>
              </a:rPr>
              <a:t>48.00000</a:t>
            </a:r>
            <a:endParaRPr lang="en-US" altLang="zh-CN" b="1" dirty="0">
              <a:solidFill>
                <a:srgbClr val="FF0000"/>
              </a:solidFill>
            </a:endParaRPr>
          </a:p>
          <a:p>
            <a:pPr eaLnBrk="1" hangingPunct="1"/>
            <a:r>
              <a:rPr lang="en-US" altLang="zh-CN" b="1" dirty="0"/>
              <a:t>  TIME        0.000000         </a:t>
            </a:r>
            <a:r>
              <a:rPr lang="en-US" altLang="zh-CN" b="1" dirty="0">
                <a:solidFill>
                  <a:srgbClr val="FF0000"/>
                </a:solidFill>
              </a:rPr>
              <a:t> 2.000000</a:t>
            </a:r>
            <a:endParaRPr lang="en-US" altLang="zh-CN" b="1" dirty="0">
              <a:solidFill>
                <a:srgbClr val="FF0000"/>
              </a:solidFill>
            </a:endParaRPr>
          </a:p>
          <a:p>
            <a:pPr eaLnBrk="1" hangingPunct="1"/>
            <a:r>
              <a:rPr lang="en-US" altLang="zh-CN" b="1" dirty="0"/>
              <a:t>  CPCT        40.00000</a:t>
            </a:r>
            <a:r>
              <a:rPr lang="en-US" altLang="zh-CN" b="1" dirty="0">
                <a:solidFill>
                  <a:srgbClr val="FF0000"/>
                </a:solidFill>
              </a:rPr>
              <a:t>          0.000000</a:t>
            </a:r>
            <a:endParaRPr lang="en-US" altLang="zh-CN" b="1" dirty="0">
              <a:solidFill>
                <a:srgbClr val="FF0000"/>
              </a:solidFill>
            </a:endParaRPr>
          </a:p>
        </p:txBody>
      </p:sp>
      <p:sp>
        <p:nvSpPr>
          <p:cNvPr id="10243" name="Text Box 3"/>
          <p:cNvSpPr txBox="1">
            <a:spLocks noChangeArrowheads="1"/>
          </p:cNvSpPr>
          <p:nvPr/>
        </p:nvSpPr>
        <p:spPr bwMode="auto">
          <a:xfrm>
            <a:off x="7320136" y="1410568"/>
            <a:ext cx="3384376" cy="939800"/>
          </a:xfrm>
          <a:prstGeom prst="rect">
            <a:avLst/>
          </a:prstGeom>
          <a:solidFill>
            <a:srgbClr val="FFCCFF"/>
          </a:solidFill>
          <a:ln>
            <a:noFill/>
          </a:ln>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5000"/>
              </a:lnSpc>
              <a:spcBef>
                <a:spcPct val="50000"/>
              </a:spcBef>
            </a:pPr>
            <a:r>
              <a:rPr lang="zh-CN" altLang="en-US" b="1" dirty="0"/>
              <a:t>最优解下“资源”增加</a:t>
            </a:r>
            <a:r>
              <a:rPr lang="en-US" altLang="zh-CN" b="1" dirty="0"/>
              <a:t>1</a:t>
            </a:r>
            <a:r>
              <a:rPr lang="zh-CN" altLang="en-US" b="1" dirty="0" smtClean="0"/>
              <a:t>单位“效益”</a:t>
            </a:r>
            <a:r>
              <a:rPr lang="zh-CN" altLang="en-US" b="1" dirty="0"/>
              <a:t>的增量 </a:t>
            </a:r>
            <a:endParaRPr lang="zh-CN" altLang="en-US" b="1" dirty="0"/>
          </a:p>
        </p:txBody>
      </p:sp>
      <p:sp>
        <p:nvSpPr>
          <p:cNvPr id="10249" name="Text Box 9"/>
          <p:cNvSpPr txBox="1">
            <a:spLocks noChangeArrowheads="1"/>
          </p:cNvSpPr>
          <p:nvPr/>
        </p:nvSpPr>
        <p:spPr bwMode="auto">
          <a:xfrm>
            <a:off x="1821904" y="5105400"/>
            <a:ext cx="50292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dirty="0"/>
              <a:t> 35</a:t>
            </a:r>
            <a:r>
              <a:rPr lang="zh-CN" altLang="en-US" sz="2800" b="1" dirty="0"/>
              <a:t>元可买到</a:t>
            </a:r>
            <a:r>
              <a:rPr lang="en-US" altLang="zh-CN" sz="2800" b="1" dirty="0"/>
              <a:t>1</a:t>
            </a:r>
            <a:r>
              <a:rPr lang="zh-CN" altLang="en-US" sz="2800" b="1" dirty="0"/>
              <a:t>桶牛奶，要买吗</a:t>
            </a:r>
            <a:r>
              <a:rPr lang="en-US" altLang="zh-CN" sz="2800" b="1" dirty="0"/>
              <a:t>?</a:t>
            </a:r>
            <a:endParaRPr lang="en-US" altLang="zh-CN" sz="2800" b="1" dirty="0"/>
          </a:p>
        </p:txBody>
      </p:sp>
      <p:sp>
        <p:nvSpPr>
          <p:cNvPr id="10250" name="Text Box 10"/>
          <p:cNvSpPr txBox="1">
            <a:spLocks noChangeArrowheads="1"/>
          </p:cNvSpPr>
          <p:nvPr/>
        </p:nvSpPr>
        <p:spPr bwMode="auto">
          <a:xfrm>
            <a:off x="7239000" y="5070127"/>
            <a:ext cx="31242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dirty="0">
                <a:solidFill>
                  <a:srgbClr val="FF0000"/>
                </a:solidFill>
              </a:rPr>
              <a:t>35 &lt;48, </a:t>
            </a:r>
            <a:r>
              <a:rPr lang="zh-CN" altLang="en-US" sz="2800" b="1" dirty="0">
                <a:solidFill>
                  <a:srgbClr val="FF0000"/>
                </a:solidFill>
              </a:rPr>
              <a:t>应该买！</a:t>
            </a:r>
            <a:endParaRPr lang="zh-CN" altLang="en-US" sz="2800" b="1" dirty="0">
              <a:solidFill>
                <a:srgbClr val="FF0000"/>
              </a:solidFill>
            </a:endParaRPr>
          </a:p>
        </p:txBody>
      </p:sp>
      <p:sp>
        <p:nvSpPr>
          <p:cNvPr id="10251" name="Text Box 11"/>
          <p:cNvSpPr txBox="1">
            <a:spLocks noChangeArrowheads="1"/>
          </p:cNvSpPr>
          <p:nvPr/>
        </p:nvSpPr>
        <p:spPr bwMode="auto">
          <a:xfrm>
            <a:off x="1821904" y="5791200"/>
            <a:ext cx="70104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聘用临时工人付出的工资最多每小时几元</a:t>
            </a:r>
            <a:r>
              <a:rPr lang="en-US" altLang="zh-CN" sz="2800" b="1"/>
              <a:t>? </a:t>
            </a:r>
            <a:endParaRPr lang="en-US" altLang="zh-CN" sz="2800" b="1"/>
          </a:p>
        </p:txBody>
      </p:sp>
      <p:sp>
        <p:nvSpPr>
          <p:cNvPr id="10252" name="Text Box 12"/>
          <p:cNvSpPr txBox="1">
            <a:spLocks noChangeArrowheads="1"/>
          </p:cNvSpPr>
          <p:nvPr/>
        </p:nvSpPr>
        <p:spPr bwMode="auto">
          <a:xfrm>
            <a:off x="8991600" y="5791200"/>
            <a:ext cx="113665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FF0000"/>
                </a:solidFill>
              </a:rPr>
              <a:t>2</a:t>
            </a:r>
            <a:r>
              <a:rPr lang="zh-CN" altLang="en-US" sz="2800" b="1">
                <a:solidFill>
                  <a:srgbClr val="FF0000"/>
                </a:solidFill>
              </a:rPr>
              <a:t>元！</a:t>
            </a:r>
            <a:endParaRPr lang="zh-CN" altLang="en-US" sz="2800" b="1">
              <a:solidFill>
                <a:srgbClr val="FF0000"/>
              </a:solidFill>
            </a:endParaRPr>
          </a:p>
        </p:txBody>
      </p:sp>
      <p:grpSp>
        <p:nvGrpSpPr>
          <p:cNvPr id="2" name="Group 16"/>
          <p:cNvGrpSpPr/>
          <p:nvPr/>
        </p:nvGrpSpPr>
        <p:grpSpPr bwMode="auto">
          <a:xfrm>
            <a:off x="6496051" y="3475906"/>
            <a:ext cx="4137025" cy="460375"/>
            <a:chOff x="3061" y="1979"/>
            <a:chExt cx="2606" cy="290"/>
          </a:xfrm>
        </p:grpSpPr>
        <p:sp>
          <p:nvSpPr>
            <p:cNvPr id="13329" name="Text Box 5"/>
            <p:cNvSpPr txBox="1">
              <a:spLocks noChangeArrowheads="1"/>
            </p:cNvSpPr>
            <p:nvPr/>
          </p:nvSpPr>
          <p:spPr bwMode="auto">
            <a:xfrm>
              <a:off x="3216" y="1979"/>
              <a:ext cx="2451" cy="29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t>原料增加</a:t>
              </a:r>
              <a:r>
                <a:rPr lang="en-US" altLang="zh-CN" b="1" dirty="0"/>
                <a:t>1</a:t>
              </a:r>
              <a:r>
                <a:rPr lang="zh-CN" altLang="en-US" b="1" dirty="0"/>
                <a:t>单位</a:t>
              </a:r>
              <a:r>
                <a:rPr lang="en-US" altLang="zh-CN" b="1" dirty="0"/>
                <a:t>, </a:t>
              </a:r>
              <a:r>
                <a:rPr lang="zh-CN" altLang="en-US" b="1" dirty="0"/>
                <a:t>利润增长</a:t>
              </a:r>
              <a:r>
                <a:rPr lang="en-US" altLang="zh-CN" b="1" dirty="0"/>
                <a:t>48 </a:t>
              </a:r>
              <a:endParaRPr lang="en-US" altLang="zh-CN" b="1" dirty="0"/>
            </a:p>
          </p:txBody>
        </p:sp>
        <p:sp>
          <p:nvSpPr>
            <p:cNvPr id="13330" name="Line 13"/>
            <p:cNvSpPr>
              <a:spLocks noChangeShapeType="1"/>
            </p:cNvSpPr>
            <p:nvPr/>
          </p:nvSpPr>
          <p:spPr bwMode="auto">
            <a:xfrm>
              <a:off x="3061" y="2160"/>
              <a:ext cx="182"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7"/>
          <p:cNvGrpSpPr/>
          <p:nvPr/>
        </p:nvGrpSpPr>
        <p:grpSpPr bwMode="auto">
          <a:xfrm>
            <a:off x="6505004" y="3933056"/>
            <a:ext cx="4127500" cy="460375"/>
            <a:chOff x="3016" y="2296"/>
            <a:chExt cx="2600" cy="290"/>
          </a:xfrm>
          <a:solidFill>
            <a:srgbClr val="FFCCFF"/>
          </a:solidFill>
        </p:grpSpPr>
        <p:sp>
          <p:nvSpPr>
            <p:cNvPr id="13327" name="Text Box 6"/>
            <p:cNvSpPr txBox="1">
              <a:spLocks noChangeArrowheads="1"/>
            </p:cNvSpPr>
            <p:nvPr/>
          </p:nvSpPr>
          <p:spPr bwMode="auto">
            <a:xfrm>
              <a:off x="3216" y="2296"/>
              <a:ext cx="2400" cy="29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t>时间增加</a:t>
              </a:r>
              <a:r>
                <a:rPr lang="en-US" altLang="zh-CN" b="1" dirty="0"/>
                <a:t>1</a:t>
              </a:r>
              <a:r>
                <a:rPr lang="zh-CN" altLang="en-US" b="1" dirty="0"/>
                <a:t>单位</a:t>
              </a:r>
              <a:r>
                <a:rPr lang="en-US" altLang="zh-CN" b="1" dirty="0"/>
                <a:t>, </a:t>
              </a:r>
              <a:r>
                <a:rPr lang="zh-CN" altLang="en-US" b="1" dirty="0"/>
                <a:t>利润增长</a:t>
              </a:r>
              <a:r>
                <a:rPr lang="en-US" altLang="zh-CN" b="1" dirty="0"/>
                <a:t>2 </a:t>
              </a:r>
              <a:endParaRPr lang="en-US" altLang="zh-CN" b="1" dirty="0"/>
            </a:p>
          </p:txBody>
        </p:sp>
        <p:sp>
          <p:nvSpPr>
            <p:cNvPr id="13328" name="Line 14"/>
            <p:cNvSpPr>
              <a:spLocks noChangeShapeType="1"/>
            </p:cNvSpPr>
            <p:nvPr/>
          </p:nvSpPr>
          <p:spPr bwMode="auto">
            <a:xfrm>
              <a:off x="3016" y="2432"/>
              <a:ext cx="182" cy="0"/>
            </a:xfrm>
            <a:prstGeom prst="line">
              <a:avLst/>
            </a:prstGeom>
            <a:grpFill/>
            <a:ln w="28575">
              <a:solidFill>
                <a:schemeClr val="tx1"/>
              </a:solidFill>
              <a:round/>
              <a:tailEnd type="arrow" w="med" len="med"/>
            </a:ln>
          </p:spPr>
          <p:txBody>
            <a:bodyPr/>
            <a:lstStyle/>
            <a:p>
              <a:endParaRPr lang="zh-CN" altLang="en-US"/>
            </a:p>
          </p:txBody>
        </p:sp>
      </p:grpSp>
      <p:grpSp>
        <p:nvGrpSpPr>
          <p:cNvPr id="4" name="Group 18"/>
          <p:cNvGrpSpPr/>
          <p:nvPr/>
        </p:nvGrpSpPr>
        <p:grpSpPr bwMode="auto">
          <a:xfrm>
            <a:off x="6513388" y="4365104"/>
            <a:ext cx="4119116" cy="460375"/>
            <a:chOff x="3016" y="2614"/>
            <a:chExt cx="2504" cy="290"/>
          </a:xfrm>
        </p:grpSpPr>
        <p:sp>
          <p:nvSpPr>
            <p:cNvPr id="13325" name="Text Box 7"/>
            <p:cNvSpPr txBox="1">
              <a:spLocks noChangeArrowheads="1"/>
            </p:cNvSpPr>
            <p:nvPr/>
          </p:nvSpPr>
          <p:spPr bwMode="auto">
            <a:xfrm>
              <a:off x="3216" y="2614"/>
              <a:ext cx="2304" cy="29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加工能力增长不影响利润</a:t>
              </a:r>
              <a:endParaRPr lang="zh-CN" altLang="en-US" b="1"/>
            </a:p>
          </p:txBody>
        </p:sp>
        <p:sp>
          <p:nvSpPr>
            <p:cNvPr id="13326" name="Line 15"/>
            <p:cNvSpPr>
              <a:spLocks noChangeShapeType="1"/>
            </p:cNvSpPr>
            <p:nvPr/>
          </p:nvSpPr>
          <p:spPr bwMode="auto">
            <a:xfrm>
              <a:off x="3016" y="2750"/>
              <a:ext cx="182"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组合 4"/>
          <p:cNvGrpSpPr/>
          <p:nvPr/>
        </p:nvGrpSpPr>
        <p:grpSpPr>
          <a:xfrm>
            <a:off x="6959203" y="2825360"/>
            <a:ext cx="2023683" cy="521970"/>
            <a:chOff x="5435203" y="2825360"/>
            <a:chExt cx="2023683" cy="521970"/>
          </a:xfrm>
        </p:grpSpPr>
        <p:sp>
          <p:nvSpPr>
            <p:cNvPr id="10248" name="Text Box 8"/>
            <p:cNvSpPr txBox="1">
              <a:spLocks noChangeArrowheads="1"/>
            </p:cNvSpPr>
            <p:nvPr/>
          </p:nvSpPr>
          <p:spPr bwMode="auto">
            <a:xfrm>
              <a:off x="5706286" y="2825360"/>
              <a:ext cx="1752600" cy="52197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3300"/>
                  </a:solidFill>
                </a:rPr>
                <a:t>影子价格 </a:t>
              </a:r>
              <a:endParaRPr lang="zh-CN" altLang="en-US" sz="2800" b="1">
                <a:solidFill>
                  <a:srgbClr val="FF3300"/>
                </a:solidFill>
              </a:endParaRPr>
            </a:p>
          </p:txBody>
        </p:sp>
        <p:sp>
          <p:nvSpPr>
            <p:cNvPr id="19" name="Line 13"/>
            <p:cNvSpPr>
              <a:spLocks noChangeShapeType="1"/>
            </p:cNvSpPr>
            <p:nvPr/>
          </p:nvSpPr>
          <p:spPr bwMode="auto">
            <a:xfrm>
              <a:off x="5435203" y="3140968"/>
              <a:ext cx="288925"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01" name="Text Box 9"/>
          <p:cNvSpPr txBox="1">
            <a:spLocks noChangeArrowheads="1"/>
          </p:cNvSpPr>
          <p:nvPr/>
        </p:nvSpPr>
        <p:spPr bwMode="auto">
          <a:xfrm>
            <a:off x="1346835" y="150336"/>
            <a:ext cx="76962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dirty="0">
                <a:solidFill>
                  <a:srgbClr val="FF0000"/>
                </a:solidFill>
              </a:rPr>
              <a:t>20</a:t>
            </a:r>
            <a:r>
              <a:rPr lang="zh-CN" altLang="en-US" sz="2800" b="1" dirty="0">
                <a:solidFill>
                  <a:srgbClr val="FF0000"/>
                </a:solidFill>
              </a:rPr>
              <a:t>桶牛奶生产</a:t>
            </a:r>
            <a:r>
              <a:rPr lang="en-US" altLang="zh-CN" sz="2800" b="1" dirty="0">
                <a:solidFill>
                  <a:srgbClr val="FF0000"/>
                </a:solidFill>
              </a:rPr>
              <a:t>A</a:t>
            </a:r>
            <a:r>
              <a:rPr lang="en-US" altLang="zh-CN" sz="2800" b="1" baseline="-30000" dirty="0">
                <a:solidFill>
                  <a:srgbClr val="FF0000"/>
                </a:solidFill>
              </a:rPr>
              <a:t>1</a:t>
            </a:r>
            <a:r>
              <a:rPr lang="en-US" altLang="zh-CN" sz="2800" b="1" dirty="0">
                <a:solidFill>
                  <a:srgbClr val="FF0000"/>
                </a:solidFill>
              </a:rPr>
              <a:t>, 30</a:t>
            </a:r>
            <a:r>
              <a:rPr lang="zh-CN" altLang="en-US" sz="2800" b="1" dirty="0">
                <a:solidFill>
                  <a:srgbClr val="FF0000"/>
                </a:solidFill>
              </a:rPr>
              <a:t>桶生产</a:t>
            </a:r>
            <a:r>
              <a:rPr lang="en-US" altLang="zh-CN" sz="2800" b="1" dirty="0">
                <a:solidFill>
                  <a:srgbClr val="FF0000"/>
                </a:solidFill>
              </a:rPr>
              <a:t>A</a:t>
            </a:r>
            <a:r>
              <a:rPr lang="en-US" altLang="zh-CN" sz="2800" b="1" baseline="-30000" dirty="0">
                <a:solidFill>
                  <a:srgbClr val="FF0000"/>
                </a:solidFill>
              </a:rPr>
              <a:t>2</a:t>
            </a:r>
            <a:r>
              <a:rPr lang="zh-CN" altLang="en-US" sz="2800" b="1" dirty="0">
                <a:solidFill>
                  <a:srgbClr val="FF0000"/>
                </a:solidFill>
              </a:rPr>
              <a:t>，利润</a:t>
            </a:r>
            <a:r>
              <a:rPr lang="en-US" altLang="zh-CN" sz="2800" b="1" dirty="0">
                <a:solidFill>
                  <a:srgbClr val="FF0000"/>
                </a:solidFill>
              </a:rPr>
              <a:t>3360</a:t>
            </a:r>
            <a:r>
              <a:rPr lang="zh-CN" altLang="en-US" sz="2800" b="1" dirty="0">
                <a:solidFill>
                  <a:srgbClr val="FF0000"/>
                </a:solidFill>
              </a:rPr>
              <a:t>元</a:t>
            </a:r>
            <a:r>
              <a:rPr lang="en-US" altLang="zh-CN" sz="2800" b="1" dirty="0">
                <a:solidFill>
                  <a:srgbClr val="FF0000"/>
                </a:solidFill>
              </a:rPr>
              <a:t>. </a:t>
            </a:r>
            <a:endParaRPr lang="en-US" altLang="zh-CN"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dissolve">
                                      <p:cBhvr>
                                        <p:cTn id="7" dur="1000"/>
                                        <p:tgtEl>
                                          <p:spTgt spid="102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dissolve">
                                      <p:cBhvr>
                                        <p:cTn id="12" dur="1000"/>
                                        <p:tgtEl>
                                          <p:spTgt spid="102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1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1000" fill="hold"/>
                                        <p:tgtEl>
                                          <p:spTgt spid="5"/>
                                        </p:tgtEl>
                                        <p:attrNameLst>
                                          <p:attrName>ppt_w</p:attrName>
                                        </p:attrNameLst>
                                      </p:cBhvr>
                                      <p:tavLst>
                                        <p:tav tm="0">
                                          <p:val>
                                            <p:fltVal val="0"/>
                                          </p:val>
                                        </p:tav>
                                        <p:tav tm="100000">
                                          <p:val>
                                            <p:strVal val="#ppt_w"/>
                                          </p:val>
                                        </p:tav>
                                      </p:tavLst>
                                    </p:anim>
                                    <p:anim calcmode="lin" valueType="num">
                                      <p:cBhvr>
                                        <p:cTn id="33" dur="1000" fill="hold"/>
                                        <p:tgtEl>
                                          <p:spTgt spid="5"/>
                                        </p:tgtEl>
                                        <p:attrNameLst>
                                          <p:attrName>ppt_h</p:attrName>
                                        </p:attrNameLst>
                                      </p:cBhvr>
                                      <p:tavLst>
                                        <p:tav tm="0">
                                          <p:val>
                                            <p:fltVal val="0"/>
                                          </p:val>
                                        </p:tav>
                                        <p:tav tm="100000">
                                          <p:val>
                                            <p:strVal val="#ppt_h"/>
                                          </p:val>
                                        </p:tav>
                                      </p:tavLst>
                                    </p:anim>
                                    <p:animEffect transition="in" filter="fade">
                                      <p:cBhvr>
                                        <p:cTn id="34" dur="10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0249"/>
                                        </p:tgtEl>
                                        <p:attrNameLst>
                                          <p:attrName>style.visibility</p:attrName>
                                        </p:attrNameLst>
                                      </p:cBhvr>
                                      <p:to>
                                        <p:strVal val="visible"/>
                                      </p:to>
                                    </p:set>
                                    <p:animEffect transition="in" filter="box(in)">
                                      <p:cBhvr>
                                        <p:cTn id="39" dur="1000"/>
                                        <p:tgtEl>
                                          <p:spTgt spid="10249"/>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2" fill="hold" grpId="0" nodeType="clickEffect">
                                  <p:stCondLst>
                                    <p:cond delay="0"/>
                                  </p:stCondLst>
                                  <p:childTnLst>
                                    <p:set>
                                      <p:cBhvr>
                                        <p:cTn id="43" dur="1" fill="hold">
                                          <p:stCondLst>
                                            <p:cond delay="0"/>
                                          </p:stCondLst>
                                        </p:cTn>
                                        <p:tgtEl>
                                          <p:spTgt spid="10250"/>
                                        </p:tgtEl>
                                        <p:attrNameLst>
                                          <p:attrName>style.visibility</p:attrName>
                                        </p:attrNameLst>
                                      </p:cBhvr>
                                      <p:to>
                                        <p:strVal val="visible"/>
                                      </p:to>
                                    </p:set>
                                    <p:animEffect transition="in" filter="slide(fromRight)">
                                      <p:cBhvr>
                                        <p:cTn id="44" dur="1000"/>
                                        <p:tgtEl>
                                          <p:spTgt spid="10250"/>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10251"/>
                                        </p:tgtEl>
                                        <p:attrNameLst>
                                          <p:attrName>style.visibility</p:attrName>
                                        </p:attrNameLst>
                                      </p:cBhvr>
                                      <p:to>
                                        <p:strVal val="visible"/>
                                      </p:to>
                                    </p:set>
                                    <p:animEffect transition="in" filter="box(out)">
                                      <p:cBhvr>
                                        <p:cTn id="49" dur="1000"/>
                                        <p:tgtEl>
                                          <p:spTgt spid="10251"/>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4" fill="hold" grpId="0" nodeType="clickEffect">
                                  <p:stCondLst>
                                    <p:cond delay="0"/>
                                  </p:stCondLst>
                                  <p:childTnLst>
                                    <p:set>
                                      <p:cBhvr>
                                        <p:cTn id="53" dur="1" fill="hold">
                                          <p:stCondLst>
                                            <p:cond delay="0"/>
                                          </p:stCondLst>
                                        </p:cTn>
                                        <p:tgtEl>
                                          <p:spTgt spid="10252"/>
                                        </p:tgtEl>
                                        <p:attrNameLst>
                                          <p:attrName>style.visibility</p:attrName>
                                        </p:attrNameLst>
                                      </p:cBhvr>
                                      <p:to>
                                        <p:strVal val="visible"/>
                                      </p:to>
                                    </p:set>
                                    <p:animEffect transition="in" filter="slide(fromBottom)">
                                      <p:cBhvr>
                                        <p:cTn id="54" dur="1000"/>
                                        <p:tgtEl>
                                          <p:spTgt spid="10252"/>
                                        </p:tgtEl>
                                      </p:cBhvr>
                                    </p:animEffect>
                                  </p:childTnLst>
                                </p:cTn>
                              </p:par>
                            </p:childTnLst>
                          </p:cTn>
                        </p:par>
                      </p:childTnLst>
                    </p:cTn>
                  </p:par>
                  <p:par>
                    <p:cTn id="55" fill="hold">
                      <p:stCondLst>
                        <p:cond delay="indefinite"/>
                      </p:stCondLst>
                      <p:childTnLst>
                        <p:par>
                          <p:cTn id="56" fill="hold">
                            <p:stCondLst>
                              <p:cond delay="0"/>
                            </p:stCondLst>
                            <p:childTnLst>
                              <p:par>
                                <p:cTn id="57" presetID="17" presetClass="entr" presetSubtype="10" fill="hold" grpId="0" nodeType="clickEffect">
                                  <p:stCondLst>
                                    <p:cond delay="0"/>
                                  </p:stCondLst>
                                  <p:childTnLst>
                                    <p:set>
                                      <p:cBhvr>
                                        <p:cTn id="58" dur="1" fill="hold">
                                          <p:stCondLst>
                                            <p:cond delay="0"/>
                                          </p:stCondLst>
                                        </p:cTn>
                                        <p:tgtEl>
                                          <p:spTgt spid="8201"/>
                                        </p:tgtEl>
                                        <p:attrNameLst>
                                          <p:attrName>style.visibility</p:attrName>
                                        </p:attrNameLst>
                                      </p:cBhvr>
                                      <p:to>
                                        <p:strVal val="visible"/>
                                      </p:to>
                                    </p:set>
                                    <p:anim calcmode="lin" valueType="num">
                                      <p:cBhvr>
                                        <p:cTn id="59" dur="1000" fill="hold"/>
                                        <p:tgtEl>
                                          <p:spTgt spid="8201"/>
                                        </p:tgtEl>
                                        <p:attrNameLst>
                                          <p:attrName>ppt_w</p:attrName>
                                        </p:attrNameLst>
                                      </p:cBhvr>
                                      <p:tavLst>
                                        <p:tav tm="0">
                                          <p:val>
                                            <p:fltVal val="0"/>
                                          </p:val>
                                        </p:tav>
                                        <p:tav tm="100000">
                                          <p:val>
                                            <p:strVal val="#ppt_w"/>
                                          </p:val>
                                        </p:tav>
                                      </p:tavLst>
                                    </p:anim>
                                    <p:anim calcmode="lin" valueType="num">
                                      <p:cBhvr>
                                        <p:cTn id="60" dur="1000" fill="hold"/>
                                        <p:tgtEl>
                                          <p:spTgt spid="820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bldLvl="0" animBg="1" autoUpdateAnimBg="0"/>
      <p:bldP spid="10243" grpId="0" bldLvl="0" animBg="1" autoUpdateAnimBg="0"/>
      <p:bldP spid="10249" grpId="0" autoUpdateAnimBg="0"/>
      <p:bldP spid="10250" grpId="0" autoUpdateAnimBg="0"/>
      <p:bldP spid="10251" grpId="0" autoUpdateAnimBg="0"/>
      <p:bldP spid="10252" grpId="0" autoUpdateAnimBg="0"/>
      <p:bldP spid="820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
          <p:cNvSpPr txBox="1">
            <a:spLocks noChangeArrowheads="1"/>
          </p:cNvSpPr>
          <p:nvPr/>
        </p:nvSpPr>
        <p:spPr bwMode="auto">
          <a:xfrm>
            <a:off x="1597025" y="1187450"/>
            <a:ext cx="6370638" cy="4523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Ranges in which the basis is unchanged:</a:t>
            </a:r>
            <a:endParaRPr lang="en-US" altLang="zh-CN" b="1"/>
          </a:p>
          <a:p>
            <a:pPr eaLnBrk="1" hangingPunct="1"/>
            <a:r>
              <a:rPr lang="en-US" altLang="zh-CN" b="1">
                <a:solidFill>
                  <a:srgbClr val="FF0000"/>
                </a:solidFill>
              </a:rPr>
              <a:t>                         Objective Coefficient Ranges</a:t>
            </a:r>
            <a:endParaRPr lang="en-US" altLang="zh-CN" b="1">
              <a:solidFill>
                <a:srgbClr val="FF0000"/>
              </a:solidFill>
            </a:endParaRPr>
          </a:p>
          <a:p>
            <a:pPr eaLnBrk="1" hangingPunct="1"/>
            <a:r>
              <a:rPr lang="en-US" altLang="zh-CN" b="1">
                <a:solidFill>
                  <a:srgbClr val="FF0000"/>
                </a:solidFill>
              </a:rPr>
              <a:t>                 Current        Allowable        Allowable</a:t>
            </a:r>
            <a:endParaRPr lang="en-US" altLang="zh-CN" b="1">
              <a:solidFill>
                <a:srgbClr val="FF0000"/>
              </a:solidFill>
            </a:endParaRPr>
          </a:p>
          <a:p>
            <a:pPr eaLnBrk="1" hangingPunct="1"/>
            <a:r>
              <a:rPr lang="en-US" altLang="zh-CN" b="1">
                <a:solidFill>
                  <a:srgbClr val="FF0000"/>
                </a:solidFill>
              </a:rPr>
              <a:t>Variable  Coefficient    Increase          Decrease</a:t>
            </a:r>
            <a:endParaRPr lang="en-US" altLang="zh-CN" b="1">
              <a:solidFill>
                <a:srgbClr val="FF0000"/>
              </a:solidFill>
            </a:endParaRPr>
          </a:p>
          <a:p>
            <a:pPr eaLnBrk="1" hangingPunct="1"/>
            <a:r>
              <a:rPr lang="en-US" altLang="zh-CN" b="1">
                <a:solidFill>
                  <a:srgbClr val="FF0000"/>
                </a:solidFill>
              </a:rPr>
              <a:t>      X1         72.00000      24.00000       8.000000</a:t>
            </a:r>
            <a:endParaRPr lang="en-US" altLang="zh-CN" b="1">
              <a:solidFill>
                <a:srgbClr val="FF0000"/>
              </a:solidFill>
            </a:endParaRPr>
          </a:p>
          <a:p>
            <a:pPr eaLnBrk="1" hangingPunct="1"/>
            <a:r>
              <a:rPr lang="en-US" altLang="zh-CN" b="1">
                <a:solidFill>
                  <a:srgbClr val="FF0000"/>
                </a:solidFill>
              </a:rPr>
              <a:t>      X2         64.00000      8.000000       16.00000</a:t>
            </a:r>
            <a:endParaRPr lang="en-US" altLang="zh-CN" b="1">
              <a:solidFill>
                <a:srgbClr val="FF0000"/>
              </a:solidFill>
            </a:endParaRPr>
          </a:p>
          <a:p>
            <a:pPr eaLnBrk="1" hangingPunct="1"/>
            <a:r>
              <a:rPr lang="en-US" altLang="zh-CN" b="1"/>
              <a:t>                         Righthand Side Ranges</a:t>
            </a:r>
            <a:endParaRPr lang="en-US" altLang="zh-CN" b="1"/>
          </a:p>
          <a:p>
            <a:pPr eaLnBrk="1" hangingPunct="1"/>
            <a:r>
              <a:rPr lang="en-US" altLang="zh-CN" b="1"/>
              <a:t>   Row          Current      Allowable   Allowable</a:t>
            </a:r>
            <a:endParaRPr lang="en-US" altLang="zh-CN" b="1"/>
          </a:p>
          <a:p>
            <a:pPr eaLnBrk="1" hangingPunct="1"/>
            <a:r>
              <a:rPr lang="en-US" altLang="zh-CN" b="1"/>
              <a:t>                      RHS          Increase       Decrease</a:t>
            </a:r>
            <a:endParaRPr lang="en-US" altLang="zh-CN" b="1"/>
          </a:p>
          <a:p>
            <a:pPr eaLnBrk="1" hangingPunct="1"/>
            <a:r>
              <a:rPr lang="en-US" altLang="zh-CN" b="1"/>
              <a:t>   MILK      50.00000      10.00000       6.666667</a:t>
            </a:r>
            <a:endParaRPr lang="en-US" altLang="zh-CN" b="1"/>
          </a:p>
          <a:p>
            <a:pPr eaLnBrk="1" hangingPunct="1"/>
            <a:r>
              <a:rPr lang="en-US" altLang="zh-CN" b="1"/>
              <a:t>   TIME      480.0000      53.33333       80.00000</a:t>
            </a:r>
            <a:endParaRPr lang="en-US" altLang="zh-CN" b="1"/>
          </a:p>
          <a:p>
            <a:pPr eaLnBrk="1" hangingPunct="1"/>
            <a:r>
              <a:rPr lang="en-US" altLang="zh-CN" b="1"/>
              <a:t>  CPCT       100.0000     INFINITY    40.00000</a:t>
            </a:r>
            <a:r>
              <a:rPr lang="en-US" altLang="zh-CN"/>
              <a:t> </a:t>
            </a:r>
            <a:endParaRPr lang="en-US" altLang="zh-CN"/>
          </a:p>
        </p:txBody>
      </p:sp>
      <p:sp>
        <p:nvSpPr>
          <p:cNvPr id="11268" name="Text Box 4"/>
          <p:cNvSpPr txBox="1">
            <a:spLocks noChangeArrowheads="1"/>
          </p:cNvSpPr>
          <p:nvPr/>
        </p:nvSpPr>
        <p:spPr bwMode="auto">
          <a:xfrm>
            <a:off x="7620000" y="533400"/>
            <a:ext cx="3048000" cy="97726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b="1"/>
              <a:t>最优解不变时目标函数系数允许变化范围 </a:t>
            </a:r>
            <a:endParaRPr lang="zh-CN" altLang="en-US" b="1"/>
          </a:p>
        </p:txBody>
      </p:sp>
      <p:sp>
        <p:nvSpPr>
          <p:cNvPr id="11270" name="Text Box 6"/>
          <p:cNvSpPr txBox="1">
            <a:spLocks noChangeArrowheads="1"/>
          </p:cNvSpPr>
          <p:nvPr/>
        </p:nvSpPr>
        <p:spPr bwMode="auto">
          <a:xfrm>
            <a:off x="1919536" y="533400"/>
            <a:ext cx="5257800" cy="565150"/>
          </a:xfrm>
          <a:prstGeom prst="rect">
            <a:avLst/>
          </a:prstGeom>
          <a:solidFill>
            <a:srgbClr val="FFFF00"/>
          </a:solidFill>
          <a:ln>
            <a:noFill/>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pPr>
            <a:r>
              <a:rPr lang="zh-CN" altLang="en-US" sz="2800" b="1" dirty="0"/>
              <a:t>敏感性分析 </a:t>
            </a:r>
            <a:r>
              <a:rPr lang="en-US" altLang="zh-CN" sz="2800" b="1" dirty="0"/>
              <a:t>(“</a:t>
            </a:r>
            <a:r>
              <a:rPr lang="en-US" altLang="zh-CN" sz="2800" b="1" dirty="0" err="1"/>
              <a:t>LINGO|Ranges</a:t>
            </a:r>
            <a:r>
              <a:rPr lang="en-US" altLang="zh-CN" sz="2800" b="1" dirty="0"/>
              <a:t>” ) </a:t>
            </a:r>
            <a:endParaRPr lang="en-US" altLang="zh-CN" sz="2800" b="1" dirty="0"/>
          </a:p>
        </p:txBody>
      </p:sp>
      <p:sp>
        <p:nvSpPr>
          <p:cNvPr id="11272" name="Text Box 8"/>
          <p:cNvSpPr txBox="1">
            <a:spLocks noChangeArrowheads="1"/>
          </p:cNvSpPr>
          <p:nvPr/>
        </p:nvSpPr>
        <p:spPr bwMode="auto">
          <a:xfrm>
            <a:off x="7924800" y="2514600"/>
            <a:ext cx="2514600" cy="460375"/>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x</a:t>
            </a:r>
            <a:r>
              <a:rPr lang="en-US" altLang="zh-CN" b="1" baseline="-30000"/>
              <a:t>1</a:t>
            </a:r>
            <a:r>
              <a:rPr lang="zh-CN" altLang="en-US" b="1"/>
              <a:t>系数范围</a:t>
            </a:r>
            <a:r>
              <a:rPr lang="en-US" altLang="zh-CN" b="1">
                <a:solidFill>
                  <a:srgbClr val="FF0000"/>
                </a:solidFill>
              </a:rPr>
              <a:t>(64,96)</a:t>
            </a:r>
            <a:r>
              <a:rPr lang="en-US" altLang="zh-CN" b="1"/>
              <a:t> </a:t>
            </a:r>
            <a:endParaRPr lang="en-US" altLang="zh-CN" b="1"/>
          </a:p>
        </p:txBody>
      </p:sp>
      <p:sp>
        <p:nvSpPr>
          <p:cNvPr id="11273" name="Text Box 9"/>
          <p:cNvSpPr txBox="1">
            <a:spLocks noChangeArrowheads="1"/>
          </p:cNvSpPr>
          <p:nvPr/>
        </p:nvSpPr>
        <p:spPr bwMode="auto">
          <a:xfrm>
            <a:off x="7924800" y="3048000"/>
            <a:ext cx="2492375" cy="460375"/>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x</a:t>
            </a:r>
            <a:r>
              <a:rPr lang="en-US" altLang="zh-CN" b="1" baseline="-30000"/>
              <a:t>2</a:t>
            </a:r>
            <a:r>
              <a:rPr lang="zh-CN" altLang="en-US" b="1"/>
              <a:t>系数范围</a:t>
            </a:r>
            <a:r>
              <a:rPr lang="en-US" altLang="zh-CN" b="1">
                <a:solidFill>
                  <a:srgbClr val="FF0000"/>
                </a:solidFill>
              </a:rPr>
              <a:t>(48,72)</a:t>
            </a:r>
            <a:r>
              <a:rPr lang="en-US" altLang="zh-CN" b="1"/>
              <a:t> </a:t>
            </a:r>
            <a:endParaRPr lang="en-US" altLang="zh-CN" b="1"/>
          </a:p>
        </p:txBody>
      </p:sp>
      <p:sp>
        <p:nvSpPr>
          <p:cNvPr id="11274" name="Text Box 10"/>
          <p:cNvSpPr txBox="1">
            <a:spLocks noChangeArrowheads="1"/>
          </p:cNvSpPr>
          <p:nvPr/>
        </p:nvSpPr>
        <p:spPr bwMode="auto">
          <a:xfrm>
            <a:off x="1672208" y="5805264"/>
            <a:ext cx="7232104" cy="52197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a:t>
            </a:r>
            <a:r>
              <a:rPr lang="en-US" altLang="zh-CN" sz="2800" b="1" baseline="-30000"/>
              <a:t>1</a:t>
            </a:r>
            <a:r>
              <a:rPr lang="zh-CN" altLang="en-US" sz="2800" b="1"/>
              <a:t>获利增加到 </a:t>
            </a:r>
            <a:r>
              <a:rPr lang="en-US" altLang="zh-CN" sz="2800" b="1"/>
              <a:t>30</a:t>
            </a:r>
            <a:r>
              <a:rPr lang="zh-CN" altLang="en-US" sz="2800" b="1"/>
              <a:t>元</a:t>
            </a:r>
            <a:r>
              <a:rPr lang="en-US" altLang="zh-CN" sz="2800" b="1"/>
              <a:t>/kg</a:t>
            </a:r>
            <a:r>
              <a:rPr lang="zh-CN" altLang="en-US" sz="2800" b="1"/>
              <a:t>，应否改变生产计划</a:t>
            </a:r>
            <a:r>
              <a:rPr lang="en-US" altLang="zh-CN" sz="2800" b="1"/>
              <a:t>? </a:t>
            </a:r>
            <a:endParaRPr lang="en-US" altLang="zh-CN" sz="2800" b="1"/>
          </a:p>
        </p:txBody>
      </p:sp>
      <p:sp>
        <p:nvSpPr>
          <p:cNvPr id="11275" name="Text Box 11"/>
          <p:cNvSpPr txBox="1">
            <a:spLocks noChangeArrowheads="1"/>
          </p:cNvSpPr>
          <p:nvPr/>
        </p:nvSpPr>
        <p:spPr bwMode="auto">
          <a:xfrm>
            <a:off x="7967663" y="4292600"/>
            <a:ext cx="2663825" cy="1420495"/>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50000"/>
              </a:spcBef>
            </a:pPr>
            <a:r>
              <a:rPr lang="en-US" altLang="zh-CN" b="1" i="1"/>
              <a:t>x</a:t>
            </a:r>
            <a:r>
              <a:rPr lang="en-US" altLang="zh-CN" b="1" baseline="-30000"/>
              <a:t>1</a:t>
            </a:r>
            <a:r>
              <a:rPr lang="zh-CN" altLang="en-US" b="1"/>
              <a:t>系数由</a:t>
            </a:r>
            <a:r>
              <a:rPr lang="en-US" altLang="zh-CN" b="1"/>
              <a:t>24 </a:t>
            </a:r>
            <a:r>
              <a:rPr lang="en-US" altLang="zh-CN" b="1">
                <a:sym typeface="Symbol" panose="05050102010706020507" pitchFamily="18" charset="2"/>
              </a:rPr>
              <a:t>3=72</a:t>
            </a:r>
            <a:r>
              <a:rPr lang="zh-CN" altLang="en-US" b="1">
                <a:sym typeface="Symbol" panose="05050102010706020507" pitchFamily="18" charset="2"/>
              </a:rPr>
              <a:t>增加</a:t>
            </a:r>
            <a:r>
              <a:rPr lang="zh-CN" altLang="en-US" b="1"/>
              <a:t>为</a:t>
            </a:r>
            <a:r>
              <a:rPr lang="en-US" altLang="zh-CN" b="1"/>
              <a:t>30</a:t>
            </a:r>
            <a:r>
              <a:rPr lang="en-US" altLang="zh-CN" b="1">
                <a:sym typeface="Symbol" panose="05050102010706020507" pitchFamily="18" charset="2"/>
              </a:rPr>
              <a:t>3=90</a:t>
            </a:r>
            <a:r>
              <a:rPr lang="zh-CN" altLang="en-US" b="1">
                <a:sym typeface="Symbol" panose="05050102010706020507" pitchFamily="18" charset="2"/>
              </a:rPr>
              <a:t>，在</a:t>
            </a:r>
            <a:r>
              <a:rPr lang="zh-CN" altLang="en-US" b="1"/>
              <a:t>允许范围内 </a:t>
            </a:r>
            <a:endParaRPr lang="zh-CN" altLang="en-US" b="1"/>
          </a:p>
        </p:txBody>
      </p:sp>
      <p:sp>
        <p:nvSpPr>
          <p:cNvPr id="11276" name="Text Box 12"/>
          <p:cNvSpPr txBox="1">
            <a:spLocks noChangeArrowheads="1"/>
          </p:cNvSpPr>
          <p:nvPr/>
        </p:nvSpPr>
        <p:spPr bwMode="auto">
          <a:xfrm>
            <a:off x="9191625" y="5805264"/>
            <a:ext cx="1296988" cy="52197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rPr>
              <a:t>不变！</a:t>
            </a:r>
            <a:endParaRPr lang="zh-CN" altLang="en-US" sz="2800" b="1" dirty="0">
              <a:solidFill>
                <a:srgbClr val="FF0000"/>
              </a:solidFill>
            </a:endParaRPr>
          </a:p>
        </p:txBody>
      </p:sp>
      <p:sp>
        <p:nvSpPr>
          <p:cNvPr id="11277" name="Text Box 13"/>
          <p:cNvSpPr txBox="1">
            <a:spLocks noChangeArrowheads="1"/>
          </p:cNvSpPr>
          <p:nvPr/>
        </p:nvSpPr>
        <p:spPr bwMode="auto">
          <a:xfrm>
            <a:off x="8077200" y="1600200"/>
            <a:ext cx="2438400" cy="4603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a:t>
            </a:r>
            <a:r>
              <a:rPr lang="zh-CN" altLang="en-US" b="1"/>
              <a:t>约束条件不变</a:t>
            </a:r>
            <a:r>
              <a:rPr lang="en-US" altLang="zh-CN" b="1"/>
              <a:t>)</a:t>
            </a:r>
            <a:endParaRPr lang="en-US" altLang="zh-CN"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dissolve">
                                      <p:cBhvr>
                                        <p:cTn id="7" dur="1000"/>
                                        <p:tgtEl>
                                          <p:spTgt spid="1126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268"/>
                                        </p:tgtEl>
                                        <p:attrNameLst>
                                          <p:attrName>style.visibility</p:attrName>
                                        </p:attrNameLst>
                                      </p:cBhvr>
                                      <p:to>
                                        <p:strVal val="visible"/>
                                      </p:to>
                                    </p:set>
                                    <p:animEffect transition="in" filter="box(out)">
                                      <p:cBhvr>
                                        <p:cTn id="12" dur="1000"/>
                                        <p:tgtEl>
                                          <p:spTgt spid="1126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999"/>
                                          </p:stCondLst>
                                        </p:cTn>
                                        <p:tgtEl>
                                          <p:spTgt spid="1127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1272"/>
                                        </p:tgtEl>
                                        <p:attrNameLst>
                                          <p:attrName>style.visibility</p:attrName>
                                        </p:attrNameLst>
                                      </p:cBhvr>
                                      <p:to>
                                        <p:strVal val="visible"/>
                                      </p:to>
                                    </p:set>
                                    <p:animEffect transition="in" filter="blinds(horizontal)">
                                      <p:cBhvr>
                                        <p:cTn id="21" dur="1000"/>
                                        <p:tgtEl>
                                          <p:spTgt spid="1127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273"/>
                                        </p:tgtEl>
                                        <p:attrNameLst>
                                          <p:attrName>style.visibility</p:attrName>
                                        </p:attrNameLst>
                                      </p:cBhvr>
                                      <p:to>
                                        <p:strVal val="visible"/>
                                      </p:to>
                                    </p:set>
                                    <p:animEffect transition="in" filter="blinds(horizontal)">
                                      <p:cBhvr>
                                        <p:cTn id="26" dur="1000"/>
                                        <p:tgtEl>
                                          <p:spTgt spid="11273"/>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42" fill="hold" grpId="0" nodeType="clickEffect">
                                  <p:stCondLst>
                                    <p:cond delay="0"/>
                                  </p:stCondLst>
                                  <p:childTnLst>
                                    <p:set>
                                      <p:cBhvr>
                                        <p:cTn id="30" dur="1" fill="hold">
                                          <p:stCondLst>
                                            <p:cond delay="0"/>
                                          </p:stCondLst>
                                        </p:cTn>
                                        <p:tgtEl>
                                          <p:spTgt spid="11274"/>
                                        </p:tgtEl>
                                        <p:attrNameLst>
                                          <p:attrName>style.visibility</p:attrName>
                                        </p:attrNameLst>
                                      </p:cBhvr>
                                      <p:to>
                                        <p:strVal val="visible"/>
                                      </p:to>
                                    </p:set>
                                    <p:animEffect transition="in" filter="barn(outHorizontal)">
                                      <p:cBhvr>
                                        <p:cTn id="31" dur="1000"/>
                                        <p:tgtEl>
                                          <p:spTgt spid="11274"/>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11275"/>
                                        </p:tgtEl>
                                        <p:attrNameLst>
                                          <p:attrName>style.visibility</p:attrName>
                                        </p:attrNameLst>
                                      </p:cBhvr>
                                      <p:to>
                                        <p:strVal val="visible"/>
                                      </p:to>
                                    </p:set>
                                    <p:animEffect transition="in" filter="box(in)">
                                      <p:cBhvr>
                                        <p:cTn id="36" dur="1000"/>
                                        <p:tgtEl>
                                          <p:spTgt spid="11275"/>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42" fill="hold" grpId="0" nodeType="clickEffect">
                                  <p:stCondLst>
                                    <p:cond delay="0"/>
                                  </p:stCondLst>
                                  <p:childTnLst>
                                    <p:set>
                                      <p:cBhvr>
                                        <p:cTn id="40" dur="1" fill="hold">
                                          <p:stCondLst>
                                            <p:cond delay="0"/>
                                          </p:stCondLst>
                                        </p:cTn>
                                        <p:tgtEl>
                                          <p:spTgt spid="11276"/>
                                        </p:tgtEl>
                                        <p:attrNameLst>
                                          <p:attrName>style.visibility</p:attrName>
                                        </p:attrNameLst>
                                      </p:cBhvr>
                                      <p:to>
                                        <p:strVal val="visible"/>
                                      </p:to>
                                    </p:set>
                                    <p:animEffect transition="in" filter="barn(outHorizontal)">
                                      <p:cBhvr>
                                        <p:cTn id="41" dur="1000"/>
                                        <p:tgtEl>
                                          <p:spTgt spid="11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ldLvl="0" animBg="1" autoUpdateAnimBg="0"/>
      <p:bldP spid="11268" grpId="0" bldLvl="0" animBg="1" autoUpdateAnimBg="0"/>
      <p:bldP spid="11272" grpId="0" bldLvl="0" animBg="1" autoUpdateAnimBg="0"/>
      <p:bldP spid="11273" grpId="0" bldLvl="0" animBg="1" autoUpdateAnimBg="0"/>
      <p:bldP spid="11274" grpId="0" bldLvl="0" animBg="1" autoUpdateAnimBg="0"/>
      <p:bldP spid="11275" grpId="0" bldLvl="0" animBg="1" autoUpdateAnimBg="0"/>
      <p:bldP spid="11276" grpId="0" bldLvl="0" animBg="1" autoUpdateAnimBg="0"/>
      <p:bldP spid="11277" grpId="0" bldLvl="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1752600" y="457200"/>
            <a:ext cx="1752600" cy="52197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latin typeface="楷体_GB2312" pitchFamily="49" charset="-122"/>
                <a:ea typeface="楷体_GB2312" pitchFamily="49" charset="-122"/>
              </a:rPr>
              <a:t>结果解释</a:t>
            </a:r>
            <a:r>
              <a:rPr lang="zh-CN" altLang="en-US" sz="2800">
                <a:latin typeface="楷体_GB2312" pitchFamily="49" charset="-122"/>
                <a:ea typeface="楷体_GB2312" pitchFamily="49" charset="-122"/>
              </a:rPr>
              <a:t> </a:t>
            </a:r>
            <a:endParaRPr lang="zh-CN" altLang="en-US" sz="2800">
              <a:latin typeface="楷体_GB2312" pitchFamily="49" charset="-122"/>
              <a:ea typeface="楷体_GB2312" pitchFamily="49" charset="-122"/>
            </a:endParaRPr>
          </a:p>
        </p:txBody>
      </p:sp>
      <p:sp>
        <p:nvSpPr>
          <p:cNvPr id="12291" name="Text Box 3"/>
          <p:cNvSpPr txBox="1">
            <a:spLocks noChangeArrowheads="1"/>
          </p:cNvSpPr>
          <p:nvPr/>
        </p:nvSpPr>
        <p:spPr bwMode="auto">
          <a:xfrm>
            <a:off x="1682750" y="1066800"/>
            <a:ext cx="6394450" cy="4523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Ranges in which the basis is unchanged:</a:t>
            </a:r>
            <a:endParaRPr lang="en-US" altLang="zh-CN" b="1" dirty="0"/>
          </a:p>
          <a:p>
            <a:pPr eaLnBrk="1" hangingPunct="1"/>
            <a:r>
              <a:rPr lang="en-US" altLang="zh-CN" b="1" dirty="0"/>
              <a:t>                         Objective Coefficient Ranges</a:t>
            </a:r>
            <a:endParaRPr lang="en-US" altLang="zh-CN" b="1" dirty="0"/>
          </a:p>
          <a:p>
            <a:pPr eaLnBrk="1" hangingPunct="1"/>
            <a:r>
              <a:rPr lang="en-US" altLang="zh-CN" b="1" dirty="0"/>
              <a:t>                 Current        Allowable        </a:t>
            </a:r>
            <a:r>
              <a:rPr lang="en-US" altLang="zh-CN" b="1" dirty="0" err="1"/>
              <a:t>Allowable</a:t>
            </a:r>
            <a:endParaRPr lang="en-US" altLang="zh-CN" b="1" dirty="0"/>
          </a:p>
          <a:p>
            <a:pPr eaLnBrk="1" hangingPunct="1"/>
            <a:r>
              <a:rPr lang="en-US" altLang="zh-CN" b="1" dirty="0"/>
              <a:t>Variable  Coefficient    Increase          Decrease</a:t>
            </a:r>
            <a:endParaRPr lang="en-US" altLang="zh-CN" b="1" dirty="0"/>
          </a:p>
          <a:p>
            <a:pPr eaLnBrk="1" hangingPunct="1"/>
            <a:r>
              <a:rPr lang="en-US" altLang="zh-CN" b="1" dirty="0"/>
              <a:t>      X1         72.00000      24.00000       8.000000</a:t>
            </a:r>
            <a:endParaRPr lang="en-US" altLang="zh-CN" b="1" dirty="0"/>
          </a:p>
          <a:p>
            <a:pPr eaLnBrk="1" hangingPunct="1"/>
            <a:r>
              <a:rPr lang="en-US" altLang="zh-CN" b="1" dirty="0"/>
              <a:t>      X2         64.00000      8.000000       16.00000</a:t>
            </a:r>
            <a:endParaRPr lang="en-US" altLang="zh-CN" b="1" dirty="0"/>
          </a:p>
          <a:p>
            <a:pPr eaLnBrk="1" hangingPunct="1"/>
            <a:r>
              <a:rPr lang="en-US" altLang="zh-CN" b="1" dirty="0">
                <a:solidFill>
                  <a:srgbClr val="FF0000"/>
                </a:solidFill>
              </a:rPr>
              <a:t>                         </a:t>
            </a:r>
            <a:r>
              <a:rPr lang="en-US" altLang="zh-CN" b="1" dirty="0" err="1">
                <a:solidFill>
                  <a:srgbClr val="FF0000"/>
                </a:solidFill>
              </a:rPr>
              <a:t>Righthand</a:t>
            </a:r>
            <a:r>
              <a:rPr lang="en-US" altLang="zh-CN" b="1" dirty="0">
                <a:solidFill>
                  <a:srgbClr val="FF0000"/>
                </a:solidFill>
              </a:rPr>
              <a:t> Side Ranges</a:t>
            </a:r>
            <a:endParaRPr lang="en-US" altLang="zh-CN" b="1" dirty="0">
              <a:solidFill>
                <a:srgbClr val="FF0000"/>
              </a:solidFill>
            </a:endParaRPr>
          </a:p>
          <a:p>
            <a:pPr eaLnBrk="1" hangingPunct="1"/>
            <a:r>
              <a:rPr lang="en-US" altLang="zh-CN" b="1" dirty="0">
                <a:solidFill>
                  <a:srgbClr val="FF0000"/>
                </a:solidFill>
              </a:rPr>
              <a:t>   Row          Current      Allowable   </a:t>
            </a:r>
            <a:r>
              <a:rPr lang="en-US" altLang="zh-CN" b="1" dirty="0" err="1">
                <a:solidFill>
                  <a:srgbClr val="FF0000"/>
                </a:solidFill>
              </a:rPr>
              <a:t>Allowable</a:t>
            </a:r>
            <a:endParaRPr lang="en-US" altLang="zh-CN" b="1" dirty="0">
              <a:solidFill>
                <a:srgbClr val="FF0000"/>
              </a:solidFill>
            </a:endParaRPr>
          </a:p>
          <a:p>
            <a:pPr eaLnBrk="1" hangingPunct="1"/>
            <a:r>
              <a:rPr lang="en-US" altLang="zh-CN" b="1" dirty="0">
                <a:solidFill>
                  <a:srgbClr val="FF0000"/>
                </a:solidFill>
              </a:rPr>
              <a:t>                      RHS          Increase       Decrease</a:t>
            </a:r>
            <a:endParaRPr lang="en-US" altLang="zh-CN" b="1" dirty="0">
              <a:solidFill>
                <a:srgbClr val="FF0000"/>
              </a:solidFill>
            </a:endParaRPr>
          </a:p>
          <a:p>
            <a:pPr eaLnBrk="1" hangingPunct="1"/>
            <a:r>
              <a:rPr lang="en-US" altLang="zh-CN" b="1" dirty="0">
                <a:solidFill>
                  <a:srgbClr val="FF0000"/>
                </a:solidFill>
              </a:rPr>
              <a:t>   MILK      50.00000      10.00000       6.666667</a:t>
            </a:r>
            <a:endParaRPr lang="en-US" altLang="zh-CN" b="1" dirty="0">
              <a:solidFill>
                <a:srgbClr val="FF0000"/>
              </a:solidFill>
            </a:endParaRPr>
          </a:p>
          <a:p>
            <a:pPr eaLnBrk="1" hangingPunct="1"/>
            <a:r>
              <a:rPr lang="en-US" altLang="zh-CN" b="1" dirty="0">
                <a:solidFill>
                  <a:srgbClr val="FF0000"/>
                </a:solidFill>
              </a:rPr>
              <a:t>   TIME      480.0000      53.33333       80.00000</a:t>
            </a:r>
            <a:endParaRPr lang="en-US" altLang="zh-CN" b="1" dirty="0">
              <a:solidFill>
                <a:srgbClr val="FF0000"/>
              </a:solidFill>
            </a:endParaRPr>
          </a:p>
          <a:p>
            <a:pPr eaLnBrk="1" hangingPunct="1"/>
            <a:r>
              <a:rPr lang="en-US" altLang="zh-CN" b="1" dirty="0">
                <a:solidFill>
                  <a:srgbClr val="FF0000"/>
                </a:solidFill>
              </a:rPr>
              <a:t>  CPCT       100.0000     INFINITY    40.00000</a:t>
            </a:r>
            <a:endParaRPr lang="en-US" altLang="zh-CN" b="1" dirty="0">
              <a:solidFill>
                <a:srgbClr val="FF0000"/>
              </a:solidFill>
            </a:endParaRPr>
          </a:p>
        </p:txBody>
      </p:sp>
      <p:sp>
        <p:nvSpPr>
          <p:cNvPr id="12292" name="Text Box 4"/>
          <p:cNvSpPr txBox="1">
            <a:spLocks noChangeArrowheads="1"/>
          </p:cNvSpPr>
          <p:nvPr/>
        </p:nvSpPr>
        <p:spPr bwMode="auto">
          <a:xfrm>
            <a:off x="3505200" y="476250"/>
            <a:ext cx="71628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05000"/>
              </a:lnSpc>
              <a:spcBef>
                <a:spcPct val="20000"/>
              </a:spcBef>
            </a:pPr>
            <a:r>
              <a:rPr lang="zh-CN" altLang="en-US" sz="2800" b="1"/>
              <a:t>影子价格有意义时约束右端的允许变化范围 </a:t>
            </a:r>
            <a:endParaRPr lang="zh-CN" altLang="en-US" sz="2800" b="1"/>
          </a:p>
        </p:txBody>
      </p:sp>
      <p:sp>
        <p:nvSpPr>
          <p:cNvPr id="12293" name="Text Box 5"/>
          <p:cNvSpPr txBox="1">
            <a:spLocks noChangeArrowheads="1"/>
          </p:cNvSpPr>
          <p:nvPr/>
        </p:nvSpPr>
        <p:spPr bwMode="auto">
          <a:xfrm>
            <a:off x="8077200" y="4167188"/>
            <a:ext cx="2438400" cy="460375"/>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原料最多增加</a:t>
            </a:r>
            <a:r>
              <a:rPr lang="en-US" altLang="zh-CN" b="1"/>
              <a:t>10 </a:t>
            </a:r>
            <a:endParaRPr lang="en-US" altLang="zh-CN" b="1"/>
          </a:p>
        </p:txBody>
      </p:sp>
      <p:sp>
        <p:nvSpPr>
          <p:cNvPr id="12294" name="Text Box 6"/>
          <p:cNvSpPr txBox="1">
            <a:spLocks noChangeArrowheads="1"/>
          </p:cNvSpPr>
          <p:nvPr/>
        </p:nvSpPr>
        <p:spPr bwMode="auto">
          <a:xfrm>
            <a:off x="8077200" y="4700588"/>
            <a:ext cx="2411413" cy="460375"/>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时间最多增加</a:t>
            </a:r>
            <a:r>
              <a:rPr lang="en-US" altLang="zh-CN" b="1"/>
              <a:t>53 </a:t>
            </a:r>
            <a:endParaRPr lang="en-US" altLang="zh-CN" b="1"/>
          </a:p>
        </p:txBody>
      </p:sp>
      <p:sp>
        <p:nvSpPr>
          <p:cNvPr id="12295" name="Text Box 7"/>
          <p:cNvSpPr txBox="1">
            <a:spLocks noChangeArrowheads="1"/>
          </p:cNvSpPr>
          <p:nvPr/>
        </p:nvSpPr>
        <p:spPr bwMode="auto">
          <a:xfrm>
            <a:off x="1676400" y="5805264"/>
            <a:ext cx="6435725" cy="52197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35</a:t>
            </a:r>
            <a:r>
              <a:rPr lang="zh-CN" altLang="en-US" sz="2800" b="1"/>
              <a:t>元可买到</a:t>
            </a:r>
            <a:r>
              <a:rPr lang="en-US" altLang="zh-CN" sz="2800" b="1"/>
              <a:t>1</a:t>
            </a:r>
            <a:r>
              <a:rPr lang="zh-CN" altLang="en-US" sz="2800" b="1"/>
              <a:t>桶牛奶</a:t>
            </a:r>
            <a:r>
              <a:rPr lang="en-US" altLang="zh-CN" sz="2800" b="1"/>
              <a:t>, </a:t>
            </a:r>
            <a:r>
              <a:rPr lang="zh-CN" altLang="en-US" sz="2800" b="1"/>
              <a:t>每天最多买多少</a:t>
            </a:r>
            <a:r>
              <a:rPr lang="en-US" altLang="zh-CN" sz="2800" b="1"/>
              <a:t>?</a:t>
            </a:r>
            <a:endParaRPr lang="en-US" altLang="zh-CN" sz="2800" b="1"/>
          </a:p>
        </p:txBody>
      </p:sp>
      <p:sp>
        <p:nvSpPr>
          <p:cNvPr id="12296" name="Text Box 8"/>
          <p:cNvSpPr txBox="1">
            <a:spLocks noChangeArrowheads="1"/>
          </p:cNvSpPr>
          <p:nvPr/>
        </p:nvSpPr>
        <p:spPr bwMode="auto">
          <a:xfrm>
            <a:off x="8183563" y="5805264"/>
            <a:ext cx="21336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最多买</a:t>
            </a:r>
            <a:r>
              <a:rPr lang="en-US" altLang="zh-CN" sz="2800" b="1">
                <a:solidFill>
                  <a:srgbClr val="FF0000"/>
                </a:solidFill>
              </a:rPr>
              <a:t>10</a:t>
            </a:r>
            <a:r>
              <a:rPr lang="zh-CN" altLang="en-US" sz="2800" b="1">
                <a:solidFill>
                  <a:srgbClr val="FF0000"/>
                </a:solidFill>
              </a:rPr>
              <a:t>桶</a:t>
            </a:r>
            <a:r>
              <a:rPr lang="en-US" altLang="zh-CN" sz="2800" b="1">
                <a:solidFill>
                  <a:srgbClr val="FF0000"/>
                </a:solidFill>
              </a:rPr>
              <a:t>!</a:t>
            </a:r>
            <a:endParaRPr lang="en-US" altLang="zh-CN" sz="2800" b="1">
              <a:solidFill>
                <a:srgbClr val="FF0000"/>
              </a:solidFill>
            </a:endParaRPr>
          </a:p>
        </p:txBody>
      </p:sp>
      <p:sp>
        <p:nvSpPr>
          <p:cNvPr id="12297" name="Text Box 9"/>
          <p:cNvSpPr txBox="1">
            <a:spLocks noChangeArrowheads="1"/>
          </p:cNvSpPr>
          <p:nvPr/>
        </p:nvSpPr>
        <p:spPr bwMode="auto">
          <a:xfrm>
            <a:off x="8112224" y="1125538"/>
            <a:ext cx="2501900" cy="52197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smtClean="0"/>
              <a:t>目标函数不变</a:t>
            </a:r>
            <a:endParaRPr lang="en-US" altLang="zh-CN" sz="2800" b="1" dirty="0"/>
          </a:p>
        </p:txBody>
      </p:sp>
      <p:sp>
        <p:nvSpPr>
          <p:cNvPr id="106498" name="Rectangle 2"/>
          <p:cNvSpPr>
            <a:spLocks noChangeArrowheads="1"/>
          </p:cNvSpPr>
          <p:nvPr/>
        </p:nvSpPr>
        <p:spPr bwMode="auto">
          <a:xfrm>
            <a:off x="8832850" y="5232375"/>
            <a:ext cx="1584960" cy="460375"/>
          </a:xfrm>
          <a:prstGeom prst="rect">
            <a:avLst/>
          </a:prstGeom>
          <a:solidFill>
            <a:srgbClr val="00FF00"/>
          </a:solidFill>
          <a:ln w="9525">
            <a:solidFill>
              <a:srgbClr val="00FF00"/>
            </a:solidFill>
            <a:miter lim="800000"/>
          </a:ln>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充分条件 </a:t>
            </a:r>
            <a:r>
              <a:rPr lang="en-US" altLang="zh-CN" b="1" dirty="0"/>
              <a:t>!</a:t>
            </a: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animEffect transition="in" filter="dissolve">
                                      <p:cBhvr>
                                        <p:cTn id="7" dur="1000"/>
                                        <p:tgtEl>
                                          <p:spTgt spid="122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92"/>
                                        </p:tgtEl>
                                        <p:attrNameLst>
                                          <p:attrName>style.visibility</p:attrName>
                                        </p:attrNameLst>
                                      </p:cBhvr>
                                      <p:to>
                                        <p:strVal val="visible"/>
                                      </p:to>
                                    </p:set>
                                    <p:animEffect transition="in" filter="blinds(horizontal)">
                                      <p:cBhvr>
                                        <p:cTn id="12" dur="1000"/>
                                        <p:tgtEl>
                                          <p:spTgt spid="1229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999"/>
                                          </p:stCondLst>
                                        </p:cTn>
                                        <p:tgtEl>
                                          <p:spTgt spid="122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295"/>
                                        </p:tgtEl>
                                        <p:attrNameLst>
                                          <p:attrName>style.visibility</p:attrName>
                                        </p:attrNameLst>
                                      </p:cBhvr>
                                      <p:to>
                                        <p:strVal val="visible"/>
                                      </p:to>
                                    </p:set>
                                    <p:animEffect transition="in" filter="wipe(left)">
                                      <p:cBhvr>
                                        <p:cTn id="21" dur="1000"/>
                                        <p:tgtEl>
                                          <p:spTgt spid="12295"/>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2293"/>
                                        </p:tgtEl>
                                        <p:attrNameLst>
                                          <p:attrName>style.visibility</p:attrName>
                                        </p:attrNameLst>
                                      </p:cBhvr>
                                      <p:to>
                                        <p:strVal val="visible"/>
                                      </p:to>
                                    </p:set>
                                    <p:animEffect transition="in" filter="blinds(horizontal)">
                                      <p:cBhvr>
                                        <p:cTn id="26" dur="1000"/>
                                        <p:tgtEl>
                                          <p:spTgt spid="1229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294"/>
                                        </p:tgtEl>
                                        <p:attrNameLst>
                                          <p:attrName>style.visibility</p:attrName>
                                        </p:attrNameLst>
                                      </p:cBhvr>
                                      <p:to>
                                        <p:strVal val="visible"/>
                                      </p:to>
                                    </p:set>
                                    <p:animEffect transition="in" filter="blinds(horizontal)">
                                      <p:cBhvr>
                                        <p:cTn id="31" dur="1000"/>
                                        <p:tgtEl>
                                          <p:spTgt spid="1229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2296"/>
                                        </p:tgtEl>
                                        <p:attrNameLst>
                                          <p:attrName>style.visibility</p:attrName>
                                        </p:attrNameLst>
                                      </p:cBhvr>
                                      <p:to>
                                        <p:strVal val="visible"/>
                                      </p:to>
                                    </p:set>
                                    <p:animEffect transition="in" filter="wipe(left)">
                                      <p:cBhvr>
                                        <p:cTn id="36" dur="1000"/>
                                        <p:tgtEl>
                                          <p:spTgt spid="12296"/>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06498"/>
                                        </p:tgtEl>
                                        <p:attrNameLst>
                                          <p:attrName>style.visibility</p:attrName>
                                        </p:attrNameLst>
                                      </p:cBhvr>
                                      <p:to>
                                        <p:strVal val="visible"/>
                                      </p:to>
                                    </p:set>
                                    <p:animEffect transition="in" filter="blinds(horizontal)">
                                      <p:cBhvr>
                                        <p:cTn id="41" dur="1000"/>
                                        <p:tgtEl>
                                          <p:spTgt spid="106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ldLvl="0" animBg="1" autoUpdateAnimBg="0"/>
      <p:bldP spid="12292" grpId="0" autoUpdateAnimBg="0"/>
      <p:bldP spid="12293" grpId="0" bldLvl="0" animBg="1" autoUpdateAnimBg="0"/>
      <p:bldP spid="12294" grpId="0" bldLvl="0" animBg="1" autoUpdateAnimBg="0"/>
      <p:bldP spid="12295" grpId="0" bldLvl="0" animBg="1" autoUpdateAnimBg="0"/>
      <p:bldP spid="12296" grpId="0"/>
      <p:bldP spid="12297" grpId="0" bldLvl="0" animBg="1" autoUpdateAnimBg="0"/>
      <p:bldP spid="106498"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73175" y="695325"/>
            <a:ext cx="3035935" cy="460375"/>
          </a:xfrm>
          <a:prstGeom prst="rect">
            <a:avLst/>
          </a:prstGeom>
          <a:noFill/>
        </p:spPr>
        <p:txBody>
          <a:bodyPr wrap="square" rtlCol="0">
            <a:spAutoFit/>
          </a:bodyPr>
          <a:p>
            <a:r>
              <a:rPr lang="zh-CN" altLang="en-US" sz="2400"/>
              <a:t>汽车生产与原油采购</a:t>
            </a:r>
            <a:endParaRPr lang="zh-CN" altLang="en-US" sz="2400"/>
          </a:p>
        </p:txBody>
      </p:sp>
      <p:sp>
        <p:nvSpPr>
          <p:cNvPr id="3" name="文本框 2"/>
          <p:cNvSpPr txBox="1"/>
          <p:nvPr/>
        </p:nvSpPr>
        <p:spPr>
          <a:xfrm>
            <a:off x="1273175" y="1311275"/>
            <a:ext cx="6096000" cy="755650"/>
          </a:xfrm>
          <a:prstGeom prst="rect">
            <a:avLst/>
          </a:prstGeom>
          <a:noFill/>
        </p:spPr>
        <p:txBody>
          <a:bodyPr wrap="square" rtlCol="0" anchor="t">
            <a:spAutoFit/>
          </a:bodyPr>
          <a:p>
            <a:pPr>
              <a:lnSpc>
                <a:spcPct val="120000"/>
              </a:lnSpc>
            </a:pPr>
            <a:r>
              <a:rPr lang="zh-CN" altLang="en-US" b="1" dirty="0">
                <a:latin typeface="仿宋" panose="02010609060101010101" charset="-122"/>
                <a:ea typeface="仿宋" panose="02010609060101010101" charset="-122"/>
                <a:cs typeface="仿宋" panose="02010609060101010101" charset="-122"/>
                <a:sym typeface="+mn-ea"/>
              </a:rPr>
              <a:t>汽车厂生产三种类型的汽车，已知各类型每辆车对钢材、劳动时间的需求，利润及工厂每月的现有量。</a:t>
            </a:r>
            <a:endParaRPr lang="en-US" altLang="zh-CN" b="1" dirty="0">
              <a:latin typeface="仿宋" panose="02010609060101010101" charset="-122"/>
              <a:ea typeface="仿宋" panose="02010609060101010101" charset="-122"/>
              <a:cs typeface="仿宋" panose="02010609060101010101" charset="-122"/>
              <a:sym typeface="+mn-ea"/>
            </a:endParaRPr>
          </a:p>
        </p:txBody>
      </p:sp>
      <p:grpSp>
        <p:nvGrpSpPr>
          <p:cNvPr id="5" name="Group 5"/>
          <p:cNvGrpSpPr/>
          <p:nvPr/>
        </p:nvGrpSpPr>
        <p:grpSpPr bwMode="auto">
          <a:xfrm>
            <a:off x="1331650" y="2366646"/>
            <a:ext cx="8230355" cy="1935163"/>
            <a:chOff x="192" y="1584"/>
            <a:chExt cx="5376" cy="1219"/>
          </a:xfrm>
        </p:grpSpPr>
        <p:sp>
          <p:nvSpPr>
            <p:cNvPr id="38921" name="Text Box 6"/>
            <p:cNvSpPr txBox="1">
              <a:spLocks noChangeArrowheads="1"/>
            </p:cNvSpPr>
            <p:nvPr/>
          </p:nvSpPr>
          <p:spPr bwMode="auto">
            <a:xfrm>
              <a:off x="343" y="1605"/>
              <a:ext cx="5225" cy="1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pPr>
              <a:r>
                <a:rPr lang="en-US" altLang="zh-CN" b="1" dirty="0"/>
                <a:t>                                     </a:t>
              </a:r>
              <a:r>
                <a:rPr lang="zh-CN" altLang="en-US" b="1" dirty="0"/>
                <a:t>小型          中型          大型        </a:t>
              </a:r>
              <a:r>
                <a:rPr lang="zh-CN" altLang="en-US" b="1" dirty="0" smtClean="0"/>
                <a:t>现有</a:t>
              </a:r>
              <a:r>
                <a:rPr lang="zh-CN" altLang="en-US" b="1" dirty="0"/>
                <a:t>量</a:t>
              </a:r>
              <a:endParaRPr lang="zh-CN" altLang="en-US" b="1" dirty="0"/>
            </a:p>
            <a:p>
              <a:pPr eaLnBrk="1" hangingPunct="1">
                <a:spcBef>
                  <a:spcPct val="30000"/>
                </a:spcBef>
              </a:pPr>
              <a:r>
                <a:rPr lang="zh-CN" altLang="en-US" b="1" dirty="0"/>
                <a:t>钢材（</a:t>
              </a:r>
              <a:r>
                <a:rPr lang="en-US" altLang="zh-CN" b="1" dirty="0"/>
                <a:t>t</a:t>
              </a:r>
              <a:r>
                <a:rPr lang="zh-CN" altLang="en-US" b="1" dirty="0"/>
                <a:t>）                    </a:t>
              </a:r>
              <a:r>
                <a:rPr lang="en-US" altLang="zh-CN" b="1" dirty="0"/>
                <a:t>1.5              3                5              </a:t>
              </a:r>
              <a:r>
                <a:rPr lang="en-US" altLang="zh-CN" b="1" dirty="0" smtClean="0"/>
                <a:t>600</a:t>
              </a:r>
              <a:endParaRPr lang="en-US" altLang="zh-CN" b="1" dirty="0"/>
            </a:p>
            <a:p>
              <a:pPr eaLnBrk="1" hangingPunct="1">
                <a:spcBef>
                  <a:spcPct val="30000"/>
                </a:spcBef>
              </a:pPr>
              <a:r>
                <a:rPr lang="zh-CN" altLang="en-US" b="1" dirty="0"/>
                <a:t>劳动时间（</a:t>
              </a:r>
              <a:r>
                <a:rPr lang="en-US" altLang="zh-CN" b="1" dirty="0"/>
                <a:t>h</a:t>
              </a:r>
              <a:r>
                <a:rPr lang="zh-CN" altLang="en-US" b="1" dirty="0"/>
                <a:t>）           </a:t>
              </a:r>
              <a:r>
                <a:rPr lang="en-US" altLang="zh-CN" b="1" dirty="0"/>
                <a:t>280           250             400         </a:t>
              </a:r>
              <a:r>
                <a:rPr lang="en-US" altLang="zh-CN" b="1" dirty="0" smtClean="0"/>
                <a:t>60000</a:t>
              </a:r>
              <a:endParaRPr lang="en-US" altLang="zh-CN" b="1" dirty="0"/>
            </a:p>
            <a:p>
              <a:pPr eaLnBrk="1" hangingPunct="1">
                <a:spcBef>
                  <a:spcPct val="30000"/>
                </a:spcBef>
              </a:pPr>
              <a:r>
                <a:rPr lang="zh-CN" altLang="en-US" b="1" dirty="0"/>
                <a:t>利润（万元）               </a:t>
              </a:r>
              <a:r>
                <a:rPr lang="en-US" altLang="zh-CN" b="1" dirty="0"/>
                <a:t>2                3                4                      </a:t>
              </a:r>
              <a:endParaRPr lang="en-US" altLang="zh-CN" b="1" dirty="0"/>
            </a:p>
          </p:txBody>
        </p:sp>
        <p:sp>
          <p:nvSpPr>
            <p:cNvPr id="38922" name="Line 7"/>
            <p:cNvSpPr>
              <a:spLocks noChangeShapeType="1"/>
            </p:cNvSpPr>
            <p:nvPr/>
          </p:nvSpPr>
          <p:spPr bwMode="auto">
            <a:xfrm>
              <a:off x="192" y="1584"/>
              <a:ext cx="537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3" name="Line 8"/>
            <p:cNvSpPr>
              <a:spLocks noChangeShapeType="1"/>
            </p:cNvSpPr>
            <p:nvPr/>
          </p:nvSpPr>
          <p:spPr bwMode="auto">
            <a:xfrm>
              <a:off x="192" y="1907"/>
              <a:ext cx="537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4" name="Line 9"/>
            <p:cNvSpPr>
              <a:spLocks noChangeShapeType="1"/>
            </p:cNvSpPr>
            <p:nvPr/>
          </p:nvSpPr>
          <p:spPr bwMode="auto">
            <a:xfrm>
              <a:off x="192" y="2784"/>
              <a:ext cx="537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5" name="Line 10"/>
            <p:cNvSpPr>
              <a:spLocks noChangeShapeType="1"/>
            </p:cNvSpPr>
            <p:nvPr/>
          </p:nvSpPr>
          <p:spPr bwMode="auto">
            <a:xfrm>
              <a:off x="192" y="1584"/>
              <a:ext cx="0"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6" name="Line 11"/>
            <p:cNvSpPr>
              <a:spLocks noChangeShapeType="1"/>
            </p:cNvSpPr>
            <p:nvPr/>
          </p:nvSpPr>
          <p:spPr bwMode="auto">
            <a:xfrm>
              <a:off x="1824" y="1584"/>
              <a:ext cx="0"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7" name="Line 12"/>
            <p:cNvSpPr>
              <a:spLocks noChangeShapeType="1"/>
            </p:cNvSpPr>
            <p:nvPr/>
          </p:nvSpPr>
          <p:spPr bwMode="auto">
            <a:xfrm>
              <a:off x="4512" y="1584"/>
              <a:ext cx="0"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8" name="Line 13"/>
            <p:cNvSpPr>
              <a:spLocks noChangeShapeType="1"/>
            </p:cNvSpPr>
            <p:nvPr/>
          </p:nvSpPr>
          <p:spPr bwMode="auto">
            <a:xfrm>
              <a:off x="5568" y="1584"/>
              <a:ext cx="0"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 name="文本框 5"/>
          <p:cNvSpPr txBox="1"/>
          <p:nvPr/>
        </p:nvSpPr>
        <p:spPr>
          <a:xfrm>
            <a:off x="1273175" y="4635500"/>
            <a:ext cx="6096000" cy="368300"/>
          </a:xfrm>
          <a:prstGeom prst="rect">
            <a:avLst/>
          </a:prstGeom>
          <a:noFill/>
        </p:spPr>
        <p:txBody>
          <a:bodyPr wrap="square" rtlCol="0" anchor="t">
            <a:spAutoFit/>
          </a:bodyPr>
          <a:p>
            <a:pPr algn="just" eaLnBrk="1" hangingPunct="1">
              <a:spcBef>
                <a:spcPct val="50000"/>
              </a:spcBef>
              <a:buFontTx/>
              <a:buChar char="•"/>
            </a:pPr>
            <a:r>
              <a:rPr lang="zh-CN" altLang="en-US" b="1" dirty="0">
                <a:latin typeface="仿宋" panose="02010609060101010101" charset="-122"/>
                <a:ea typeface="仿宋" panose="02010609060101010101" charset="-122"/>
                <a:cs typeface="仿宋" panose="02010609060101010101" charset="-122"/>
                <a:sym typeface="+mn-ea"/>
              </a:rPr>
              <a:t>制订月生产计划，使工厂的</a:t>
            </a:r>
            <a:r>
              <a:rPr lang="zh-CN" altLang="en-US" b="1" dirty="0">
                <a:solidFill>
                  <a:srgbClr val="FF0000"/>
                </a:solidFill>
                <a:latin typeface="仿宋" panose="02010609060101010101" charset="-122"/>
                <a:ea typeface="仿宋" panose="02010609060101010101" charset="-122"/>
                <a:cs typeface="仿宋" panose="02010609060101010101" charset="-122"/>
                <a:sym typeface="+mn-ea"/>
              </a:rPr>
              <a:t>利润最大</a:t>
            </a:r>
            <a:r>
              <a:rPr lang="en-US" altLang="zh-CN" b="1" dirty="0">
                <a:latin typeface="仿宋" panose="02010609060101010101" charset="-122"/>
                <a:ea typeface="仿宋" panose="02010609060101010101" charset="-122"/>
                <a:cs typeface="仿宋" panose="02010609060101010101" charset="-122"/>
                <a:sym typeface="+mn-ea"/>
              </a:rPr>
              <a:t>.</a:t>
            </a:r>
            <a:endParaRPr lang="en-US" altLang="zh-CN" b="1" dirty="0">
              <a:latin typeface="仿宋" panose="02010609060101010101" charset="-122"/>
              <a:ea typeface="仿宋" panose="02010609060101010101" charset="-122"/>
              <a:cs typeface="仿宋" panose="02010609060101010101" charset="-122"/>
              <a:sym typeface="+mn-ea"/>
            </a:endParaRPr>
          </a:p>
        </p:txBody>
      </p:sp>
      <p:sp>
        <p:nvSpPr>
          <p:cNvPr id="7" name="文本框 6"/>
          <p:cNvSpPr txBox="1"/>
          <p:nvPr/>
        </p:nvSpPr>
        <p:spPr>
          <a:xfrm>
            <a:off x="1273175" y="5219700"/>
            <a:ext cx="9885680" cy="755650"/>
          </a:xfrm>
          <a:prstGeom prst="rect">
            <a:avLst/>
          </a:prstGeom>
          <a:noFill/>
        </p:spPr>
        <p:txBody>
          <a:bodyPr wrap="square" rtlCol="0" anchor="t">
            <a:spAutoFit/>
          </a:bodyPr>
          <a:p>
            <a:pPr eaLnBrk="1" hangingPunct="1">
              <a:lnSpc>
                <a:spcPct val="120000"/>
              </a:lnSpc>
              <a:spcBef>
                <a:spcPct val="50000"/>
              </a:spcBef>
              <a:buFontTx/>
              <a:buChar char="•"/>
            </a:pPr>
            <a:r>
              <a:rPr lang="en-US" altLang="zh-CN" b="1" dirty="0">
                <a:latin typeface="仿宋" panose="02010609060101010101" charset="-122"/>
                <a:ea typeface="仿宋" panose="02010609060101010101" charset="-122"/>
                <a:cs typeface="仿宋" panose="02010609060101010101" charset="-122"/>
                <a:sym typeface="+mn-ea"/>
              </a:rPr>
              <a:t> </a:t>
            </a:r>
            <a:r>
              <a:rPr lang="zh-CN" altLang="en-US" b="1" dirty="0">
                <a:latin typeface="仿宋" panose="02010609060101010101" charset="-122"/>
                <a:ea typeface="仿宋" panose="02010609060101010101" charset="-122"/>
                <a:cs typeface="仿宋" panose="02010609060101010101" charset="-122"/>
                <a:sym typeface="+mn-ea"/>
              </a:rPr>
              <a:t>如果生产某一类型汽车，则</a:t>
            </a:r>
            <a:r>
              <a:rPr lang="zh-CN" altLang="en-US" b="1" dirty="0">
                <a:solidFill>
                  <a:srgbClr val="FF0000"/>
                </a:solidFill>
                <a:latin typeface="仿宋" panose="02010609060101010101" charset="-122"/>
                <a:ea typeface="仿宋" panose="02010609060101010101" charset="-122"/>
                <a:cs typeface="仿宋" panose="02010609060101010101" charset="-122"/>
                <a:sym typeface="+mn-ea"/>
              </a:rPr>
              <a:t>至少要生产</a:t>
            </a:r>
            <a:r>
              <a:rPr lang="en-US" altLang="zh-CN" b="1" dirty="0">
                <a:solidFill>
                  <a:srgbClr val="FF0000"/>
                </a:solidFill>
                <a:latin typeface="仿宋" panose="02010609060101010101" charset="-122"/>
                <a:ea typeface="仿宋" panose="02010609060101010101" charset="-122"/>
                <a:cs typeface="仿宋" panose="02010609060101010101" charset="-122"/>
                <a:sym typeface="+mn-ea"/>
              </a:rPr>
              <a:t>80</a:t>
            </a:r>
            <a:r>
              <a:rPr lang="zh-CN" altLang="en-US" b="1" dirty="0">
                <a:solidFill>
                  <a:srgbClr val="FF0000"/>
                </a:solidFill>
                <a:latin typeface="仿宋" panose="02010609060101010101" charset="-122"/>
                <a:ea typeface="仿宋" panose="02010609060101010101" charset="-122"/>
                <a:cs typeface="仿宋" panose="02010609060101010101" charset="-122"/>
                <a:sym typeface="+mn-ea"/>
              </a:rPr>
              <a:t>辆</a:t>
            </a:r>
            <a:r>
              <a:rPr lang="zh-CN" altLang="en-US" b="1" dirty="0" smtClean="0">
                <a:latin typeface="仿宋" panose="02010609060101010101" charset="-122"/>
                <a:ea typeface="仿宋" panose="02010609060101010101" charset="-122"/>
                <a:cs typeface="仿宋" panose="02010609060101010101" charset="-122"/>
                <a:sym typeface="+mn-ea"/>
              </a:rPr>
              <a:t>，</a:t>
            </a:r>
            <a:endParaRPr lang="en-US" altLang="zh-CN" b="1" dirty="0" smtClean="0">
              <a:latin typeface="仿宋" panose="02010609060101010101" charset="-122"/>
              <a:ea typeface="仿宋" panose="02010609060101010101" charset="-122"/>
              <a:cs typeface="仿宋" panose="02010609060101010101" charset="-122"/>
            </a:endParaRPr>
          </a:p>
          <a:p>
            <a:pPr eaLnBrk="1" hangingPunct="1">
              <a:lnSpc>
                <a:spcPct val="120000"/>
              </a:lnSpc>
              <a:spcBef>
                <a:spcPts val="0"/>
              </a:spcBef>
            </a:pPr>
            <a:r>
              <a:rPr lang="zh-CN" altLang="en-US" b="1" dirty="0" smtClean="0">
                <a:latin typeface="仿宋" panose="02010609060101010101" charset="-122"/>
                <a:ea typeface="仿宋" panose="02010609060101010101" charset="-122"/>
                <a:cs typeface="仿宋" panose="02010609060101010101" charset="-122"/>
                <a:sym typeface="+mn-ea"/>
              </a:rPr>
              <a:t>  那么</a:t>
            </a:r>
            <a:r>
              <a:rPr lang="zh-CN" altLang="en-US" b="1" dirty="0">
                <a:latin typeface="仿宋" panose="02010609060101010101" charset="-122"/>
                <a:ea typeface="仿宋" panose="02010609060101010101" charset="-122"/>
                <a:cs typeface="仿宋" panose="02010609060101010101" charset="-122"/>
                <a:sym typeface="+mn-ea"/>
              </a:rPr>
              <a:t>最优的生产计划应作何改变？</a:t>
            </a:r>
            <a:endParaRPr lang="zh-CN" altLang="en-US" b="1" dirty="0">
              <a:latin typeface="仿宋" panose="02010609060101010101" charset="-122"/>
              <a:ea typeface="仿宋" panose="02010609060101010101" charset="-122"/>
              <a:cs typeface="仿宋"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ou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03350" y="964565"/>
            <a:ext cx="4064000" cy="460375"/>
          </a:xfrm>
          <a:prstGeom prst="rect">
            <a:avLst/>
          </a:prstGeom>
          <a:noFill/>
        </p:spPr>
        <p:txBody>
          <a:bodyPr wrap="square" rtlCol="0">
            <a:spAutoFit/>
          </a:bodyPr>
          <a:p>
            <a:r>
              <a:rPr lang="zh-CN" altLang="en-US" sz="2400"/>
              <a:t>人口增长</a:t>
            </a:r>
            <a:endParaRPr lang="zh-CN" altLang="en-US" sz="2400"/>
          </a:p>
        </p:txBody>
      </p:sp>
      <mc:AlternateContent xmlns:mc="http://schemas.openxmlformats.org/markup-compatibility/2006">
        <mc:Choice xmlns:a14="http://schemas.microsoft.com/office/drawing/2010/main" Requires="a14">
          <p:sp>
            <p:nvSpPr>
              <p:cNvPr id="3" name="文本框 2"/>
              <p:cNvSpPr txBox="1"/>
              <p:nvPr/>
            </p:nvSpPr>
            <p:spPr>
              <a:xfrm>
                <a:off x="802005" y="1651000"/>
                <a:ext cx="10490835" cy="4117340"/>
              </a:xfrm>
              <a:prstGeom prst="rect">
                <a:avLst/>
              </a:prstGeom>
              <a:noFill/>
            </p:spPr>
            <p:txBody>
              <a:bodyPr wrap="square" rtlCol="0" anchor="t">
                <a:noAutofit/>
              </a:bodyPr>
              <a:p>
                <a:pPr>
                  <a:lnSpc>
                    <a:spcPct val="160000"/>
                  </a:lnSpc>
                </a:pPr>
                <a:r>
                  <a:rPr lang="zh-CN" altLang="en-US">
                    <a:latin typeface="仿宋" panose="02010609060101010101" charset="-122"/>
                    <a:ea typeface="仿宋" panose="02010609060101010101" charset="-122"/>
                    <a:cs typeface="仿宋" panose="02010609060101010101" charset="-122"/>
                  </a:rPr>
                  <a:t>当考察一个较大地区的人口随着时间延续而变化的规律时，将人口数量看作连续时间 </a:t>
                </a:r>
                <a:r>
                  <a:rPr lang="en-US" altLang="zh-CN">
                    <a:latin typeface="仿宋" panose="02010609060101010101" charset="-122"/>
                    <a:ea typeface="仿宋" panose="02010609060101010101" charset="-122"/>
                    <a:cs typeface="仿宋" panose="02010609060101010101" charset="-122"/>
                  </a:rPr>
                  <a:t>t </a:t>
                </a:r>
                <a:r>
                  <a:rPr lang="zh-CN" altLang="en-US">
                    <a:latin typeface="仿宋" panose="02010609060101010101" charset="-122"/>
                    <a:ea typeface="仿宋" panose="02010609060101010101" charset="-122"/>
                    <a:cs typeface="仿宋" panose="02010609060101010101" charset="-122"/>
                  </a:rPr>
                  <a:t>的连续可微函数 </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𝑡</m:t>
                    </m:r>
                    <m:r>
                      <a:rPr lang="en-US" altLang="zh-CN" i="1">
                        <a:latin typeface="Cambria Math" panose="02040503050406030204" charset="0"/>
                        <a:ea typeface="仿宋" panose="02010609060101010101" charset="-122"/>
                        <a:cs typeface="Cambria Math" panose="02040503050406030204" charset="0"/>
                      </a:rPr>
                      <m:t>)</m:t>
                    </m:r>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记初始时刻 </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𝑡</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0</m:t>
                    </m:r>
                    <m:r>
                      <a:rPr lang="en-US" altLang="zh-CN" i="1">
                        <a:latin typeface="Cambria Math" panose="02040503050406030204" charset="0"/>
                        <a:ea typeface="仿宋" panose="02010609060101010101" charset="-122"/>
                        <a:cs typeface="Cambria Math" panose="02040503050406030204" charset="0"/>
                      </a:rPr>
                      <m:t>)</m:t>
                    </m:r>
                  </m:oMath>
                </a14:m>
                <a:r>
                  <a:rPr lang="en-US" altLang="zh-CN">
                    <a:latin typeface="仿宋" panose="02010609060101010101" charset="-122"/>
                    <a:ea typeface="仿宋" panose="02010609060101010101" charset="-122"/>
                    <a:cs typeface="仿宋" panose="02010609060101010101" charset="-122"/>
                  </a:rPr>
                  <a:t> </a:t>
                </a:r>
                <a:r>
                  <a:rPr lang="zh-CN" altLang="en-US">
                    <a:latin typeface="仿宋" panose="02010609060101010101" charset="-122"/>
                    <a:ea typeface="仿宋" panose="02010609060101010101" charset="-122"/>
                    <a:cs typeface="仿宋" panose="02010609060101010101" charset="-122"/>
                  </a:rPr>
                  <a:t>的人口数为 </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仿宋" panose="02010609060101010101" charset="-122"/>
                            <a:cs typeface="Cambria Math" panose="02040503050406030204" charset="0"/>
                          </a:rPr>
                          <m:t>0</m:t>
                        </m:r>
                      </m:sub>
                    </m:sSub>
                  </m:oMath>
                </a14:m>
                <a:r>
                  <a:rPr lang="en-US" altLang="zh-CN">
                    <a:latin typeface="仿宋" panose="02010609060101010101" charset="-122"/>
                    <a:ea typeface="仿宋" panose="02010609060101010101" charset="-122"/>
                    <a:cs typeface="仿宋" panose="02010609060101010101" charset="-122"/>
                  </a:rPr>
                  <a:t>。</a:t>
                </a:r>
                <a:endParaRPr lang="en-US" altLang="zh-CN">
                  <a:latin typeface="仿宋" panose="02010609060101010101" charset="-122"/>
                  <a:ea typeface="仿宋" panose="02010609060101010101" charset="-122"/>
                  <a:cs typeface="仿宋" panose="02010609060101010101" charset="-122"/>
                </a:endParaRPr>
              </a:p>
              <a:p>
                <a:pPr>
                  <a:lnSpc>
                    <a:spcPct val="160000"/>
                  </a:lnSpc>
                </a:pPr>
                <a:endParaRPr lang="en-US" altLang="zh-CN">
                  <a:latin typeface="仿宋" panose="02010609060101010101" charset="-122"/>
                  <a:ea typeface="仿宋" panose="02010609060101010101" charset="-122"/>
                  <a:cs typeface="仿宋" panose="02010609060101010101" charset="-122"/>
                </a:endParaRPr>
              </a:p>
              <a:p>
                <a:pPr>
                  <a:lnSpc>
                    <a:spcPct val="160000"/>
                  </a:lnSpc>
                </a:pPr>
                <a:r>
                  <a:rPr lang="en-US" altLang="zh-CN">
                    <a:latin typeface="仿宋" panose="02010609060101010101" charset="-122"/>
                    <a:ea typeface="仿宋" panose="02010609060101010101" charset="-122"/>
                    <a:cs typeface="仿宋" panose="02010609060101010101" charset="-122"/>
                  </a:rPr>
                  <a:t>(1) </a:t>
                </a:r>
                <a:r>
                  <a:rPr lang="zh-CN" altLang="en-US">
                    <a:latin typeface="仿宋" panose="02010609060101010101" charset="-122"/>
                    <a:ea typeface="仿宋" panose="02010609060101010101" charset="-122"/>
                    <a:cs typeface="仿宋" panose="02010609060101010101" charset="-122"/>
                  </a:rPr>
                  <a:t>假设单位时间人口增长率为常数 </a:t>
                </a:r>
                <a:r>
                  <a:rPr lang="en-US" altLang="zh-CN">
                    <a:latin typeface="仿宋" panose="02010609060101010101" charset="-122"/>
                    <a:ea typeface="仿宋" panose="02010609060101010101" charset="-122"/>
                    <a:cs typeface="仿宋" panose="02010609060101010101" charset="-122"/>
                  </a:rPr>
                  <a:t>r，</a:t>
                </a:r>
                <a:r>
                  <a:rPr lang="zh-CN" altLang="en-US">
                    <a:latin typeface="仿宋" panose="02010609060101010101" charset="-122"/>
                    <a:ea typeface="仿宋" panose="02010609060101010101" charset="-122"/>
                    <a:cs typeface="仿宋" panose="02010609060101010101" charset="-122"/>
                  </a:rPr>
                  <a:t>试建立相应人口增长模型；</a:t>
                </a:r>
                <a:endParaRPr lang="zh-CN" altLang="en-US">
                  <a:latin typeface="仿宋" panose="02010609060101010101" charset="-122"/>
                  <a:ea typeface="仿宋" panose="02010609060101010101" charset="-122"/>
                  <a:cs typeface="仿宋" panose="02010609060101010101" charset="-122"/>
                </a:endParaRPr>
              </a:p>
              <a:p>
                <a:pPr>
                  <a:lnSpc>
                    <a:spcPct val="160000"/>
                  </a:lnSpc>
                </a:pPr>
                <a:endParaRPr lang="zh-CN" altLang="en-US">
                  <a:latin typeface="仿宋" panose="02010609060101010101" charset="-122"/>
                  <a:ea typeface="仿宋" panose="02010609060101010101" charset="-122"/>
                  <a:cs typeface="仿宋" panose="02010609060101010101" charset="-122"/>
                </a:endParaRPr>
              </a:p>
              <a:p>
                <a:pPr>
                  <a:lnSpc>
                    <a:spcPct val="160000"/>
                  </a:lnSpc>
                </a:pPr>
                <a:r>
                  <a:rPr lang="zh-CN" altLang="en-US">
                    <a:latin typeface="仿宋" panose="02010609060101010101" charset="-122"/>
                    <a:ea typeface="仿宋" panose="02010609060101010101" charset="-122"/>
                    <a:cs typeface="仿宋" panose="02010609060101010101" charset="-122"/>
                  </a:rPr>
                  <a:t>(2) 假设单位时间人口增长率 </a:t>
                </a:r>
                <a:r>
                  <a:rPr lang="en-US" altLang="zh-CN">
                    <a:latin typeface="仿宋" panose="02010609060101010101" charset="-122"/>
                    <a:ea typeface="仿宋" panose="02010609060101010101" charset="-122"/>
                    <a:cs typeface="仿宋" panose="02010609060101010101" charset="-122"/>
                  </a:rPr>
                  <a:t>r </a:t>
                </a:r>
                <a:r>
                  <a:rPr lang="zh-CN" altLang="en-US">
                    <a:latin typeface="仿宋" panose="02010609060101010101" charset="-122"/>
                    <a:ea typeface="仿宋" panose="02010609060101010101" charset="-122"/>
                    <a:cs typeface="仿宋" panose="02010609060101010101" charset="-122"/>
                  </a:rPr>
                  <a:t>为时间 </a:t>
                </a:r>
                <a:r>
                  <a:rPr lang="en-US" altLang="zh-CN">
                    <a:latin typeface="仿宋" panose="02010609060101010101" charset="-122"/>
                    <a:ea typeface="仿宋" panose="02010609060101010101" charset="-122"/>
                    <a:cs typeface="仿宋" panose="02010609060101010101" charset="-122"/>
                  </a:rPr>
                  <a:t>t </a:t>
                </a:r>
                <a:r>
                  <a:rPr lang="zh-CN" altLang="en-US">
                    <a:latin typeface="仿宋" panose="02010609060101010101" charset="-122"/>
                    <a:ea typeface="仿宋" panose="02010609060101010101" charset="-122"/>
                    <a:cs typeface="仿宋" panose="02010609060101010101" charset="-122"/>
                  </a:rPr>
                  <a:t>的线性函数，即 </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𝑟</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𝑡</m:t>
                    </m:r>
                    <m:r>
                      <a:rPr lang="en-US" altLang="zh-CN" i="1">
                        <a:latin typeface="Cambria Math" panose="02040503050406030204" charset="0"/>
                        <a:ea typeface="仿宋" panose="02010609060101010101" charset="-122"/>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𝑟</m:t>
                        </m:r>
                      </m:e>
                      <m:sub>
                        <m:r>
                          <a:rPr lang="en-US" altLang="zh-CN" i="1">
                            <a:latin typeface="Cambria Math" panose="02040503050406030204" charset="0"/>
                            <a:ea typeface="仿宋" panose="02010609060101010101" charset="-122"/>
                            <a:cs typeface="Cambria Math" panose="02040503050406030204" charset="0"/>
                          </a:rPr>
                          <m:t>0</m:t>
                        </m:r>
                      </m:sub>
                    </m:sSub>
                    <m:r>
                      <a:rPr lang="en-US" altLang="zh-CN" i="1">
                        <a:latin typeface="Cambria Math" panose="02040503050406030204" charset="0"/>
                        <a:ea typeface="仿宋" panose="02010609060101010101" charset="-122"/>
                        <a:cs typeface="Cambria Math" panose="02040503050406030204" charset="0"/>
                      </a:rPr>
                      <m:t>−</m:t>
                    </m:r>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𝑟</m:t>
                        </m:r>
                      </m:e>
                      <m:sub>
                        <m:r>
                          <a:rPr lang="en-US" altLang="zh-CN" i="1">
                            <a:latin typeface="Cambria Math" panose="02040503050406030204" charset="0"/>
                            <a:ea typeface="仿宋" panose="02010609060101010101" charset="-122"/>
                            <a:cs typeface="Cambria Math" panose="02040503050406030204" charset="0"/>
                          </a:rPr>
                          <m:t>1</m:t>
                        </m:r>
                      </m:sub>
                    </m:sSub>
                    <m:r>
                      <a:rPr lang="en-US" altLang="zh-CN" i="1">
                        <a:latin typeface="Cambria Math" panose="02040503050406030204" charset="0"/>
                        <a:ea typeface="仿宋" panose="02010609060101010101" charset="-122"/>
                        <a:cs typeface="Cambria Math" panose="02040503050406030204" charset="0"/>
                      </a:rPr>
                      <m:t>𝑡</m:t>
                    </m:r>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试建立相应人口增长模型；</a:t>
                </a:r>
                <a:endParaRPr lang="zh-CN" altLang="en-US">
                  <a:latin typeface="仿宋" panose="02010609060101010101" charset="-122"/>
                  <a:ea typeface="仿宋" panose="02010609060101010101" charset="-122"/>
                  <a:cs typeface="仿宋" panose="02010609060101010101" charset="-122"/>
                </a:endParaRPr>
              </a:p>
              <a:p>
                <a:pPr>
                  <a:lnSpc>
                    <a:spcPct val="160000"/>
                  </a:lnSpc>
                </a:pPr>
                <a:endParaRPr lang="zh-CN" altLang="en-US">
                  <a:latin typeface="仿宋" panose="02010609060101010101" charset="-122"/>
                  <a:ea typeface="仿宋" panose="02010609060101010101" charset="-122"/>
                  <a:cs typeface="仿宋" panose="02010609060101010101" charset="-122"/>
                </a:endParaRPr>
              </a:p>
              <a:p>
                <a:pPr>
                  <a:lnSpc>
                    <a:spcPct val="160000"/>
                  </a:lnSpc>
                </a:pPr>
                <a:r>
                  <a:rPr lang="zh-CN" altLang="en-US">
                    <a:latin typeface="仿宋" panose="02010609060101010101" charset="-122"/>
                    <a:ea typeface="仿宋" panose="02010609060101010101" charset="-122"/>
                    <a:cs typeface="仿宋" panose="02010609060101010101" charset="-122"/>
                  </a:rPr>
                  <a:t>(3) 假设单位时间人口增长率 </a:t>
                </a:r>
                <a:r>
                  <a:rPr lang="en-US" altLang="zh-CN">
                    <a:latin typeface="仿宋" panose="02010609060101010101" charset="-122"/>
                    <a:ea typeface="仿宋" panose="02010609060101010101" charset="-122"/>
                    <a:cs typeface="仿宋" panose="02010609060101010101" charset="-122"/>
                  </a:rPr>
                  <a:t>r </a:t>
                </a:r>
                <a:r>
                  <a:rPr lang="zh-CN" altLang="en-US">
                    <a:latin typeface="仿宋" panose="02010609060101010101" charset="-122"/>
                    <a:ea typeface="仿宋" panose="02010609060101010101" charset="-122"/>
                    <a:cs typeface="仿宋" panose="02010609060101010101" charset="-122"/>
                  </a:rPr>
                  <a:t>为人口数量 </a:t>
                </a:r>
                <a:r>
                  <a:rPr lang="en-US" altLang="zh-CN">
                    <a:latin typeface="仿宋" panose="02010609060101010101" charset="-122"/>
                    <a:ea typeface="仿宋" panose="02010609060101010101" charset="-122"/>
                    <a:cs typeface="仿宋" panose="02010609060101010101" charset="-122"/>
                  </a:rPr>
                  <a:t>x </a:t>
                </a:r>
                <a:r>
                  <a:rPr lang="zh-CN" altLang="en-US">
                    <a:latin typeface="仿宋" panose="02010609060101010101" charset="-122"/>
                    <a:ea typeface="仿宋" panose="02010609060101010101" charset="-122"/>
                    <a:cs typeface="仿宋" panose="02010609060101010101" charset="-122"/>
                  </a:rPr>
                  <a:t>的线性函数，且其内禀增长率为 </a:t>
                </a:r>
                <a:r>
                  <a:rPr lang="en-US" altLang="zh-CN">
                    <a:latin typeface="仿宋" panose="02010609060101010101" charset="-122"/>
                    <a:ea typeface="仿宋" panose="02010609060101010101" charset="-122"/>
                    <a:cs typeface="仿宋" panose="02010609060101010101" charset="-122"/>
                  </a:rPr>
                  <a:t>r（</a:t>
                </a:r>
                <a:r>
                  <a:rPr lang="zh-CN" altLang="en-US">
                    <a:latin typeface="仿宋" panose="02010609060101010101" charset="-122"/>
                    <a:ea typeface="仿宋" panose="02010609060101010101" charset="-122"/>
                    <a:cs typeface="仿宋" panose="02010609060101010101" charset="-122"/>
                  </a:rPr>
                  <a:t>人口数量为 0 时的增长率），人口容量为 </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仿宋" panose="02010609060101010101" charset="-122"/>
                            <a:cs typeface="Cambria Math" panose="02040503050406030204" charset="0"/>
                          </a:rPr>
                          <m:t>𝑚</m:t>
                        </m:r>
                      </m:sub>
                    </m:sSub>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试由此导出增长率函数 </a:t>
                </a:r>
                <a:r>
                  <a:rPr lang="en-US" altLang="zh-CN">
                    <a:latin typeface="仿宋" panose="02010609060101010101" charset="-122"/>
                    <a:ea typeface="仿宋" panose="02010609060101010101" charset="-122"/>
                    <a:cs typeface="仿宋" panose="02010609060101010101" charset="-122"/>
                  </a:rPr>
                  <a:t>r(x) </a:t>
                </a:r>
                <a:r>
                  <a:rPr lang="zh-CN" altLang="en-US">
                    <a:latin typeface="仿宋" panose="02010609060101010101" charset="-122"/>
                    <a:ea typeface="仿宋" panose="02010609060101010101" charset="-122"/>
                    <a:cs typeface="仿宋" panose="02010609060101010101" charset="-122"/>
                  </a:rPr>
                  <a:t>以及相应人口增长模型。</a:t>
                </a:r>
                <a:endParaRPr lang="zh-CN" altLang="en-US">
                  <a:latin typeface="仿宋" panose="02010609060101010101" charset="-122"/>
                  <a:ea typeface="仿宋" panose="02010609060101010101" charset="-122"/>
                  <a:cs typeface="仿宋" panose="02010609060101010101"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802005" y="1651000"/>
                <a:ext cx="10490835" cy="4117340"/>
              </a:xfrm>
              <a:prstGeom prst="rect">
                <a:avLst/>
              </a:prstGeom>
              <a:blipFill rotWithShape="1">
                <a:blip r:embed="rId1"/>
                <a:stretch>
                  <a:fillRect r="-993"/>
                </a:stretch>
              </a:blipFill>
            </p:spPr>
            <p:txBody>
              <a:bodyPr/>
              <a:lstStyle/>
              <a:p>
                <a:r>
                  <a:rPr lang="zh-CN" altLang="en-US">
                    <a:noFill/>
                  </a:rPr>
                  <a:t> </a:t>
                </a:r>
              </a:p>
            </p:txBody>
          </p:sp>
        </mc:Fallback>
      </mc:AlternateContent>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2" name="文本框 1"/>
              <p:cNvSpPr txBox="1"/>
              <p:nvPr/>
            </p:nvSpPr>
            <p:spPr>
              <a:xfrm>
                <a:off x="1235710" y="1037590"/>
                <a:ext cx="9517380" cy="5235575"/>
              </a:xfrm>
              <a:prstGeom prst="rect">
                <a:avLst/>
              </a:prstGeom>
            </p:spPr>
            <p:txBody>
              <a:bodyPr wrap="square">
                <a:noAutofit/>
              </a:bodyPr>
              <a:p>
                <a:pPr marL="0" indent="0">
                  <a:lnSpc>
                    <a:spcPct val="160000"/>
                  </a:lnSpc>
                </a:pPr>
                <a:r>
                  <a:rPr lang="zh-CN" altLang="en-US" b="0" i="0">
                    <a:solidFill>
                      <a:srgbClr val="000000"/>
                    </a:solidFill>
                    <a:latin typeface="仿宋" panose="02010609060101010101" charset="-122"/>
                    <a:ea typeface="仿宋" panose="02010609060101010101" charset="-122"/>
                    <a:cs typeface="仿宋" panose="02010609060101010101" charset="-122"/>
                  </a:rPr>
                  <a:t>解：</a:t>
                </a:r>
                <a:endParaRPr lang="zh-CN" altLang="en-US" b="0" i="0">
                  <a:solidFill>
                    <a:srgbClr val="000000"/>
                  </a:solidFill>
                  <a:latin typeface="仿宋" panose="02010609060101010101" charset="-122"/>
                  <a:ea typeface="仿宋" panose="02010609060101010101" charset="-122"/>
                  <a:cs typeface="仿宋" panose="02010609060101010101" charset="-122"/>
                </a:endParaRPr>
              </a:p>
              <a:p>
                <a:pPr marL="0" indent="0">
                  <a:lnSpc>
                    <a:spcPct val="160000"/>
                  </a:lnSpc>
                </a:pPr>
                <a:r>
                  <a:rPr lang="en-US" altLang="zh-CN" b="0" i="0">
                    <a:solidFill>
                      <a:srgbClr val="000000"/>
                    </a:solidFill>
                    <a:latin typeface="仿宋" panose="02010609060101010101" charset="-122"/>
                    <a:ea typeface="仿宋" panose="02010609060101010101" charset="-122"/>
                    <a:cs typeface="仿宋" panose="02010609060101010101" charset="-122"/>
                  </a:rPr>
                  <a:t> </a:t>
                </a:r>
                <a:r>
                  <a:rPr lang="zh-CN" altLang="en-US" b="0" i="0">
                    <a:solidFill>
                      <a:srgbClr val="000000"/>
                    </a:solidFill>
                    <a:latin typeface="仿宋" panose="02010609060101010101" charset="-122"/>
                    <a:ea typeface="仿宋" panose="02010609060101010101" charset="-122"/>
                    <a:cs typeface="仿宋" panose="02010609060101010101" charset="-122"/>
                  </a:rPr>
                  <a:t>(1) 由模型假设有 </a:t>
                </a:r>
                <a14:m>
                  <m:oMath xmlns:m="http://schemas.openxmlformats.org/officeDocument/2006/math">
                    <m:f>
                      <m:f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fPr>
                      <m:num>
                        <m:r>
                          <a:rPr lang="en-US" altLang="zh-CN" b="0" i="1">
                            <a:solidFill>
                              <a:srgbClr val="000000"/>
                            </a:solidFill>
                            <a:latin typeface="Cambria Math" panose="02040503050406030204" charset="0"/>
                            <a:ea typeface="仿宋" panose="02010609060101010101" charset="-122"/>
                            <a:cs typeface="Cambria Math" panose="02040503050406030204" charset="0"/>
                          </a:rPr>
                          <m:t>𝑑𝑥</m:t>
                        </m:r>
                      </m:num>
                      <m:den>
                        <m:r>
                          <a:rPr lang="en-US" altLang="zh-CN" b="0" i="1">
                            <a:solidFill>
                              <a:srgbClr val="000000"/>
                            </a:solidFill>
                            <a:latin typeface="Cambria Math" panose="02040503050406030204" charset="0"/>
                            <a:ea typeface="仿宋" panose="02010609060101010101" charset="-122"/>
                            <a:cs typeface="Cambria Math" panose="02040503050406030204" charset="0"/>
                          </a:rPr>
                          <m:t>𝑑𝑡</m:t>
                        </m:r>
                      </m:den>
                    </m:f>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𝑟𝑥</m:t>
                    </m:r>
                    <m:r>
                      <a:rPr lang="en-US" altLang="zh-CN" b="0" i="1">
                        <a:solidFill>
                          <a:srgbClr val="000000"/>
                        </a:solidFill>
                        <a:latin typeface="Cambria Math" panose="02040503050406030204" charset="0"/>
                        <a:ea typeface="仿宋" panose="02010609060101010101" charset="-122"/>
                        <a:cs typeface="Cambria Math" panose="02040503050406030204" charset="0"/>
                      </a:rPr>
                      <m:t>,    </m:t>
                    </m:r>
                    <m:r>
                      <a:rPr lang="en-US" altLang="zh-CN" b="0" i="1">
                        <a:solidFill>
                          <a:srgbClr val="000000"/>
                        </a:solidFill>
                        <a:latin typeface="Cambria Math" panose="02040503050406030204" charset="0"/>
                        <a:ea typeface="仿宋" panose="02010609060101010101" charset="-122"/>
                        <a:cs typeface="Cambria Math" panose="02040503050406030204" charset="0"/>
                      </a:rPr>
                      <m:t>𝑥</m:t>
                    </m:r>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0</m:t>
                    </m:r>
                    <m:r>
                      <a:rPr lang="en-US" altLang="zh-CN"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𝑥</m:t>
                        </m:r>
                      </m:e>
                      <m:sub>
                        <m:r>
                          <a:rPr lang="en-US" altLang="zh-CN" b="0" i="1">
                            <a:solidFill>
                              <a:srgbClr val="000000"/>
                            </a:solidFill>
                            <a:latin typeface="Cambria Math" panose="02040503050406030204" charset="0"/>
                            <a:ea typeface="仿宋" panose="02010609060101010101" charset="-122"/>
                            <a:cs typeface="Cambria Math" panose="02040503050406030204" charset="0"/>
                          </a:rPr>
                          <m:t>0</m:t>
                        </m:r>
                      </m:sub>
                    </m:sSub>
                  </m:oMath>
                </a14:m>
                <a:r>
                  <a:rPr lang="en-US" altLang="zh-CN" b="0" i="0">
                    <a:solidFill>
                      <a:srgbClr val="000000"/>
                    </a:solidFill>
                    <a:latin typeface="仿宋" panose="02010609060101010101" charset="-122"/>
                    <a:ea typeface="仿宋" panose="02010609060101010101" charset="-122"/>
                    <a:cs typeface="仿宋" panose="02010609060101010101" charset="-122"/>
                  </a:rPr>
                  <a:t>			……（2 </a:t>
                </a:r>
                <a:r>
                  <a:rPr lang="zh-CN" altLang="en-US" b="0" i="0">
                    <a:solidFill>
                      <a:srgbClr val="000000"/>
                    </a:solidFill>
                    <a:latin typeface="仿宋" panose="02010609060101010101" charset="-122"/>
                    <a:ea typeface="仿宋" panose="02010609060101010101" charset="-122"/>
                    <a:cs typeface="仿宋" panose="02010609060101010101" charset="-122"/>
                  </a:rPr>
                  <a:t>分）</a:t>
                </a:r>
                <a:endParaRPr lang="zh-CN" altLang="en-US" b="0" i="0">
                  <a:solidFill>
                    <a:srgbClr val="000000"/>
                  </a:solidFill>
                  <a:latin typeface="仿宋" panose="02010609060101010101" charset="-122"/>
                  <a:ea typeface="仿宋" panose="02010609060101010101" charset="-122"/>
                  <a:cs typeface="仿宋" panose="02010609060101010101" charset="-122"/>
                </a:endParaRPr>
              </a:p>
              <a:p>
                <a:pPr marL="0" indent="457200">
                  <a:lnSpc>
                    <a:spcPct val="160000"/>
                  </a:lnSpc>
                </a:pPr>
                <a:r>
                  <a:rPr lang="zh-CN" altLang="en-US" b="0" i="0">
                    <a:solidFill>
                      <a:srgbClr val="000000"/>
                    </a:solidFill>
                    <a:latin typeface="仿宋" panose="02010609060101010101" charset="-122"/>
                    <a:ea typeface="仿宋" panose="02010609060101010101" charset="-122"/>
                    <a:cs typeface="仿宋" panose="02010609060101010101" charset="-122"/>
                  </a:rPr>
                  <a:t>解该微分方程得 </a:t>
                </a:r>
                <a14:m>
                  <m:oMath xmlns:m="http://schemas.openxmlformats.org/officeDocument/2006/math">
                    <m:r>
                      <a:rPr lang="en-US" altLang="zh-CN" b="0" i="1">
                        <a:solidFill>
                          <a:srgbClr val="000000"/>
                        </a:solidFill>
                        <a:latin typeface="Cambria Math" panose="02040503050406030204" charset="0"/>
                        <a:ea typeface="仿宋" panose="02010609060101010101" charset="-122"/>
                        <a:cs typeface="Cambria Math" panose="02040503050406030204" charset="0"/>
                      </a:rPr>
                      <m:t>𝑥</m:t>
                    </m:r>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𝑡</m:t>
                    </m:r>
                    <m:r>
                      <a:rPr lang="en-US" altLang="zh-CN"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𝑥</m:t>
                        </m:r>
                      </m:e>
                      <m:sub>
                        <m:r>
                          <a:rPr lang="en-US" altLang="zh-CN" b="0" i="1">
                            <a:solidFill>
                              <a:srgbClr val="000000"/>
                            </a:solidFill>
                            <a:latin typeface="Cambria Math" panose="02040503050406030204" charset="0"/>
                            <a:ea typeface="仿宋" panose="02010609060101010101" charset="-122"/>
                            <a:cs typeface="Cambria Math" panose="02040503050406030204" charset="0"/>
                          </a:rPr>
                          <m:t>0</m:t>
                        </m:r>
                      </m:sub>
                    </m:sSub>
                    <m:sSup>
                      <m:sSup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pPr>
                      <m:e>
                        <m:r>
                          <a:rPr lang="en-US" altLang="zh-CN" b="0" i="1">
                            <a:solidFill>
                              <a:srgbClr val="000000"/>
                            </a:solidFill>
                            <a:latin typeface="Cambria Math" panose="02040503050406030204" charset="0"/>
                            <a:ea typeface="仿宋" panose="02010609060101010101" charset="-122"/>
                            <a:cs typeface="Cambria Math" panose="02040503050406030204" charset="0"/>
                          </a:rPr>
                          <m:t>𝑒</m:t>
                        </m:r>
                      </m:e>
                      <m:sup>
                        <m:r>
                          <a:rPr lang="en-US" altLang="zh-CN" b="0" i="1">
                            <a:solidFill>
                              <a:srgbClr val="000000"/>
                            </a:solidFill>
                            <a:latin typeface="Cambria Math" panose="02040503050406030204" charset="0"/>
                            <a:ea typeface="仿宋" panose="02010609060101010101" charset="-122"/>
                            <a:cs typeface="Cambria Math" panose="02040503050406030204" charset="0"/>
                          </a:rPr>
                          <m:t>𝑟𝑡</m:t>
                        </m:r>
                      </m:sup>
                    </m:sSup>
                  </m:oMath>
                </a14:m>
                <a:r>
                  <a:rPr lang="en-US" altLang="zh-CN" b="0" i="0">
                    <a:solidFill>
                      <a:srgbClr val="000000"/>
                    </a:solidFill>
                    <a:latin typeface="仿宋" panose="02010609060101010101" charset="-122"/>
                    <a:ea typeface="仿宋" panose="02010609060101010101" charset="-122"/>
                    <a:cs typeface="仿宋" panose="02010609060101010101" charset="-122"/>
                  </a:rPr>
                  <a:t> 				……（3 </a:t>
                </a:r>
                <a:r>
                  <a:rPr lang="zh-CN" altLang="en-US" b="0" i="0">
                    <a:solidFill>
                      <a:srgbClr val="000000"/>
                    </a:solidFill>
                    <a:latin typeface="仿宋" panose="02010609060101010101" charset="-122"/>
                    <a:ea typeface="仿宋" panose="02010609060101010101" charset="-122"/>
                    <a:cs typeface="仿宋" panose="02010609060101010101" charset="-122"/>
                  </a:rPr>
                  <a:t>分）</a:t>
                </a:r>
                <a:endParaRPr lang="zh-CN" altLang="en-US" b="0" i="0">
                  <a:solidFill>
                    <a:srgbClr val="000000"/>
                  </a:solidFill>
                  <a:latin typeface="仿宋" panose="02010609060101010101" charset="-122"/>
                  <a:ea typeface="仿宋" panose="02010609060101010101" charset="-122"/>
                  <a:cs typeface="仿宋" panose="02010609060101010101" charset="-122"/>
                </a:endParaRPr>
              </a:p>
              <a:p>
                <a:pPr marL="0" indent="457200">
                  <a:lnSpc>
                    <a:spcPct val="160000"/>
                  </a:lnSpc>
                </a:pPr>
                <a:endParaRPr lang="zh-CN" altLang="en-US" b="0" i="0">
                  <a:solidFill>
                    <a:srgbClr val="000000"/>
                  </a:solidFill>
                  <a:latin typeface="仿宋" panose="02010609060101010101" charset="-122"/>
                  <a:ea typeface="仿宋" panose="02010609060101010101" charset="-122"/>
                  <a:cs typeface="仿宋" panose="02010609060101010101" charset="-122"/>
                </a:endParaRPr>
              </a:p>
              <a:p>
                <a:pPr marL="0" indent="0">
                  <a:lnSpc>
                    <a:spcPct val="160000"/>
                  </a:lnSpc>
                </a:pPr>
                <a:r>
                  <a:rPr lang="en-US" altLang="zh-CN" b="0" i="0">
                    <a:solidFill>
                      <a:srgbClr val="000000"/>
                    </a:solidFill>
                    <a:latin typeface="仿宋" panose="02010609060101010101" charset="-122"/>
                    <a:ea typeface="仿宋" panose="02010609060101010101" charset="-122"/>
                    <a:cs typeface="仿宋" panose="02010609060101010101" charset="-122"/>
                  </a:rPr>
                  <a:t> </a:t>
                </a:r>
                <a:r>
                  <a:rPr lang="zh-CN" altLang="en-US" b="0" i="0">
                    <a:solidFill>
                      <a:srgbClr val="000000"/>
                    </a:solidFill>
                    <a:latin typeface="仿宋" panose="02010609060101010101" charset="-122"/>
                    <a:ea typeface="仿宋" panose="02010609060101010101" charset="-122"/>
                    <a:cs typeface="仿宋" panose="02010609060101010101" charset="-122"/>
                  </a:rPr>
                  <a:t>(2) 由模型假设有 </a:t>
                </a:r>
                <a14:m>
                  <m:oMath xmlns:m="http://schemas.openxmlformats.org/officeDocument/2006/math">
                    <m:f>
                      <m:f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fPr>
                      <m:num>
                        <m:r>
                          <a:rPr lang="en-US" altLang="zh-CN" b="0" i="1">
                            <a:solidFill>
                              <a:srgbClr val="000000"/>
                            </a:solidFill>
                            <a:latin typeface="Cambria Math" panose="02040503050406030204" charset="0"/>
                            <a:ea typeface="仿宋" panose="02010609060101010101" charset="-122"/>
                            <a:cs typeface="Cambria Math" panose="02040503050406030204" charset="0"/>
                          </a:rPr>
                          <m:t>𝑑𝑥</m:t>
                        </m:r>
                      </m:num>
                      <m:den>
                        <m:r>
                          <a:rPr lang="en-US" altLang="zh-CN" b="0" i="1">
                            <a:solidFill>
                              <a:srgbClr val="000000"/>
                            </a:solidFill>
                            <a:latin typeface="Cambria Math" panose="02040503050406030204" charset="0"/>
                            <a:ea typeface="仿宋" panose="02010609060101010101" charset="-122"/>
                            <a:cs typeface="Cambria Math" panose="02040503050406030204" charset="0"/>
                          </a:rPr>
                          <m:t>𝑑𝑡</m:t>
                        </m:r>
                      </m:den>
                    </m:f>
                    <m:r>
                      <a:rPr lang="en-US" altLang="zh-CN"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𝑟</m:t>
                        </m:r>
                      </m:e>
                      <m:sub>
                        <m:r>
                          <a:rPr lang="en-US" altLang="zh-CN" b="0" i="1">
                            <a:solidFill>
                              <a:srgbClr val="000000"/>
                            </a:solidFill>
                            <a:latin typeface="Cambria Math" panose="02040503050406030204" charset="0"/>
                            <a:ea typeface="仿宋" panose="02010609060101010101" charset="-122"/>
                            <a:cs typeface="Cambria Math" panose="02040503050406030204" charset="0"/>
                          </a:rPr>
                          <m:t>0</m:t>
                        </m:r>
                      </m:sub>
                    </m:sSub>
                    <m:r>
                      <a:rPr lang="en-US" altLang="zh-CN"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𝑟</m:t>
                        </m:r>
                      </m:e>
                      <m:sub>
                        <m:r>
                          <a:rPr lang="en-US" altLang="zh-CN" b="0" i="1">
                            <a:solidFill>
                              <a:srgbClr val="000000"/>
                            </a:solidFill>
                            <a:latin typeface="Cambria Math" panose="02040503050406030204" charset="0"/>
                            <a:ea typeface="仿宋" panose="02010609060101010101" charset="-122"/>
                            <a:cs typeface="Cambria Math" panose="02040503050406030204" charset="0"/>
                          </a:rPr>
                          <m:t>1</m:t>
                        </m:r>
                      </m:sub>
                    </m:sSub>
                    <m:r>
                      <a:rPr lang="en-US" altLang="zh-CN" b="0" i="1">
                        <a:solidFill>
                          <a:srgbClr val="000000"/>
                        </a:solidFill>
                        <a:latin typeface="Cambria Math" panose="02040503050406030204" charset="0"/>
                        <a:ea typeface="仿宋" panose="02010609060101010101" charset="-122"/>
                        <a:cs typeface="Cambria Math" panose="02040503050406030204" charset="0"/>
                      </a:rPr>
                      <m:t>𝑡</m:t>
                    </m:r>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𝑥</m:t>
                    </m:r>
                    <m:r>
                      <a:rPr lang="en-US" altLang="zh-CN" b="0" i="1">
                        <a:solidFill>
                          <a:srgbClr val="000000"/>
                        </a:solidFill>
                        <a:latin typeface="Cambria Math" panose="02040503050406030204" charset="0"/>
                        <a:ea typeface="仿宋" panose="02010609060101010101" charset="-122"/>
                        <a:cs typeface="Cambria Math" panose="02040503050406030204" charset="0"/>
                      </a:rPr>
                      <m:t>,    </m:t>
                    </m:r>
                    <m:r>
                      <a:rPr lang="en-US" altLang="zh-CN" b="0" i="1">
                        <a:solidFill>
                          <a:srgbClr val="000000"/>
                        </a:solidFill>
                        <a:latin typeface="Cambria Math" panose="02040503050406030204" charset="0"/>
                        <a:ea typeface="仿宋" panose="02010609060101010101" charset="-122"/>
                        <a:cs typeface="Cambria Math" panose="02040503050406030204" charset="0"/>
                      </a:rPr>
                      <m:t>𝑥</m:t>
                    </m:r>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0</m:t>
                    </m:r>
                    <m:r>
                      <a:rPr lang="en-US" altLang="zh-CN"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𝑥</m:t>
                        </m:r>
                      </m:e>
                      <m:sub>
                        <m:r>
                          <a:rPr lang="en-US" altLang="zh-CN" b="0" i="1">
                            <a:solidFill>
                              <a:srgbClr val="000000"/>
                            </a:solidFill>
                            <a:latin typeface="Cambria Math" panose="02040503050406030204" charset="0"/>
                            <a:ea typeface="仿宋" panose="02010609060101010101" charset="-122"/>
                            <a:cs typeface="Cambria Math" panose="02040503050406030204" charset="0"/>
                          </a:rPr>
                          <m:t>0</m:t>
                        </m:r>
                      </m:sub>
                    </m:sSub>
                  </m:oMath>
                </a14:m>
                <a:r>
                  <a:rPr lang="en-US" altLang="zh-CN" b="0" i="0">
                    <a:solidFill>
                      <a:srgbClr val="000000"/>
                    </a:solidFill>
                    <a:latin typeface="仿宋" panose="02010609060101010101" charset="-122"/>
                    <a:ea typeface="仿宋" panose="02010609060101010101" charset="-122"/>
                    <a:cs typeface="仿宋" panose="02010609060101010101" charset="-122"/>
                  </a:rPr>
                  <a:t> 		……（2 </a:t>
                </a:r>
                <a:r>
                  <a:rPr lang="zh-CN" altLang="en-US" b="0" i="0">
                    <a:solidFill>
                      <a:srgbClr val="000000"/>
                    </a:solidFill>
                    <a:latin typeface="仿宋" panose="02010609060101010101" charset="-122"/>
                    <a:ea typeface="仿宋" panose="02010609060101010101" charset="-122"/>
                    <a:cs typeface="仿宋" panose="02010609060101010101" charset="-122"/>
                  </a:rPr>
                  <a:t>分）</a:t>
                </a:r>
                <a:endParaRPr lang="zh-CN" altLang="en-US" b="0" i="0">
                  <a:solidFill>
                    <a:srgbClr val="000000"/>
                  </a:solidFill>
                  <a:latin typeface="仿宋" panose="02010609060101010101" charset="-122"/>
                  <a:ea typeface="仿宋" panose="02010609060101010101" charset="-122"/>
                  <a:cs typeface="仿宋" panose="02010609060101010101" charset="-122"/>
                </a:endParaRPr>
              </a:p>
              <a:p>
                <a:pPr marL="0" indent="457200">
                  <a:lnSpc>
                    <a:spcPct val="160000"/>
                  </a:lnSpc>
                </a:pPr>
                <a:r>
                  <a:rPr lang="zh-CN" altLang="en-US" b="0" i="0">
                    <a:solidFill>
                      <a:srgbClr val="000000"/>
                    </a:solidFill>
                    <a:latin typeface="仿宋" panose="02010609060101010101" charset="-122"/>
                    <a:ea typeface="仿宋" panose="02010609060101010101" charset="-122"/>
                    <a:cs typeface="仿宋" panose="02010609060101010101" charset="-122"/>
                  </a:rPr>
                  <a:t>解该微分方程得 </a:t>
                </a:r>
                <a14:m>
                  <m:oMath xmlns:m="http://schemas.openxmlformats.org/officeDocument/2006/math">
                    <m:r>
                      <a:rPr lang="en-US" altLang="zh-CN" b="0" i="1">
                        <a:solidFill>
                          <a:srgbClr val="000000"/>
                        </a:solidFill>
                        <a:latin typeface="Cambria Math" panose="02040503050406030204" charset="0"/>
                        <a:ea typeface="仿宋" panose="02010609060101010101" charset="-122"/>
                        <a:cs typeface="Cambria Math" panose="02040503050406030204" charset="0"/>
                      </a:rPr>
                      <m:t>𝑥</m:t>
                    </m:r>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𝑡</m:t>
                    </m:r>
                    <m:r>
                      <a:rPr lang="en-US" altLang="zh-CN"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𝑥</m:t>
                        </m:r>
                      </m:e>
                      <m:sub>
                        <m:r>
                          <a:rPr lang="en-US" altLang="zh-CN" b="0" i="1">
                            <a:solidFill>
                              <a:srgbClr val="000000"/>
                            </a:solidFill>
                            <a:latin typeface="Cambria Math" panose="02040503050406030204" charset="0"/>
                            <a:ea typeface="仿宋" panose="02010609060101010101" charset="-122"/>
                            <a:cs typeface="Cambria Math" panose="02040503050406030204" charset="0"/>
                          </a:rPr>
                          <m:t>0</m:t>
                        </m:r>
                      </m:sub>
                    </m:sSub>
                    <m:sSup>
                      <m:sSup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pPr>
                      <m:e>
                        <m:r>
                          <a:rPr lang="en-US" altLang="zh-CN" b="0" i="1">
                            <a:solidFill>
                              <a:srgbClr val="000000"/>
                            </a:solidFill>
                            <a:latin typeface="Cambria Math" panose="02040503050406030204" charset="0"/>
                            <a:ea typeface="仿宋" panose="02010609060101010101" charset="-122"/>
                            <a:cs typeface="Cambria Math" panose="02040503050406030204" charset="0"/>
                          </a:rPr>
                          <m:t>𝑒</m:t>
                        </m:r>
                      </m:e>
                      <m:sup>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𝑟</m:t>
                            </m:r>
                          </m:e>
                          <m:sub>
                            <m:r>
                              <a:rPr lang="en-US" altLang="zh-CN" b="0" i="1">
                                <a:solidFill>
                                  <a:srgbClr val="000000"/>
                                </a:solidFill>
                                <a:latin typeface="Cambria Math" panose="02040503050406030204" charset="0"/>
                                <a:ea typeface="仿宋" panose="02010609060101010101" charset="-122"/>
                                <a:cs typeface="Cambria Math" panose="02040503050406030204" charset="0"/>
                              </a:rPr>
                              <m:t>0</m:t>
                            </m:r>
                          </m:sub>
                        </m:sSub>
                        <m:r>
                          <a:rPr lang="en-US" altLang="zh-CN" b="0" i="1">
                            <a:solidFill>
                              <a:srgbClr val="000000"/>
                            </a:solidFill>
                            <a:latin typeface="Cambria Math" panose="02040503050406030204" charset="0"/>
                            <a:ea typeface="仿宋" panose="02010609060101010101" charset="-122"/>
                            <a:cs typeface="Cambria Math" panose="02040503050406030204" charset="0"/>
                          </a:rPr>
                          <m:t>𝑡</m:t>
                        </m:r>
                        <m:r>
                          <a:rPr lang="en-US" altLang="zh-CN"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𝑟</m:t>
                            </m:r>
                          </m:e>
                          <m:sub>
                            <m:r>
                              <a:rPr lang="en-US" altLang="zh-CN" b="0" i="1">
                                <a:solidFill>
                                  <a:srgbClr val="000000"/>
                                </a:solidFill>
                                <a:latin typeface="Cambria Math" panose="02040503050406030204" charset="0"/>
                                <a:ea typeface="仿宋" panose="02010609060101010101" charset="-122"/>
                                <a:cs typeface="Cambria Math" panose="02040503050406030204" charset="0"/>
                              </a:rPr>
                              <m:t>1</m:t>
                            </m:r>
                          </m:sub>
                        </m:sSub>
                        <m:sSup>
                          <m:sSup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pPr>
                          <m:e>
                            <m:r>
                              <a:rPr lang="en-US" altLang="zh-CN" b="0" i="1">
                                <a:solidFill>
                                  <a:srgbClr val="000000"/>
                                </a:solidFill>
                                <a:latin typeface="Cambria Math" panose="02040503050406030204" charset="0"/>
                                <a:ea typeface="仿宋" panose="02010609060101010101" charset="-122"/>
                                <a:cs typeface="Cambria Math" panose="02040503050406030204" charset="0"/>
                              </a:rPr>
                              <m:t>𝑡</m:t>
                            </m:r>
                          </m:e>
                          <m:sup>
                            <m:r>
                              <a:rPr lang="en-US" altLang="zh-CN" b="0" i="1">
                                <a:solidFill>
                                  <a:srgbClr val="000000"/>
                                </a:solidFill>
                                <a:latin typeface="Cambria Math" panose="02040503050406030204" charset="0"/>
                                <a:ea typeface="仿宋" panose="02010609060101010101" charset="-122"/>
                                <a:cs typeface="Cambria Math" panose="02040503050406030204" charset="0"/>
                              </a:rPr>
                              <m:t>2</m:t>
                            </m:r>
                          </m:sup>
                        </m:sSup>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2</m:t>
                        </m:r>
                      </m:sup>
                    </m:sSup>
                  </m:oMath>
                </a14:m>
                <a:r>
                  <a:rPr lang="en-US" altLang="zh-CN" b="0" i="0">
                    <a:solidFill>
                      <a:srgbClr val="000000"/>
                    </a:solidFill>
                    <a:latin typeface="仿宋" panose="02010609060101010101" charset="-122"/>
                    <a:ea typeface="仿宋" panose="02010609060101010101" charset="-122"/>
                    <a:cs typeface="仿宋" panose="02010609060101010101" charset="-122"/>
                  </a:rPr>
                  <a:t>			……（3 </a:t>
                </a:r>
                <a:r>
                  <a:rPr lang="zh-CN" altLang="en-US" b="0" i="0">
                    <a:solidFill>
                      <a:srgbClr val="000000"/>
                    </a:solidFill>
                    <a:latin typeface="仿宋" panose="02010609060101010101" charset="-122"/>
                    <a:ea typeface="仿宋" panose="02010609060101010101" charset="-122"/>
                    <a:cs typeface="仿宋" panose="02010609060101010101" charset="-122"/>
                  </a:rPr>
                  <a:t>分）</a:t>
                </a:r>
                <a:endParaRPr lang="zh-CN" altLang="en-US" b="0" i="0">
                  <a:solidFill>
                    <a:srgbClr val="000000"/>
                  </a:solidFill>
                  <a:latin typeface="仿宋" panose="02010609060101010101" charset="-122"/>
                  <a:ea typeface="仿宋" panose="02010609060101010101" charset="-122"/>
                  <a:cs typeface="仿宋" panose="02010609060101010101" charset="-122"/>
                </a:endParaRPr>
              </a:p>
              <a:p>
                <a:pPr marL="0" indent="457200">
                  <a:lnSpc>
                    <a:spcPct val="160000"/>
                  </a:lnSpc>
                </a:pPr>
                <a:endParaRPr lang="zh-CN" altLang="en-US" b="0" i="0">
                  <a:solidFill>
                    <a:srgbClr val="000000"/>
                  </a:solidFill>
                  <a:latin typeface="仿宋" panose="02010609060101010101" charset="-122"/>
                  <a:ea typeface="仿宋" panose="02010609060101010101" charset="-122"/>
                  <a:cs typeface="仿宋" panose="02010609060101010101" charset="-122"/>
                </a:endParaRPr>
              </a:p>
              <a:p>
                <a:pPr marL="0" indent="0">
                  <a:lnSpc>
                    <a:spcPct val="160000"/>
                  </a:lnSpc>
                </a:pPr>
                <a:r>
                  <a:rPr lang="en-US" altLang="zh-CN" b="0" i="0">
                    <a:solidFill>
                      <a:srgbClr val="000000"/>
                    </a:solidFill>
                    <a:latin typeface="仿宋" panose="02010609060101010101" charset="-122"/>
                    <a:ea typeface="仿宋" panose="02010609060101010101" charset="-122"/>
                    <a:cs typeface="仿宋" panose="02010609060101010101" charset="-122"/>
                  </a:rPr>
                  <a:t> </a:t>
                </a:r>
                <a:r>
                  <a:rPr lang="zh-CN" altLang="en-US" b="0" i="0">
                    <a:solidFill>
                      <a:srgbClr val="000000"/>
                    </a:solidFill>
                    <a:latin typeface="仿宋" panose="02010609060101010101" charset="-122"/>
                    <a:ea typeface="仿宋" panose="02010609060101010101" charset="-122"/>
                    <a:cs typeface="仿宋" panose="02010609060101010101" charset="-122"/>
                  </a:rPr>
                  <a:t>(3) 由模型假设有 </a:t>
                </a:r>
                <a14:m>
                  <m:oMath xmlns:m="http://schemas.openxmlformats.org/officeDocument/2006/math">
                    <m:f>
                      <m:f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fPr>
                      <m:num>
                        <m:r>
                          <a:rPr lang="en-US" altLang="zh-CN" b="0" i="1">
                            <a:solidFill>
                              <a:srgbClr val="000000"/>
                            </a:solidFill>
                            <a:latin typeface="Cambria Math" panose="02040503050406030204" charset="0"/>
                            <a:ea typeface="仿宋" panose="02010609060101010101" charset="-122"/>
                            <a:cs typeface="Cambria Math" panose="02040503050406030204" charset="0"/>
                          </a:rPr>
                          <m:t>𝑑𝑥</m:t>
                        </m:r>
                      </m:num>
                      <m:den>
                        <m:r>
                          <a:rPr lang="en-US" altLang="zh-CN" b="0" i="1">
                            <a:solidFill>
                              <a:srgbClr val="000000"/>
                            </a:solidFill>
                            <a:latin typeface="Cambria Math" panose="02040503050406030204" charset="0"/>
                            <a:ea typeface="仿宋" panose="02010609060101010101" charset="-122"/>
                            <a:cs typeface="Cambria Math" panose="02040503050406030204" charset="0"/>
                          </a:rPr>
                          <m:t>𝑑𝑡</m:t>
                        </m:r>
                      </m:den>
                    </m:f>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𝑟𝑥</m:t>
                    </m:r>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1</m:t>
                    </m:r>
                    <m:r>
                      <a:rPr lang="en-US" altLang="zh-CN" b="0" i="1">
                        <a:solidFill>
                          <a:srgbClr val="000000"/>
                        </a:solidFill>
                        <a:latin typeface="Cambria Math" panose="02040503050406030204" charset="0"/>
                        <a:ea typeface="仿宋" panose="02010609060101010101" charset="-122"/>
                        <a:cs typeface="Cambria Math" panose="02040503050406030204" charset="0"/>
                      </a:rPr>
                      <m:t>−</m:t>
                    </m:r>
                    <m:f>
                      <m:f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fPr>
                      <m:num>
                        <m:r>
                          <a:rPr lang="en-US" altLang="zh-CN" b="0" i="1">
                            <a:solidFill>
                              <a:srgbClr val="000000"/>
                            </a:solidFill>
                            <a:latin typeface="Cambria Math" panose="02040503050406030204" charset="0"/>
                            <a:ea typeface="仿宋" panose="02010609060101010101" charset="-122"/>
                            <a:cs typeface="Cambria Math" panose="02040503050406030204" charset="0"/>
                          </a:rPr>
                          <m:t>𝑥</m:t>
                        </m:r>
                      </m:num>
                      <m:den>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𝑥</m:t>
                            </m:r>
                          </m:e>
                          <m:sub>
                            <m:r>
                              <a:rPr lang="en-US" altLang="zh-CN" b="0" i="1">
                                <a:solidFill>
                                  <a:srgbClr val="000000"/>
                                </a:solidFill>
                                <a:latin typeface="Cambria Math" panose="02040503050406030204" charset="0"/>
                                <a:ea typeface="仿宋" panose="02010609060101010101" charset="-122"/>
                                <a:cs typeface="Cambria Math" panose="02040503050406030204" charset="0"/>
                              </a:rPr>
                              <m:t>𝑚</m:t>
                            </m:r>
                          </m:sub>
                        </m:sSub>
                      </m:den>
                    </m:f>
                    <m:r>
                      <a:rPr lang="en-US" altLang="zh-CN" b="0" i="1">
                        <a:solidFill>
                          <a:srgbClr val="000000"/>
                        </a:solidFill>
                        <a:latin typeface="Cambria Math" panose="02040503050406030204" charset="0"/>
                        <a:ea typeface="仿宋" panose="02010609060101010101" charset="-122"/>
                        <a:cs typeface="Cambria Math" panose="02040503050406030204" charset="0"/>
                      </a:rPr>
                      <m:t>),    </m:t>
                    </m:r>
                    <m:r>
                      <a:rPr lang="en-US" altLang="zh-CN" b="0" i="1">
                        <a:solidFill>
                          <a:srgbClr val="000000"/>
                        </a:solidFill>
                        <a:latin typeface="Cambria Math" panose="02040503050406030204" charset="0"/>
                        <a:ea typeface="仿宋" panose="02010609060101010101" charset="-122"/>
                        <a:cs typeface="Cambria Math" panose="02040503050406030204" charset="0"/>
                      </a:rPr>
                      <m:t>𝑥</m:t>
                    </m:r>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0</m:t>
                    </m:r>
                    <m:r>
                      <a:rPr lang="en-US" altLang="zh-CN" b="0" i="1">
                        <a:solidFill>
                          <a:srgbClr val="000000"/>
                        </a:solidFill>
                        <a:latin typeface="Cambria Math" panose="02040503050406030204" charset="0"/>
                        <a:ea typeface="仿宋" panose="02010609060101010101" charset="-122"/>
                        <a:cs typeface="Cambria Math" panose="02040503050406030204" charset="0"/>
                      </a:rPr>
                      <m:t>)=</m:t>
                    </m:r>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𝑥</m:t>
                        </m:r>
                      </m:e>
                      <m:sub>
                        <m:r>
                          <a:rPr lang="en-US" altLang="zh-CN" b="0" i="1">
                            <a:solidFill>
                              <a:srgbClr val="000000"/>
                            </a:solidFill>
                            <a:latin typeface="Cambria Math" panose="02040503050406030204" charset="0"/>
                            <a:ea typeface="仿宋" panose="02010609060101010101" charset="-122"/>
                            <a:cs typeface="Cambria Math" panose="02040503050406030204" charset="0"/>
                          </a:rPr>
                          <m:t>0</m:t>
                        </m:r>
                      </m:sub>
                    </m:sSub>
                  </m:oMath>
                </a14:m>
                <a:r>
                  <a:rPr lang="en-US" altLang="zh-CN" b="0" i="0">
                    <a:solidFill>
                      <a:srgbClr val="000000"/>
                    </a:solidFill>
                    <a:latin typeface="仿宋" panose="02010609060101010101" charset="-122"/>
                    <a:ea typeface="仿宋" panose="02010609060101010101" charset="-122"/>
                    <a:cs typeface="仿宋" panose="02010609060101010101" charset="-122"/>
                  </a:rPr>
                  <a:t>​ 		……（2 </a:t>
                </a:r>
                <a:r>
                  <a:rPr lang="zh-CN" altLang="en-US" b="0" i="0">
                    <a:solidFill>
                      <a:srgbClr val="000000"/>
                    </a:solidFill>
                    <a:latin typeface="仿宋" panose="02010609060101010101" charset="-122"/>
                    <a:ea typeface="仿宋" panose="02010609060101010101" charset="-122"/>
                    <a:cs typeface="仿宋" panose="02010609060101010101" charset="-122"/>
                  </a:rPr>
                  <a:t>分）</a:t>
                </a:r>
                <a:endParaRPr lang="zh-CN" altLang="en-US" b="0" i="0">
                  <a:solidFill>
                    <a:srgbClr val="000000"/>
                  </a:solidFill>
                  <a:latin typeface="仿宋" panose="02010609060101010101" charset="-122"/>
                  <a:ea typeface="仿宋" panose="02010609060101010101" charset="-122"/>
                  <a:cs typeface="仿宋" panose="02010609060101010101" charset="-122"/>
                </a:endParaRPr>
              </a:p>
              <a:p>
                <a:pPr marL="0" indent="457200">
                  <a:lnSpc>
                    <a:spcPct val="160000"/>
                  </a:lnSpc>
                </a:pPr>
                <a:r>
                  <a:rPr lang="zh-CN" altLang="en-US" b="0" i="0">
                    <a:solidFill>
                      <a:srgbClr val="000000"/>
                    </a:solidFill>
                    <a:latin typeface="仿宋" panose="02010609060101010101" charset="-122"/>
                    <a:ea typeface="仿宋" panose="02010609060101010101" charset="-122"/>
                    <a:cs typeface="仿宋" panose="02010609060101010101" charset="-122"/>
                  </a:rPr>
                  <a:t>解该微分方程得 </a:t>
                </a:r>
                <a14:m>
                  <m:oMath xmlns:m="http://schemas.openxmlformats.org/officeDocument/2006/math">
                    <m:r>
                      <a:rPr lang="en-US" altLang="zh-CN" b="0" i="1">
                        <a:solidFill>
                          <a:srgbClr val="000000"/>
                        </a:solidFill>
                        <a:latin typeface="Cambria Math" panose="02040503050406030204" charset="0"/>
                        <a:ea typeface="仿宋" panose="02010609060101010101" charset="-122"/>
                        <a:cs typeface="Cambria Math" panose="02040503050406030204" charset="0"/>
                      </a:rPr>
                      <m:t>𝑥</m:t>
                    </m:r>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𝑡</m:t>
                    </m:r>
                    <m:r>
                      <a:rPr lang="en-US" altLang="zh-CN" b="0" i="1">
                        <a:solidFill>
                          <a:srgbClr val="000000"/>
                        </a:solidFill>
                        <a:latin typeface="Cambria Math" panose="02040503050406030204" charset="0"/>
                        <a:ea typeface="仿宋" panose="02010609060101010101" charset="-122"/>
                        <a:cs typeface="Cambria Math" panose="02040503050406030204" charset="0"/>
                      </a:rPr>
                      <m:t>)=</m:t>
                    </m:r>
                    <m:f>
                      <m:f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fPr>
                      <m:num>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𝑥</m:t>
                            </m:r>
                          </m:e>
                          <m:sub>
                            <m:r>
                              <a:rPr lang="en-US" altLang="zh-CN" b="0" i="1">
                                <a:solidFill>
                                  <a:srgbClr val="000000"/>
                                </a:solidFill>
                                <a:latin typeface="Cambria Math" panose="02040503050406030204" charset="0"/>
                                <a:ea typeface="仿宋" panose="02010609060101010101" charset="-122"/>
                                <a:cs typeface="Cambria Math" panose="02040503050406030204" charset="0"/>
                              </a:rPr>
                              <m:t>𝑚</m:t>
                            </m:r>
                          </m:sub>
                        </m:sSub>
                      </m:num>
                      <m:den>
                        <m:r>
                          <a:rPr lang="en-US" altLang="zh-CN" b="0" i="1">
                            <a:solidFill>
                              <a:srgbClr val="000000"/>
                            </a:solidFill>
                            <a:latin typeface="Cambria Math" panose="02040503050406030204" charset="0"/>
                            <a:ea typeface="仿宋" panose="02010609060101010101" charset="-122"/>
                            <a:cs typeface="Cambria Math" panose="02040503050406030204" charset="0"/>
                          </a:rPr>
                          <m:t>1</m:t>
                        </m:r>
                        <m:r>
                          <a:rPr lang="en-US" altLang="zh-CN" b="0" i="1">
                            <a:solidFill>
                              <a:srgbClr val="000000"/>
                            </a:solidFill>
                            <a:latin typeface="Cambria Math" panose="02040503050406030204" charset="0"/>
                            <a:ea typeface="仿宋" panose="02010609060101010101" charset="-122"/>
                            <a:cs typeface="Cambria Math" panose="02040503050406030204" charset="0"/>
                          </a:rPr>
                          <m:t>+(</m:t>
                        </m:r>
                        <m:f>
                          <m:f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fPr>
                          <m:num>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𝑥</m:t>
                                </m:r>
                              </m:e>
                              <m:sub>
                                <m:r>
                                  <a:rPr lang="en-US" altLang="zh-CN" b="0" i="1">
                                    <a:solidFill>
                                      <a:srgbClr val="000000"/>
                                    </a:solidFill>
                                    <a:latin typeface="Cambria Math" panose="02040503050406030204" charset="0"/>
                                    <a:ea typeface="仿宋" panose="02010609060101010101" charset="-122"/>
                                    <a:cs typeface="Cambria Math" panose="02040503050406030204" charset="0"/>
                                  </a:rPr>
                                  <m:t>𝑚</m:t>
                                </m:r>
                              </m:sub>
                            </m:sSub>
                          </m:num>
                          <m:den>
                            <m:sSub>
                              <m:sSub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bPr>
                              <m:e>
                                <m:r>
                                  <a:rPr lang="en-US" altLang="zh-CN" b="0" i="1">
                                    <a:solidFill>
                                      <a:srgbClr val="000000"/>
                                    </a:solidFill>
                                    <a:latin typeface="Cambria Math" panose="02040503050406030204" charset="0"/>
                                    <a:ea typeface="仿宋" panose="02010609060101010101" charset="-122"/>
                                    <a:cs typeface="Cambria Math" panose="02040503050406030204" charset="0"/>
                                  </a:rPr>
                                  <m:t>𝑥</m:t>
                                </m:r>
                              </m:e>
                              <m:sub>
                                <m:r>
                                  <a:rPr lang="en-US" altLang="zh-CN" b="0" i="1">
                                    <a:solidFill>
                                      <a:srgbClr val="000000"/>
                                    </a:solidFill>
                                    <a:latin typeface="Cambria Math" panose="02040503050406030204" charset="0"/>
                                    <a:ea typeface="仿宋" panose="02010609060101010101" charset="-122"/>
                                    <a:cs typeface="Cambria Math" panose="02040503050406030204" charset="0"/>
                                  </a:rPr>
                                  <m:t>0</m:t>
                                </m:r>
                              </m:sub>
                            </m:sSub>
                          </m:den>
                        </m:f>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1</m:t>
                        </m:r>
                        <m:r>
                          <a:rPr lang="en-US" altLang="zh-CN" b="0" i="1">
                            <a:solidFill>
                              <a:srgbClr val="000000"/>
                            </a:solidFill>
                            <a:latin typeface="Cambria Math" panose="02040503050406030204" charset="0"/>
                            <a:ea typeface="仿宋" panose="02010609060101010101" charset="-122"/>
                            <a:cs typeface="Cambria Math" panose="02040503050406030204" charset="0"/>
                          </a:rPr>
                          <m:t>)</m:t>
                        </m:r>
                        <m:sSup>
                          <m:sSupPr>
                            <m:ctrlPr>
                              <a:rPr lang="en-US" altLang="zh-CN" b="0" i="1">
                                <a:solidFill>
                                  <a:srgbClr val="000000"/>
                                </a:solidFill>
                                <a:latin typeface="Cambria Math" panose="02040503050406030204" charset="0"/>
                                <a:ea typeface="仿宋" panose="02010609060101010101" charset="-122"/>
                                <a:cs typeface="Cambria Math" panose="02040503050406030204" charset="0"/>
                              </a:rPr>
                            </m:ctrlPr>
                          </m:sSupPr>
                          <m:e>
                            <m:r>
                              <a:rPr lang="en-US" altLang="zh-CN" b="0" i="1">
                                <a:solidFill>
                                  <a:srgbClr val="000000"/>
                                </a:solidFill>
                                <a:latin typeface="Cambria Math" panose="02040503050406030204" charset="0"/>
                                <a:ea typeface="仿宋" panose="02010609060101010101" charset="-122"/>
                                <a:cs typeface="Cambria Math" panose="02040503050406030204" charset="0"/>
                              </a:rPr>
                              <m:t>𝑒</m:t>
                            </m:r>
                          </m:e>
                          <m:sup>
                            <m:r>
                              <a:rPr lang="en-US" altLang="zh-CN" b="0" i="1">
                                <a:solidFill>
                                  <a:srgbClr val="000000"/>
                                </a:solidFill>
                                <a:latin typeface="Cambria Math" panose="02040503050406030204" charset="0"/>
                                <a:ea typeface="仿宋" panose="02010609060101010101" charset="-122"/>
                                <a:cs typeface="Cambria Math" panose="02040503050406030204" charset="0"/>
                              </a:rPr>
                              <m:t>−</m:t>
                            </m:r>
                            <m:r>
                              <a:rPr lang="en-US" altLang="zh-CN" b="0" i="1">
                                <a:solidFill>
                                  <a:srgbClr val="000000"/>
                                </a:solidFill>
                                <a:latin typeface="Cambria Math" panose="02040503050406030204" charset="0"/>
                                <a:ea typeface="仿宋" panose="02010609060101010101" charset="-122"/>
                                <a:cs typeface="Cambria Math" panose="02040503050406030204" charset="0"/>
                              </a:rPr>
                              <m:t>𝑟𝑡</m:t>
                            </m:r>
                          </m:sup>
                        </m:sSup>
                      </m:den>
                    </m:f>
                  </m:oMath>
                </a14:m>
                <a:r>
                  <a:rPr lang="en-US" altLang="zh-CN" b="0" i="0">
                    <a:solidFill>
                      <a:srgbClr val="000000"/>
                    </a:solidFill>
                    <a:latin typeface="仿宋" panose="02010609060101010101" charset="-122"/>
                    <a:ea typeface="仿宋" panose="02010609060101010101" charset="-122"/>
                    <a:cs typeface="仿宋" panose="02010609060101010101" charset="-122"/>
                  </a:rPr>
                  <a:t>​​ 			……（3 </a:t>
                </a:r>
                <a:r>
                  <a:rPr lang="zh-CN" altLang="en-US" b="0" i="0">
                    <a:solidFill>
                      <a:srgbClr val="000000"/>
                    </a:solidFill>
                    <a:latin typeface="仿宋" panose="02010609060101010101" charset="-122"/>
                    <a:ea typeface="仿宋" panose="02010609060101010101" charset="-122"/>
                    <a:cs typeface="仿宋" panose="02010609060101010101" charset="-122"/>
                  </a:rPr>
                  <a:t>分）</a:t>
                </a:r>
                <a:endParaRPr lang="zh-CN" altLang="en-US" b="0" i="0">
                  <a:solidFill>
                    <a:srgbClr val="000000"/>
                  </a:solidFill>
                  <a:latin typeface="仿宋" panose="02010609060101010101" charset="-122"/>
                  <a:ea typeface="仿宋" panose="02010609060101010101" charset="-122"/>
                  <a:cs typeface="仿宋" panose="02010609060101010101"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235710" y="1037590"/>
                <a:ext cx="9517380" cy="5235575"/>
              </a:xfrm>
              <a:prstGeom prst="rect">
                <a:avLst/>
              </a:prstGeom>
              <a:blipFill rotWithShape="1">
                <a:blip r:embed="rId1"/>
                <a:stretch>
                  <a:fillRect/>
                </a:stretch>
              </a:blipFill>
            </p:spPr>
            <p:txBody>
              <a:bodyPr/>
              <a:lstStyle/>
              <a:p>
                <a:r>
                  <a:rPr lang="zh-CN" altLang="en-US">
                    <a:noFill/>
                  </a:rPr>
                  <a:t> </a:t>
                </a:r>
              </a:p>
            </p:txBody>
          </p:sp>
        </mc:Fallback>
      </mc:AlternateContent>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89660" y="1052830"/>
            <a:ext cx="4064000" cy="460375"/>
          </a:xfrm>
          <a:prstGeom prst="rect">
            <a:avLst/>
          </a:prstGeom>
          <a:noFill/>
        </p:spPr>
        <p:txBody>
          <a:bodyPr wrap="square" rtlCol="0">
            <a:spAutoFit/>
          </a:bodyPr>
          <a:p>
            <a:r>
              <a:rPr lang="zh-CN" altLang="en-US" sz="2400"/>
              <a:t>捕鱼业的持续收获</a:t>
            </a:r>
            <a:endParaRPr lang="zh-CN" altLang="en-US" sz="2400"/>
          </a:p>
        </p:txBody>
      </p:sp>
      <mc:AlternateContent xmlns:mc="http://schemas.openxmlformats.org/markup-compatibility/2006">
        <mc:Choice xmlns:a14="http://schemas.microsoft.com/office/drawing/2010/main" Requires="a14">
          <p:sp>
            <p:nvSpPr>
              <p:cNvPr id="3" name="文本框 2"/>
              <p:cNvSpPr txBox="1"/>
              <p:nvPr/>
            </p:nvSpPr>
            <p:spPr>
              <a:xfrm>
                <a:off x="771525" y="1605915"/>
                <a:ext cx="10958195" cy="4617720"/>
              </a:xfrm>
              <a:prstGeom prst="rect">
                <a:avLst/>
              </a:prstGeom>
              <a:noFill/>
            </p:spPr>
            <p:txBody>
              <a:bodyPr wrap="square" rtlCol="0" anchor="t">
                <a:noAutofit/>
              </a:bodyPr>
              <a:p>
                <a:pPr>
                  <a:lnSpc>
                    <a:spcPct val="140000"/>
                  </a:lnSpc>
                </a:pPr>
                <a:r>
                  <a:rPr lang="zh-CN" altLang="en-US">
                    <a:latin typeface="仿宋" panose="02010609060101010101" charset="-122"/>
                    <a:ea typeface="仿宋" panose="02010609060101010101" charset="-122"/>
                    <a:cs typeface="仿宋" panose="02010609060101010101" charset="-122"/>
                  </a:rPr>
                  <a:t>考察一个渔场，其中鱼量在天然环境下按一定规律增长，如果捕捞量恰好等于增长量，那么渔场的鱼量将保持不变，这个捕捞量就可以持续下去。记</a:t>
                </a:r>
                <a:r>
                  <a:rPr lang="en-US" altLang="zh-CN">
                    <a:latin typeface="仿宋" panose="02010609060101010101" charset="-122"/>
                    <a:ea typeface="仿宋" panose="02010609060101010101" charset="-122"/>
                    <a:cs typeface="仿宋" panose="02010609060101010101" charset="-122"/>
                  </a:rPr>
                  <a:t>t</a:t>
                </a:r>
                <a:r>
                  <a:rPr lang="zh-CN" altLang="en-US">
                    <a:latin typeface="仿宋" panose="02010609060101010101" charset="-122"/>
                    <a:ea typeface="仿宋" panose="02010609060101010101" charset="-122"/>
                    <a:cs typeface="仿宋" panose="02010609060101010101" charset="-122"/>
                  </a:rPr>
                  <a:t>时刻渔场中鱼量为</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𝑡</m:t>
                    </m:r>
                    <m:r>
                      <a:rPr lang="en-US" altLang="zh-CN" i="1">
                        <a:latin typeface="Cambria Math" panose="02040503050406030204" charset="0"/>
                        <a:ea typeface="仿宋" panose="02010609060101010101" charset="-122"/>
                        <a:cs typeface="Cambria Math" panose="02040503050406030204" charset="0"/>
                      </a:rPr>
                      <m:t>)</m:t>
                    </m:r>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为了讨论如何控制捕捞强度使持续产量达到最大，做如下假设：</a:t>
                </a:r>
                <a:endParaRPr lang="zh-CN" altLang="en-US">
                  <a:latin typeface="仿宋" panose="02010609060101010101" charset="-122"/>
                  <a:ea typeface="仿宋" panose="02010609060101010101" charset="-122"/>
                  <a:cs typeface="仿宋" panose="02010609060101010101" charset="-122"/>
                </a:endParaRPr>
              </a:p>
              <a:p>
                <a:pPr>
                  <a:lnSpc>
                    <a:spcPct val="140000"/>
                  </a:lnSpc>
                </a:pPr>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在无捕捞条件下</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𝑡</m:t>
                    </m:r>
                    <m:r>
                      <a:rPr lang="en-US" altLang="zh-CN" i="1">
                        <a:latin typeface="Cambria Math" panose="02040503050406030204" charset="0"/>
                        <a:ea typeface="仿宋" panose="02010609060101010101" charset="-122"/>
                        <a:cs typeface="Cambria Math" panose="02040503050406030204" charset="0"/>
                      </a:rPr>
                      <m:t>)</m:t>
                    </m:r>
                  </m:oMath>
                </a14:m>
                <a:r>
                  <a:rPr lang="zh-CN" altLang="en-US">
                    <a:latin typeface="仿宋" panose="02010609060101010101" charset="-122"/>
                    <a:ea typeface="仿宋" panose="02010609060101010101" charset="-122"/>
                    <a:cs typeface="仿宋" panose="02010609060101010101" charset="-122"/>
                  </a:rPr>
                  <a:t>的增长服从 </a:t>
                </a:r>
                <a:r>
                  <a:rPr lang="en-US" altLang="zh-CN">
                    <a:latin typeface="仿宋" panose="02010609060101010101" charset="-122"/>
                    <a:ea typeface="仿宋" panose="02010609060101010101" charset="-122"/>
                    <a:cs typeface="仿宋" panose="02010609060101010101" charset="-122"/>
                  </a:rPr>
                  <a:t>logistic </a:t>
                </a:r>
                <a:r>
                  <a:rPr lang="zh-CN" altLang="en-US">
                    <a:latin typeface="仿宋" panose="02010609060101010101" charset="-122"/>
                    <a:ea typeface="仿宋" panose="02010609060101010101" charset="-122"/>
                    <a:cs typeface="仿宋" panose="02010609060101010101" charset="-122"/>
                  </a:rPr>
                  <a:t>方程，其内禀增长率为</a:t>
                </a:r>
                <a:r>
                  <a:rPr lang="en-US" altLang="zh-CN">
                    <a:latin typeface="仿宋" panose="02010609060101010101" charset="-122"/>
                    <a:ea typeface="仿宋" panose="02010609060101010101" charset="-122"/>
                    <a:cs typeface="仿宋" panose="02010609060101010101" charset="-122"/>
                  </a:rPr>
                  <a:t>r，</a:t>
                </a:r>
                <a:r>
                  <a:rPr lang="zh-CN" altLang="en-US">
                    <a:latin typeface="仿宋" panose="02010609060101010101" charset="-122"/>
                    <a:ea typeface="仿宋" panose="02010609060101010101" charset="-122"/>
                    <a:cs typeface="仿宋" panose="02010609060101010101" charset="-122"/>
                  </a:rPr>
                  <a:t>环境容许的最大鱼量为</a:t>
                </a:r>
                <a:r>
                  <a:rPr lang="en-US" altLang="zh-CN">
                    <a:latin typeface="仿宋" panose="02010609060101010101" charset="-122"/>
                    <a:ea typeface="仿宋" panose="02010609060101010101" charset="-122"/>
                    <a:cs typeface="仿宋" panose="02010609060101010101" charset="-122"/>
                  </a:rPr>
                  <a:t>N；</a:t>
                </a:r>
                <a:endParaRPr lang="en-US" altLang="zh-CN">
                  <a:latin typeface="仿宋" panose="02010609060101010101" charset="-122"/>
                  <a:ea typeface="仿宋" panose="02010609060101010101" charset="-122"/>
                  <a:cs typeface="仿宋" panose="02010609060101010101" charset="-122"/>
                </a:endParaRPr>
              </a:p>
              <a:p>
                <a:pPr>
                  <a:lnSpc>
                    <a:spcPct val="140000"/>
                  </a:lnSpc>
                </a:pPr>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单位时间的捕捞量与渔场鱼量</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𝑡</m:t>
                    </m:r>
                    <m:r>
                      <a:rPr lang="en-US" altLang="zh-CN" i="1">
                        <a:latin typeface="Cambria Math" panose="02040503050406030204" charset="0"/>
                        <a:ea typeface="仿宋" panose="02010609060101010101" charset="-122"/>
                        <a:cs typeface="Cambria Math" panose="02040503050406030204" charset="0"/>
                      </a:rPr>
                      <m:t>)</m:t>
                    </m:r>
                  </m:oMath>
                </a14:m>
                <a:r>
                  <a:rPr lang="zh-CN" altLang="en-US">
                    <a:latin typeface="仿宋" panose="02010609060101010101" charset="-122"/>
                    <a:ea typeface="仿宋" panose="02010609060101010101" charset="-122"/>
                    <a:cs typeface="仿宋" panose="02010609060101010101" charset="-122"/>
                  </a:rPr>
                  <a:t>成正比，比例常数</a:t>
                </a:r>
                <a:r>
                  <a:rPr lang="en-US" altLang="zh-CN">
                    <a:latin typeface="仿宋" panose="02010609060101010101" charset="-122"/>
                    <a:ea typeface="仿宋" panose="02010609060101010101" charset="-122"/>
                    <a:cs typeface="仿宋" panose="02010609060101010101" charset="-122"/>
                  </a:rPr>
                  <a:t>E</a:t>
                </a:r>
                <a:r>
                  <a:rPr lang="zh-CN" altLang="en-US">
                    <a:latin typeface="仿宋" panose="02010609060101010101" charset="-122"/>
                    <a:ea typeface="仿宋" panose="02010609060101010101" charset="-122"/>
                    <a:cs typeface="仿宋" panose="02010609060101010101" charset="-122"/>
                  </a:rPr>
                  <a:t>即为捕捞强度。</a:t>
                </a:r>
                <a:endParaRPr lang="zh-CN" altLang="en-US">
                  <a:latin typeface="仿宋" panose="02010609060101010101" charset="-122"/>
                  <a:ea typeface="仿宋" panose="02010609060101010101" charset="-122"/>
                  <a:cs typeface="仿宋" panose="02010609060101010101" charset="-122"/>
                </a:endParaRPr>
              </a:p>
              <a:p>
                <a:pPr>
                  <a:lnSpc>
                    <a:spcPct val="140000"/>
                  </a:lnSpc>
                </a:pPr>
                <a:endParaRPr lang="zh-CN" altLang="en-US">
                  <a:latin typeface="仿宋" panose="02010609060101010101" charset="-122"/>
                  <a:ea typeface="仿宋" panose="02010609060101010101" charset="-122"/>
                  <a:cs typeface="仿宋" panose="02010609060101010101" charset="-122"/>
                </a:endParaRPr>
              </a:p>
              <a:p>
                <a:pPr>
                  <a:lnSpc>
                    <a:spcPct val="140000"/>
                  </a:lnSpc>
                </a:pPr>
                <a:r>
                  <a:rPr lang="zh-CN" altLang="en-US">
                    <a:latin typeface="仿宋" panose="02010609060101010101" charset="-122"/>
                    <a:ea typeface="仿宋" panose="02010609060101010101" charset="-122"/>
                    <a:cs typeface="仿宋" panose="02010609060101010101" charset="-122"/>
                  </a:rPr>
                  <a:t>(1) 用</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𝑓</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oMath>
                </a14:m>
                <a:r>
                  <a:rPr lang="zh-CN" altLang="en-US">
                    <a:latin typeface="仿宋" panose="02010609060101010101" charset="-122"/>
                    <a:ea typeface="仿宋" panose="02010609060101010101" charset="-122"/>
                    <a:cs typeface="仿宋" panose="02010609060101010101" charset="-122"/>
                  </a:rPr>
                  <a:t>和</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ℎ</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oMath>
                </a14:m>
                <a:r>
                  <a:rPr lang="zh-CN" altLang="en-US">
                    <a:latin typeface="仿宋" panose="02010609060101010101" charset="-122"/>
                    <a:ea typeface="仿宋" panose="02010609060101010101" charset="-122"/>
                    <a:cs typeface="仿宋" panose="02010609060101010101" charset="-122"/>
                  </a:rPr>
                  <a:t>表示无捕捞条件下鱼量增长率以及单位时间的捕捞量，由以上假设写出</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𝑓</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oMath>
                </a14:m>
                <a:r>
                  <a:rPr lang="zh-CN" altLang="en-US">
                    <a:latin typeface="仿宋" panose="02010609060101010101" charset="-122"/>
                    <a:ea typeface="仿宋" panose="02010609060101010101" charset="-122"/>
                    <a:cs typeface="仿宋" panose="02010609060101010101" charset="-122"/>
                  </a:rPr>
                  <a:t>和</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ℎ</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oMath>
                </a14:m>
                <a:r>
                  <a:rPr lang="zh-CN" altLang="en-US">
                    <a:latin typeface="仿宋" panose="02010609060101010101" charset="-122"/>
                    <a:ea typeface="仿宋" panose="02010609060101010101" charset="-122"/>
                    <a:cs typeface="仿宋" panose="02010609060101010101" charset="-122"/>
                  </a:rPr>
                  <a:t>表达式；</a:t>
                </a:r>
                <a:endParaRPr lang="zh-CN" altLang="en-US">
                  <a:latin typeface="仿宋" panose="02010609060101010101" charset="-122"/>
                  <a:ea typeface="仿宋" panose="02010609060101010101" charset="-122"/>
                  <a:cs typeface="仿宋" panose="02010609060101010101" charset="-122"/>
                </a:endParaRPr>
              </a:p>
              <a:p>
                <a:pPr>
                  <a:lnSpc>
                    <a:spcPct val="140000"/>
                  </a:lnSpc>
                </a:pPr>
                <a:endParaRPr lang="zh-CN" altLang="en-US">
                  <a:latin typeface="仿宋" panose="02010609060101010101" charset="-122"/>
                  <a:ea typeface="仿宋" panose="02010609060101010101" charset="-122"/>
                  <a:cs typeface="仿宋" panose="02010609060101010101" charset="-122"/>
                </a:endParaRPr>
              </a:p>
              <a:p>
                <a:pPr>
                  <a:lnSpc>
                    <a:spcPct val="140000"/>
                  </a:lnSpc>
                </a:pPr>
                <a:r>
                  <a:rPr lang="zh-CN" altLang="en-US">
                    <a:latin typeface="仿宋" panose="02010609060101010101" charset="-122"/>
                    <a:ea typeface="仿宋" panose="02010609060101010101" charset="-122"/>
                    <a:cs typeface="仿宋" panose="02010609060101010101" charset="-122"/>
                  </a:rPr>
                  <a:t>(2) 设</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𝐹</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𝑓</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ℎ</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oMath>
                </a14:m>
                <a:r>
                  <a:rPr lang="en-US" altLang="zh-CN">
                    <a:latin typeface="仿宋" panose="02010609060101010101" charset="-122"/>
                    <a:ea typeface="仿宋" panose="02010609060101010101" charset="-122"/>
                    <a:cs typeface="仿宋" panose="02010609060101010101" charset="-122"/>
                  </a:rPr>
                  <a:t>，</a:t>
                </a:r>
                <a:r>
                  <a:rPr lang="zh-CN" altLang="en-US">
                    <a:latin typeface="仿宋" panose="02010609060101010101" charset="-122"/>
                    <a:ea typeface="仿宋" panose="02010609060101010101" charset="-122"/>
                    <a:cs typeface="仿宋" panose="02010609060101010101" charset="-122"/>
                  </a:rPr>
                  <a:t>计算</a:t>
                </a:r>
                <a14:m>
                  <m:oMath xmlns:m="http://schemas.openxmlformats.org/officeDocument/2006/math">
                    <m:r>
                      <a:rPr lang="en-US" altLang="zh-CN" i="1">
                        <a:latin typeface="Cambria Math" panose="02040503050406030204" charset="0"/>
                        <a:ea typeface="仿宋" panose="02010609060101010101" charset="-122"/>
                        <a:cs typeface="Cambria Math" panose="02040503050406030204" charset="0"/>
                      </a:rPr>
                      <m:t>𝐹</m:t>
                    </m:r>
                    <m:r>
                      <a:rPr lang="en-US" altLang="zh-CN" i="1">
                        <a:latin typeface="Cambria Math" panose="02040503050406030204" charset="0"/>
                        <a:ea typeface="仿宋" panose="02010609060101010101" charset="-122"/>
                        <a:cs typeface="Cambria Math" panose="02040503050406030204" charset="0"/>
                      </a:rPr>
                      <m:t>(</m:t>
                    </m:r>
                    <m:r>
                      <a:rPr lang="en-US" altLang="zh-CN" i="1">
                        <a:latin typeface="Cambria Math" panose="02040503050406030204" charset="0"/>
                        <a:ea typeface="仿宋" panose="02010609060101010101" charset="-122"/>
                        <a:cs typeface="Cambria Math" panose="02040503050406030204" charset="0"/>
                      </a:rPr>
                      <m:t>𝑥</m:t>
                    </m:r>
                    <m:r>
                      <a:rPr lang="en-US" altLang="zh-CN" i="1">
                        <a:latin typeface="Cambria Math" panose="02040503050406030204" charset="0"/>
                        <a:ea typeface="仿宋" panose="02010609060101010101" charset="-122"/>
                        <a:cs typeface="Cambria Math" panose="02040503050406030204" charset="0"/>
                      </a:rPr>
                      <m:t>)</m:t>
                    </m:r>
                  </m:oMath>
                </a14:m>
                <a:r>
                  <a:rPr lang="zh-CN" altLang="en-US">
                    <a:latin typeface="仿宋" panose="02010609060101010101" charset="-122"/>
                    <a:ea typeface="仿宋" panose="02010609060101010101" charset="-122"/>
                    <a:cs typeface="仿宋" panose="02010609060101010101" charset="-122"/>
                  </a:rPr>
                  <a:t>稳定点并分析其稳定性；</a:t>
                </a:r>
                <a:endParaRPr lang="zh-CN" altLang="en-US">
                  <a:latin typeface="仿宋" panose="02010609060101010101" charset="-122"/>
                  <a:ea typeface="仿宋" panose="02010609060101010101" charset="-122"/>
                  <a:cs typeface="仿宋" panose="02010609060101010101" charset="-122"/>
                </a:endParaRPr>
              </a:p>
              <a:p>
                <a:pPr>
                  <a:lnSpc>
                    <a:spcPct val="140000"/>
                  </a:lnSpc>
                </a:pPr>
                <a:endParaRPr lang="zh-CN" altLang="en-US">
                  <a:latin typeface="仿宋" panose="02010609060101010101" charset="-122"/>
                  <a:ea typeface="仿宋" panose="02010609060101010101" charset="-122"/>
                  <a:cs typeface="仿宋" panose="02010609060101010101" charset="-122"/>
                </a:endParaRPr>
              </a:p>
              <a:p>
                <a:pPr>
                  <a:lnSpc>
                    <a:spcPct val="140000"/>
                  </a:lnSpc>
                </a:pPr>
                <a:r>
                  <a:rPr lang="zh-CN" altLang="en-US">
                    <a:latin typeface="仿宋" panose="02010609060101010101" charset="-122"/>
                    <a:ea typeface="仿宋" panose="02010609060101010101" charset="-122"/>
                    <a:cs typeface="仿宋" panose="02010609060101010101" charset="-122"/>
                  </a:rPr>
                  <a:t>(3) 求稳定状态下最大持续产量</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ℎ</m:t>
                        </m:r>
                      </m:e>
                      <m:sub>
                        <m:r>
                          <a:rPr lang="en-US" altLang="zh-CN" i="1">
                            <a:latin typeface="Cambria Math" panose="02040503050406030204" charset="0"/>
                            <a:ea typeface="仿宋" panose="02010609060101010101" charset="-122"/>
                            <a:cs typeface="Cambria Math" panose="02040503050406030204" charset="0"/>
                          </a:rPr>
                          <m:t>𝑚</m:t>
                        </m:r>
                      </m:sub>
                    </m:sSub>
                  </m:oMath>
                </a14:m>
                <a:r>
                  <a:rPr lang="zh-CN" altLang="en-US">
                    <a:latin typeface="仿宋" panose="02010609060101010101" charset="-122"/>
                    <a:ea typeface="仿宋" panose="02010609060101010101" charset="-122"/>
                    <a:cs typeface="仿宋" panose="02010609060101010101" charset="-122"/>
                  </a:rPr>
                  <a:t>及获得最大产量的捕捞强度</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𝐸</m:t>
                        </m:r>
                      </m:e>
                      <m:sub>
                        <m:r>
                          <a:rPr lang="en-US" altLang="zh-CN" i="1">
                            <a:latin typeface="Cambria Math" panose="02040503050406030204" charset="0"/>
                            <a:ea typeface="仿宋" panose="02010609060101010101" charset="-122"/>
                            <a:cs typeface="Cambria Math" panose="02040503050406030204" charset="0"/>
                          </a:rPr>
                          <m:t>𝑚</m:t>
                        </m:r>
                      </m:sub>
                    </m:sSub>
                  </m:oMath>
                </a14:m>
                <a:r>
                  <a:rPr lang="zh-CN" altLang="en-US">
                    <a:latin typeface="仿宋" panose="02010609060101010101" charset="-122"/>
                    <a:ea typeface="仿宋" panose="02010609060101010101" charset="-122"/>
                    <a:cs typeface="仿宋" panose="02010609060101010101" charset="-122"/>
                  </a:rPr>
                  <a:t>和渔场鱼量水平</a:t>
                </a:r>
                <a14:m>
                  <m:oMath xmlns:m="http://schemas.openxmlformats.org/officeDocument/2006/math">
                    <m:sSub>
                      <m:sSubPr>
                        <m:ctrlPr>
                          <a:rPr lang="en-US" altLang="zh-CN" i="1">
                            <a:latin typeface="Cambria Math" panose="02040503050406030204" charset="0"/>
                            <a:ea typeface="仿宋" panose="02010609060101010101" charset="-122"/>
                            <a:cs typeface="Cambria Math" panose="02040503050406030204" charset="0"/>
                          </a:rPr>
                        </m:ctrlPr>
                      </m:sSubPr>
                      <m:e>
                        <m:r>
                          <a:rPr lang="en-US" altLang="zh-CN" i="1">
                            <a:latin typeface="Cambria Math" panose="02040503050406030204" charset="0"/>
                            <a:ea typeface="仿宋" panose="02010609060101010101" charset="-122"/>
                            <a:cs typeface="Cambria Math" panose="02040503050406030204" charset="0"/>
                          </a:rPr>
                          <m:t>𝑥</m:t>
                        </m:r>
                      </m:e>
                      <m:sub>
                        <m:r>
                          <a:rPr lang="en-US" altLang="zh-CN" i="1">
                            <a:latin typeface="Cambria Math" panose="02040503050406030204" charset="0"/>
                            <a:ea typeface="仿宋" panose="02010609060101010101" charset="-122"/>
                            <a:cs typeface="Cambria Math" panose="02040503050406030204" charset="0"/>
                          </a:rPr>
                          <m:t>0</m:t>
                        </m:r>
                      </m:sub>
                    </m:sSub>
                  </m:oMath>
                </a14:m>
                <a:r>
                  <a:rPr lang="en-US" altLang="zh-CN">
                    <a:latin typeface="仿宋" panose="02010609060101010101" charset="-122"/>
                    <a:ea typeface="仿宋" panose="02010609060101010101" charset="-122"/>
                    <a:cs typeface="仿宋" panose="02010609060101010101" charset="-122"/>
                  </a:rPr>
                  <a:t>。</a:t>
                </a:r>
                <a:endParaRPr lang="zh-CN" altLang="en-US">
                  <a:latin typeface="仿宋" panose="02010609060101010101" charset="-122"/>
                  <a:ea typeface="仿宋" panose="02010609060101010101" charset="-122"/>
                  <a:cs typeface="仿宋" panose="02010609060101010101"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771525" y="1605915"/>
                <a:ext cx="10958195" cy="4617720"/>
              </a:xfrm>
              <a:prstGeom prst="rect">
                <a:avLst/>
              </a:prstGeom>
              <a:blipFill rotWithShape="1">
                <a:blip r:embed="rId1"/>
                <a:stretch>
                  <a:fillRect r="-249"/>
                </a:stretch>
              </a:blipFill>
            </p:spPr>
            <p:txBody>
              <a:bodyPr/>
              <a:lstStyle/>
              <a:p>
                <a:r>
                  <a:rPr lang="zh-CN" altLang="en-US">
                    <a:noFill/>
                  </a:rPr>
                  <a:t> </a:t>
                </a:r>
              </a:p>
            </p:txBody>
          </p:sp>
        </mc:Fallback>
      </mc:AlternateContent>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6903085" y="1136015"/>
            <a:ext cx="5415280" cy="4400550"/>
          </a:xfrm>
          <a:prstGeom prst="rect">
            <a:avLst/>
          </a:prstGeom>
        </p:spPr>
      </p:pic>
      <p:pic>
        <p:nvPicPr>
          <p:cNvPr id="5" name="图片 4"/>
          <p:cNvPicPr>
            <a:picLocks noChangeAspect="1"/>
          </p:cNvPicPr>
          <p:nvPr/>
        </p:nvPicPr>
        <p:blipFill>
          <a:blip r:embed="rId2"/>
          <a:stretch>
            <a:fillRect/>
          </a:stretch>
        </p:blipFill>
        <p:spPr>
          <a:xfrm>
            <a:off x="318770" y="1876425"/>
            <a:ext cx="6313805" cy="2063750"/>
          </a:xfrm>
          <a:prstGeom prst="rect">
            <a:avLst/>
          </a:prstGeom>
        </p:spPr>
      </p:pic>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TEMPLATE_CATEGORY" val="custom"/>
  <p:tag name="KSO_WM_TEMPLATE_INDEX" val="20205081"/>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7615</Words>
  <Application>WPS 演示</Application>
  <PresentationFormat>宽屏</PresentationFormat>
  <Paragraphs>280</Paragraphs>
  <Slides>22</Slides>
  <Notes>4</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6</vt:i4>
      </vt:variant>
      <vt:variant>
        <vt:lpstr>幻灯片标题</vt:lpstr>
      </vt:variant>
      <vt:variant>
        <vt:i4>22</vt:i4>
      </vt:variant>
    </vt:vector>
  </HeadingPairs>
  <TitlesOfParts>
    <vt:vector size="51" baseType="lpstr">
      <vt:lpstr>Arial</vt:lpstr>
      <vt:lpstr>宋体</vt:lpstr>
      <vt:lpstr>Wingdings</vt:lpstr>
      <vt:lpstr>Wingdings</vt:lpstr>
      <vt:lpstr>仿宋</vt:lpstr>
      <vt:lpstr>Cambria Math</vt:lpstr>
      <vt:lpstr>MS Mincho</vt:lpstr>
      <vt:lpstr>Segoe Print</vt:lpstr>
      <vt:lpstr>微软雅黑</vt:lpstr>
      <vt:lpstr>Arial Unicode MS</vt:lpstr>
      <vt:lpstr>Calibri</vt:lpstr>
      <vt:lpstr>Times New Roman</vt:lpstr>
      <vt:lpstr>楷体_GB2312</vt:lpstr>
      <vt:lpstr>新宋体</vt:lpstr>
      <vt:lpstr>Symbol</vt:lpstr>
      <vt:lpstr>MS PGothic</vt:lpstr>
      <vt:lpstr>Symbol</vt:lpstr>
      <vt:lpstr>楷体_GB2312</vt:lpstr>
      <vt:lpstr>KSOF3FA5480E</vt:lpstr>
      <vt:lpstr>Ms.Luce</vt:lpstr>
      <vt:lpstr>方正楷体_GB2312</vt:lpstr>
      <vt:lpstr>KSOFE34F9A0C</vt:lpstr>
      <vt:lpstr>WPS</vt:lpstr>
      <vt:lpstr>Equation.KSEE3</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江枫渔火.</cp:lastModifiedBy>
  <cp:revision>167</cp:revision>
  <dcterms:created xsi:type="dcterms:W3CDTF">2019-06-19T02:08:00Z</dcterms:created>
  <dcterms:modified xsi:type="dcterms:W3CDTF">2026-06-26T12:31:45Z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31F13117425143698A3F2CAC18B826F5_11</vt:lpwstr>
  </property>
</Properties>
</file>